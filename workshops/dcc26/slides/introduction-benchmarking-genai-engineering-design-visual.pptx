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9"/>
  </p:normalViewPr>
  <p:slideViewPr>
    <p:cSldViewPr snapToGrid="0" snapToObjects="1">
      <p:cViewPr varScale="1">
        <p:scale>
          <a:sx n="114" d="100"/>
          <a:sy n="114" d="100"/>
        </p:scale>
        <p:origin x="66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80760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5943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FE3F3"/>
                </a:solidFill>
                <a:latin typeface="Aptos"/>
              </a:rPr>
              <a:t>DCC 2026 PARIS  ·  OPENING KEYNOTE</a:t>
            </a:r>
          </a:p>
        </p:txBody>
      </p:sp>
      <p:sp>
        <p:nvSpPr>
          <p:cNvPr id="5" name="Oval 4"/>
          <p:cNvSpPr/>
          <p:nvPr/>
        </p:nvSpPr>
        <p:spPr>
          <a:xfrm>
            <a:off x="1645920" y="2057400"/>
            <a:ext cx="2743200" cy="2743200"/>
          </a:xfrm>
          <a:prstGeom prst="ellipse">
            <a:avLst/>
          </a:prstGeom>
          <a:solidFill>
            <a:srgbClr val="174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011680" y="2423160"/>
            <a:ext cx="2011680" cy="2011680"/>
          </a:xfrm>
          <a:prstGeom prst="ellipse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514600" y="2926080"/>
            <a:ext cx="1005840" cy="1005840"/>
          </a:xfrm>
          <a:prstGeom prst="ellipse">
            <a:avLst/>
          </a:prstGeom>
          <a:solidFill>
            <a:srgbClr val="CF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17426E"/>
                </a:solidFill>
                <a:latin typeface="Aptos Display"/>
              </a:rPr>
              <a:t>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25780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CFE3F3"/>
                </a:solidFill>
                <a:latin typeface="Aptos"/>
              </a:rPr>
              <a:t>[HERO: replace circle motif with a generative-designed part photo]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463040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25E9B"/>
                </a:solidFill>
                <a:latin typeface="Aptos"/>
              </a:rPr>
              <a:t>WORKSHOP OPENING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54864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7212B"/>
                </a:solidFill>
                <a:latin typeface="Aptos Display"/>
              </a:rPr>
              <a:t>Benchmarking</a:t>
            </a:r>
          </a:p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7212B"/>
                </a:solidFill>
                <a:latin typeface="Aptos Display"/>
              </a:rPr>
              <a:t>Generative AI</a:t>
            </a:r>
          </a:p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7212B"/>
                </a:solidFill>
                <a:latin typeface="Aptos Display"/>
              </a:rPr>
              <a:t>for Engineering</a:t>
            </a:r>
          </a:p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17212B"/>
                </a:solidFill>
                <a:latin typeface="Aptos Display"/>
              </a:rPr>
              <a:t>Design.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4663440"/>
            <a:ext cx="365760" cy="4572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48006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A6675"/>
                </a:solidFill>
                <a:latin typeface="Aptos"/>
              </a:rPr>
              <a:t>Why shared, executable contracts are the missing infrastructure.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57607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7212B"/>
                </a:solidFill>
                <a:latin typeface="Aptos"/>
              </a:rPr>
              <a:t>Matthew Keeler  ·  Soheyl Massoudi  ·  Mark Fuge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6053328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A6675"/>
                </a:solidFill>
                <a:latin typeface="Aptos"/>
              </a:rPr>
              <a:t>D-MAVT, ETH Zürich  ·  EngiBench + EngiOpt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2336" y="6419088"/>
            <a:ext cx="4005072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>
                <a:solidFill>
                  <a:srgbClr val="5A6675"/>
                </a:solidFill>
                <a:latin typeface="Aptos"/>
              </a:rP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8975" y="6419088"/>
            <a:ext cx="3712463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0" i="0">
                <a:solidFill>
                  <a:srgbClr val="5A6675"/>
                </a:solidFill>
                <a:latin typeface="Aptos"/>
              </a:rPr>
              <a:t>DCC 2026 workshop  |  EngiBench + EngiOpt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25E9B"/>
                </a:solidFill>
                <a:latin typeface="Aptos"/>
              </a:rPr>
              <a:t>THE PROMISE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315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7212B"/>
                </a:solidFill>
                <a:latin typeface="Aptos Display"/>
              </a:rPr>
              <a:t>AI is already designing parts we manufacture and fly.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20240"/>
            <a:ext cx="3514344" cy="36576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993392"/>
            <a:ext cx="351434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STRUCTURAL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286000"/>
            <a:ext cx="3514344" cy="2651760"/>
          </a:xfrm>
          <a:prstGeom prst="rect">
            <a:avLst/>
          </a:prstGeom>
          <a:solidFill>
            <a:srgbClr val="ECF3FA"/>
          </a:solidFill>
          <a:ln w="9525">
            <a:solidFill>
              <a:srgbClr val="225E9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940052" y="3108960"/>
            <a:ext cx="822960" cy="594360"/>
          </a:xfrm>
          <a:prstGeom prst="rect">
            <a:avLst/>
          </a:prstGeom>
          <a:noFill/>
          <a:ln w="19050">
            <a:solidFill>
              <a:srgbClr val="225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Isosceles Triangle 11"/>
          <p:cNvSpPr/>
          <p:nvPr/>
        </p:nvSpPr>
        <p:spPr>
          <a:xfrm>
            <a:off x="2104644" y="3310128"/>
            <a:ext cx="502920" cy="365760"/>
          </a:xfrm>
          <a:prstGeom prst="triangle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506980" y="3200400"/>
            <a:ext cx="146304" cy="146304"/>
          </a:xfrm>
          <a:prstGeom prst="ellipse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4626864"/>
            <a:ext cx="33314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5A6675"/>
                </a:solidFill>
                <a:latin typeface="Aptos"/>
              </a:rPr>
              <a:t>[PHOTO: Airbus A320 cabin partition]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074920"/>
            <a:ext cx="351434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7212B"/>
                </a:solidFill>
                <a:latin typeface="Aptos"/>
              </a:rPr>
              <a:t>Airbus A320 cabin partition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394960"/>
            <a:ext cx="3514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5A6675"/>
                </a:solidFill>
                <a:latin typeface="Aptos"/>
              </a:rPr>
              <a:t>Generatively designed, 45% lighter, certified, flown.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37304" y="1920240"/>
            <a:ext cx="3514344" cy="36576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37304" y="1993392"/>
            <a:ext cx="351434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PROPULSION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7304" y="2286000"/>
            <a:ext cx="3514344" cy="2651760"/>
          </a:xfrm>
          <a:prstGeom prst="rect">
            <a:avLst/>
          </a:prstGeom>
          <a:solidFill>
            <a:srgbClr val="ECF3FA"/>
          </a:solidFill>
          <a:ln w="9525">
            <a:solidFill>
              <a:srgbClr val="225E9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82996" y="3108960"/>
            <a:ext cx="822960" cy="594360"/>
          </a:xfrm>
          <a:prstGeom prst="rect">
            <a:avLst/>
          </a:prstGeom>
          <a:noFill/>
          <a:ln w="19050">
            <a:solidFill>
              <a:srgbClr val="225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Isosceles Triangle 20"/>
          <p:cNvSpPr/>
          <p:nvPr/>
        </p:nvSpPr>
        <p:spPr>
          <a:xfrm>
            <a:off x="5847588" y="3310128"/>
            <a:ext cx="502920" cy="365760"/>
          </a:xfrm>
          <a:prstGeom prst="triangle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249924" y="3200400"/>
            <a:ext cx="146304" cy="146304"/>
          </a:xfrm>
          <a:prstGeom prst="ellipse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28744" y="4626864"/>
            <a:ext cx="33314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5A6675"/>
                </a:solidFill>
                <a:latin typeface="Aptos"/>
              </a:rPr>
              <a:t>[PHOTO: GE jet-engine bracket]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7304" y="5074920"/>
            <a:ext cx="351434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7212B"/>
                </a:solidFill>
                <a:latin typeface="Aptos"/>
              </a:rPr>
              <a:t>GE jet-engine bracket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37304" y="5394960"/>
            <a:ext cx="3514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5A6675"/>
                </a:solidFill>
                <a:latin typeface="Aptos"/>
              </a:rPr>
              <a:t>84% mass reduction via topology optimization.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0248" y="1920240"/>
            <a:ext cx="3514344" cy="36576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80248" y="1993392"/>
            <a:ext cx="351434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PHOTONICS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80248" y="2286000"/>
            <a:ext cx="3514344" cy="2651760"/>
          </a:xfrm>
          <a:prstGeom prst="rect">
            <a:avLst/>
          </a:prstGeom>
          <a:solidFill>
            <a:srgbClr val="ECF3FA"/>
          </a:solidFill>
          <a:ln w="9525">
            <a:solidFill>
              <a:srgbClr val="225E9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425940" y="3108960"/>
            <a:ext cx="822960" cy="594360"/>
          </a:xfrm>
          <a:prstGeom prst="rect">
            <a:avLst/>
          </a:prstGeom>
          <a:noFill/>
          <a:ln w="19050">
            <a:solidFill>
              <a:srgbClr val="225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Isosceles Triangle 29"/>
          <p:cNvSpPr/>
          <p:nvPr/>
        </p:nvSpPr>
        <p:spPr>
          <a:xfrm>
            <a:off x="9590532" y="3310128"/>
            <a:ext cx="502920" cy="365760"/>
          </a:xfrm>
          <a:prstGeom prst="triangle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992868" y="3200400"/>
            <a:ext cx="146304" cy="146304"/>
          </a:xfrm>
          <a:prstGeom prst="ellipse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71688" y="4626864"/>
            <a:ext cx="33314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5A6675"/>
                </a:solidFill>
                <a:latin typeface="Aptos"/>
              </a:rPr>
              <a:t>[PHOTO: Inverse-designed metasurface]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80248" y="5074920"/>
            <a:ext cx="351434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7212B"/>
                </a:solidFill>
                <a:latin typeface="Aptos"/>
              </a:rPr>
              <a:t>Inverse-designed metasurface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80248" y="5394960"/>
            <a:ext cx="35143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5A6675"/>
                </a:solidFill>
                <a:latin typeface="Aptos"/>
              </a:rPr>
              <a:t>Optical devices beyond hand-crafted baselines.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2336" y="6419088"/>
            <a:ext cx="4005072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>
                <a:solidFill>
                  <a:srgbClr val="5A6675"/>
                </a:solidFill>
                <a:latin typeface="Aptos"/>
              </a:rP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8975" y="6419088"/>
            <a:ext cx="3712463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0" i="0">
                <a:solidFill>
                  <a:srgbClr val="5A6675"/>
                </a:solidFill>
                <a:latin typeface="Aptos"/>
              </a:rPr>
              <a:t>DCC 2026 workshop  |  EngiBench + EngiOpt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25E9B"/>
                </a:solidFill>
                <a:latin typeface="Aptos"/>
              </a:rPr>
              <a:t>A RENAISSANCE OF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315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7212B"/>
                </a:solidFill>
                <a:latin typeface="Aptos Display"/>
              </a:rPr>
              <a:t>Every year, a new generative recipe.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5A6675"/>
                </a:solidFill>
                <a:latin typeface="Aptos"/>
              </a:rPr>
              <a:t>And every paper claims a new state of the art.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023360"/>
            <a:ext cx="10469880" cy="36576"/>
          </a:xfrm>
          <a:prstGeom prst="rect">
            <a:avLst/>
          </a:prstGeom>
          <a:solidFill>
            <a:srgbClr val="C8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77240" y="3538728"/>
            <a:ext cx="1005840" cy="1005840"/>
          </a:xfrm>
          <a:prstGeom prst="ellipse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2017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91440" y="23774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225E9B"/>
                </a:solidFill>
                <a:latin typeface="Aptos"/>
              </a:rPr>
              <a:t>GAN era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91440" y="49377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>
                <a:solidFill>
                  <a:srgbClr val="5A6675"/>
                </a:solidFill>
                <a:latin typeface="Aptos"/>
              </a:rPr>
              <a:t>cGANs for layouts and shapes.</a:t>
            </a:r>
          </a:p>
        </p:txBody>
      </p:sp>
      <p:sp>
        <p:nvSpPr>
          <p:cNvPr id="13" name="Oval 12"/>
          <p:cNvSpPr/>
          <p:nvPr/>
        </p:nvSpPr>
        <p:spPr>
          <a:xfrm>
            <a:off x="3977640" y="3538728"/>
            <a:ext cx="1005840" cy="1005840"/>
          </a:xfrm>
          <a:prstGeom prst="ellipse">
            <a:avLst/>
          </a:prstGeom>
          <a:solidFill>
            <a:srgbClr val="2F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2019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3774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2F7D62"/>
                </a:solidFill>
                <a:latin typeface="Aptos"/>
              </a:rPr>
              <a:t>VAE 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49377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>
                <a:solidFill>
                  <a:srgbClr val="5A6675"/>
                </a:solidFill>
                <a:latin typeface="Aptos"/>
              </a:rPr>
              <a:t>Smooth latent design manifolds.</a:t>
            </a:r>
          </a:p>
        </p:txBody>
      </p:sp>
      <p:sp>
        <p:nvSpPr>
          <p:cNvPr id="16" name="Oval 15"/>
          <p:cNvSpPr/>
          <p:nvPr/>
        </p:nvSpPr>
        <p:spPr>
          <a:xfrm>
            <a:off x="7178040" y="3538728"/>
            <a:ext cx="1005840" cy="1005840"/>
          </a:xfrm>
          <a:prstGeom prst="ellipse">
            <a:avLst/>
          </a:prstGeom>
          <a:solidFill>
            <a:srgbClr val="C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2022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3774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C47B20"/>
                </a:solidFill>
                <a:latin typeface="Aptos"/>
              </a:rPr>
              <a:t>Diffusion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9377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>
                <a:solidFill>
                  <a:srgbClr val="5A6675"/>
                </a:solidFill>
                <a:latin typeface="Aptos"/>
              </a:rPr>
              <a:t>Score-based generative design.</a:t>
            </a:r>
          </a:p>
        </p:txBody>
      </p:sp>
      <p:sp>
        <p:nvSpPr>
          <p:cNvPr id="19" name="Oval 18"/>
          <p:cNvSpPr/>
          <p:nvPr/>
        </p:nvSpPr>
        <p:spPr>
          <a:xfrm>
            <a:off x="10378440" y="3538728"/>
            <a:ext cx="1005840" cy="1005840"/>
          </a:xfrm>
          <a:prstGeom prst="ellipse">
            <a:avLst/>
          </a:prstGeom>
          <a:solidFill>
            <a:srgbClr val="C84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2024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3774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C84837"/>
                </a:solidFill>
                <a:latin typeface="Aptos"/>
              </a:rPr>
              <a:t>LLMs +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49377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>
                <a:solidFill>
                  <a:srgbClr val="5A6675"/>
                </a:solidFill>
                <a:latin typeface="Aptos"/>
              </a:rPr>
              <a:t>Code-writing design pipelines.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5669280"/>
            <a:ext cx="11018520" cy="50292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5779008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The methods change quickly. The way we evaluate them barely changes at 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2336" y="6419088"/>
            <a:ext cx="4005072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>
                <a:solidFill>
                  <a:srgbClr val="5A6675"/>
                </a:solidFill>
                <a:latin typeface="Aptos"/>
              </a:rP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8975" y="6419088"/>
            <a:ext cx="3712463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0" i="0">
                <a:solidFill>
                  <a:srgbClr val="5A6675"/>
                </a:solidFill>
                <a:latin typeface="Aptos"/>
              </a:rPr>
              <a:t>DCC 2026 workshop  |  EngiBench + EngiOpt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25E9B"/>
                </a:solidFill>
                <a:latin typeface="Aptos"/>
              </a:rPr>
              <a:t>AN HONEST QUESTION</a:t>
            </a:r>
          </a:p>
        </p:txBody>
      </p:sp>
      <p:sp>
        <p:nvSpPr>
          <p:cNvPr id="7" name="Oval 6"/>
          <p:cNvSpPr/>
          <p:nvPr/>
        </p:nvSpPr>
        <p:spPr>
          <a:xfrm>
            <a:off x="4407408" y="2057399"/>
            <a:ext cx="3383280" cy="3383280"/>
          </a:xfrm>
          <a:prstGeom prst="ellipse">
            <a:avLst/>
          </a:prstGeom>
          <a:solidFill>
            <a:srgbClr val="EC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27448" y="2285999"/>
            <a:ext cx="2743200" cy="2926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0" b="1" i="0">
                <a:solidFill>
                  <a:srgbClr val="225E9B"/>
                </a:solidFill>
                <a:latin typeface="Aptos Display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868680"/>
            <a:ext cx="118872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7212B"/>
                </a:solidFill>
                <a:latin typeface="Aptos Display"/>
              </a:rPr>
              <a:t>When a paper claims SOTA on topology optimization,
what actually changed?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760720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5A6675"/>
                </a:solidFill>
                <a:latin typeface="Aptos"/>
              </a:rPr>
              <a:t>Better model? Easier conditions? Lower bar?  —  today's literature does not let you tell.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2336" y="6419088"/>
            <a:ext cx="4005072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>
                <a:solidFill>
                  <a:srgbClr val="5A6675"/>
                </a:solidFill>
                <a:latin typeface="Aptos"/>
              </a:rPr>
              <a:t>Why we cannot tell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8975" y="6419088"/>
            <a:ext cx="3712463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0" i="0">
                <a:solidFill>
                  <a:srgbClr val="5A6675"/>
                </a:solidFill>
                <a:latin typeface="Aptos"/>
              </a:rPr>
              <a:t>DCC 2026 workshop  |  EngiBench + EngiOpt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25E9B"/>
                </a:solidFill>
                <a:latin typeface="Aptos"/>
              </a:rPr>
              <a:t>ML'S REPRODUCIBILITY CRISIS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315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7212B"/>
                </a:solidFill>
                <a:latin typeface="Aptos Display"/>
              </a:rPr>
              <a:t>We are not the first field to face this.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594360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0" b="1" i="0">
                <a:solidFill>
                  <a:srgbClr val="C84837"/>
                </a:solidFill>
                <a:latin typeface="Aptos Display"/>
              </a:rPr>
              <a:t>≈30%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93776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7212B"/>
                </a:solidFill>
                <a:latin typeface="Aptos"/>
              </a:rPr>
              <a:t>of ML papers failed to reproduce from text alone.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303520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5A6675"/>
                </a:solidFill>
                <a:latin typeface="Aptos"/>
              </a:rPr>
              <a:t>Pineau et al., 2019 — independent replication study.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92024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25E9B"/>
                </a:solidFill>
                <a:latin typeface="Aptos"/>
              </a:rPr>
              <a:t>MAINSTREAM ML'S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33172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7212B"/>
                </a:solidFill>
                <a:latin typeface="Aptos Display"/>
              </a:rPr>
              <a:t>Reproducibility checklists.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97180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7212B"/>
                </a:solidFill>
                <a:latin typeface="Aptos Display"/>
              </a:rPr>
              <a:t>Open code, weights, harnesses.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61188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7212B"/>
                </a:solidFill>
                <a:latin typeface="Aptos Display"/>
              </a:rPr>
              <a:t>Shared benchmarks by default.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46177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A6675"/>
                </a:solidFill>
                <a:latin typeface="Aptos"/>
              </a:rPr>
              <a:t>Engineering design ML is starting now from where ML stood in 2017.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2336" y="6419088"/>
            <a:ext cx="4005072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>
                <a:solidFill>
                  <a:srgbClr val="5A6675"/>
                </a:solidFill>
                <a:latin typeface="Aptos"/>
              </a:rPr>
              <a:t>Why we cannot tell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8975" y="6419088"/>
            <a:ext cx="3712463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0" i="0">
                <a:solidFill>
                  <a:srgbClr val="5A6675"/>
                </a:solidFill>
                <a:latin typeface="Aptos"/>
              </a:rPr>
              <a:t>DCC 2026 workshop  |  EngiBench + EngiOpt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25E9B"/>
                </a:solidFill>
                <a:latin typeface="Aptos"/>
              </a:rPr>
              <a:t>ENGINEERING DESIGN IS HARDER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315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7212B"/>
                </a:solidFill>
                <a:latin typeface="Aptos Display"/>
              </a:rPr>
              <a:t>Each paper hides many silent choices.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A6675"/>
                </a:solidFill>
                <a:latin typeface="Aptos"/>
              </a:rPr>
              <a:t>Vision papers hide a handful. Design papers hide all of these — and any one can flip a conclusion.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240280"/>
            <a:ext cx="3544824" cy="2011680"/>
          </a:xfrm>
          <a:prstGeom prst="rect">
            <a:avLst/>
          </a:prstGeom>
          <a:solidFill>
            <a:srgbClr val="EC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Gear 6 9"/>
          <p:cNvSpPr/>
          <p:nvPr/>
        </p:nvSpPr>
        <p:spPr>
          <a:xfrm>
            <a:off x="1772411" y="2514600"/>
            <a:ext cx="1188721" cy="1188721"/>
          </a:xfrm>
          <a:prstGeom prst="gear6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3749040"/>
            <a:ext cx="35448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17212B"/>
                </a:solidFill>
                <a:latin typeface="Aptos"/>
              </a:rPr>
              <a:t>Simulator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2064" y="2240280"/>
            <a:ext cx="3544824" cy="2011680"/>
          </a:xfrm>
          <a:prstGeom prst="rect">
            <a:avLst/>
          </a:prstGeom>
          <a:solidFill>
            <a:srgbClr val="EC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&quot;No&quot; Symbol 12"/>
          <p:cNvSpPr/>
          <p:nvPr/>
        </p:nvSpPr>
        <p:spPr>
          <a:xfrm>
            <a:off x="5500115" y="2514600"/>
            <a:ext cx="1188721" cy="1188721"/>
          </a:xfrm>
          <a:prstGeom prst="noSmoking">
            <a:avLst/>
          </a:prstGeom>
          <a:solidFill>
            <a:srgbClr val="C84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22064" y="3749040"/>
            <a:ext cx="35448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17212B"/>
                </a:solidFill>
                <a:latin typeface="Aptos"/>
              </a:rPr>
              <a:t>Constraints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9768" y="2240280"/>
            <a:ext cx="3544824" cy="2011680"/>
          </a:xfrm>
          <a:prstGeom prst="rect">
            <a:avLst/>
          </a:prstGeom>
          <a:solidFill>
            <a:srgbClr val="EC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Sun 15"/>
          <p:cNvSpPr/>
          <p:nvPr/>
        </p:nvSpPr>
        <p:spPr>
          <a:xfrm>
            <a:off x="9227819" y="2514600"/>
            <a:ext cx="1188721" cy="1188721"/>
          </a:xfrm>
          <a:prstGeom prst="sun">
            <a:avLst/>
          </a:prstGeom>
          <a:solidFill>
            <a:srgbClr val="C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9768" y="3749040"/>
            <a:ext cx="35448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17212B"/>
                </a:solidFill>
                <a:latin typeface="Aptos"/>
              </a:rPr>
              <a:t>Conditions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434840"/>
            <a:ext cx="3544824" cy="2011680"/>
          </a:xfrm>
          <a:prstGeom prst="rect">
            <a:avLst/>
          </a:prstGeom>
          <a:solidFill>
            <a:srgbClr val="EC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5-Point Star 18"/>
          <p:cNvSpPr/>
          <p:nvPr/>
        </p:nvSpPr>
        <p:spPr>
          <a:xfrm>
            <a:off x="1772411" y="4709160"/>
            <a:ext cx="1188721" cy="1188721"/>
          </a:xfrm>
          <a:prstGeom prst="star5">
            <a:avLst/>
          </a:prstGeom>
          <a:solidFill>
            <a:srgbClr val="2F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5943600"/>
            <a:ext cx="35448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17212B"/>
                </a:solidFill>
                <a:latin typeface="Aptos"/>
              </a:rPr>
              <a:t>Baselines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2064" y="4434840"/>
            <a:ext cx="3544824" cy="2011680"/>
          </a:xfrm>
          <a:prstGeom prst="rect">
            <a:avLst/>
          </a:prstGeom>
          <a:solidFill>
            <a:srgbClr val="EC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ube 21"/>
          <p:cNvSpPr/>
          <p:nvPr/>
        </p:nvSpPr>
        <p:spPr>
          <a:xfrm>
            <a:off x="5500115" y="4709160"/>
            <a:ext cx="1188721" cy="1188721"/>
          </a:xfrm>
          <a:prstGeom prst="cube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22064" y="5943600"/>
            <a:ext cx="35448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17212B"/>
                </a:solidFill>
                <a:latin typeface="Aptos"/>
              </a:rPr>
              <a:t>Representation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9768" y="4434840"/>
            <a:ext cx="3544824" cy="2011680"/>
          </a:xfrm>
          <a:prstGeom prst="rect">
            <a:avLst/>
          </a:prstGeom>
          <a:solidFill>
            <a:srgbClr val="EC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Chevron 24"/>
          <p:cNvSpPr/>
          <p:nvPr/>
        </p:nvSpPr>
        <p:spPr>
          <a:xfrm>
            <a:off x="9227819" y="4709160"/>
            <a:ext cx="1188721" cy="1188721"/>
          </a:xfrm>
          <a:prstGeom prst="chevron">
            <a:avLst/>
          </a:prstGeom>
          <a:solidFill>
            <a:srgbClr val="C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49768" y="5943600"/>
            <a:ext cx="354482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17212B"/>
                </a:solidFill>
                <a:latin typeface="Aptos"/>
              </a:rPr>
              <a:t>Units &amp; scaling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2336" y="6419088"/>
            <a:ext cx="4005072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>
                <a:solidFill>
                  <a:srgbClr val="5A6675"/>
                </a:solidFill>
                <a:latin typeface="Aptos"/>
              </a:rPr>
              <a:t>Why we cannot tell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8975" y="6419088"/>
            <a:ext cx="3712463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0" i="0">
                <a:solidFill>
                  <a:srgbClr val="5A6675"/>
                </a:solidFill>
                <a:latin typeface="Aptos"/>
              </a:rPr>
              <a:t>DCC 2026 workshop  |  EngiBench + EngiOpt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25E9B"/>
                </a:solidFill>
                <a:latin typeface="Aptos"/>
              </a:rPr>
              <a:t>A CONCRETE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315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7212B"/>
                </a:solidFill>
                <a:latin typeface="Aptos Display"/>
              </a:rPr>
              <a:t>Same task name. Same headline number.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A6675"/>
                </a:solidFill>
                <a:latin typeface="Aptos"/>
              </a:rPr>
              <a:t>Two recent "Beams2D" papers report MSE = 0.04. Are they comparable?</a:t>
            </a:r>
          </a:p>
        </p:txBody>
      </p:sp>
      <p:sp>
        <p:nvSpPr>
          <p:cNvPr id="9" name="Folded Corner 8"/>
          <p:cNvSpPr/>
          <p:nvPr/>
        </p:nvSpPr>
        <p:spPr>
          <a:xfrm>
            <a:off x="777240" y="2011680"/>
            <a:ext cx="4389120" cy="3840480"/>
          </a:xfrm>
          <a:prstGeom prst="foldedCorner">
            <a:avLst/>
          </a:prstGeom>
          <a:solidFill>
            <a:srgbClr val="FFFFFF"/>
          </a:solidFill>
          <a:ln w="19050">
            <a:solidFill>
              <a:srgbClr val="225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41832" y="2286000"/>
            <a:ext cx="2841955" cy="54864"/>
          </a:xfrm>
          <a:prstGeom prst="rect">
            <a:avLst/>
          </a:prstGeom>
          <a:solidFill>
            <a:srgbClr val="C8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41832" y="2432304"/>
            <a:ext cx="3450945" cy="54864"/>
          </a:xfrm>
          <a:prstGeom prst="rect">
            <a:avLst/>
          </a:prstGeom>
          <a:solidFill>
            <a:srgbClr val="C8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41832" y="2578608"/>
            <a:ext cx="2232964" cy="54864"/>
          </a:xfrm>
          <a:prstGeom prst="rect">
            <a:avLst/>
          </a:prstGeom>
          <a:solidFill>
            <a:srgbClr val="C8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41832" y="2724912"/>
            <a:ext cx="3166750" cy="54864"/>
          </a:xfrm>
          <a:prstGeom prst="rect">
            <a:avLst/>
          </a:prstGeom>
          <a:solidFill>
            <a:srgbClr val="C8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304288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225E9B"/>
                </a:solidFill>
                <a:latin typeface="Aptos"/>
              </a:rPr>
              <a:t>PAPER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10896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7212B"/>
                </a:solidFill>
                <a:latin typeface="Aptos"/>
              </a:rPr>
              <a:t>volume frac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108960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A6675"/>
                </a:solidFill>
                <a:latin typeface="Aptos"/>
              </a:rPr>
              <a:t>0.50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49300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7212B"/>
                </a:solidFill>
                <a:latin typeface="Aptos"/>
              </a:rPr>
              <a:t>filter radius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49300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A6675"/>
                </a:solidFill>
                <a:latin typeface="Aptos"/>
              </a:rPr>
              <a:t>1.5 px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877056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7212B"/>
                </a:solidFill>
                <a:latin typeface="Aptos"/>
              </a:rPr>
              <a:t>feasibility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877056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A6675"/>
                </a:solidFill>
                <a:latin typeface="Aptos"/>
              </a:rPr>
              <a:t>soft penalty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261104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7212B"/>
                </a:solidFill>
                <a:latin typeface="Aptos"/>
              </a:rPr>
              <a:t>solver tol.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261104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A6675"/>
                </a:solidFill>
                <a:latin typeface="Aptos"/>
              </a:rPr>
              <a:t>1e-3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645152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7212B"/>
                </a:solidFill>
                <a:latin typeface="Aptos"/>
              </a:rPr>
              <a:t>test conds.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64515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A6675"/>
                </a:solidFill>
                <a:latin typeface="Aptos"/>
              </a:rPr>
              <a:t>near training</a:t>
            </a:r>
          </a:p>
        </p:txBody>
      </p:sp>
      <p:sp>
        <p:nvSpPr>
          <p:cNvPr id="25" name="Folded Corner 24"/>
          <p:cNvSpPr/>
          <p:nvPr/>
        </p:nvSpPr>
        <p:spPr>
          <a:xfrm>
            <a:off x="7025335" y="2011680"/>
            <a:ext cx="4389120" cy="3840480"/>
          </a:xfrm>
          <a:prstGeom prst="foldedCorner">
            <a:avLst/>
          </a:prstGeom>
          <a:solidFill>
            <a:srgbClr val="FFFFFF"/>
          </a:solidFill>
          <a:ln w="19050">
            <a:solidFill>
              <a:srgbClr val="C47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189927" y="2286000"/>
            <a:ext cx="2841955" cy="54864"/>
          </a:xfrm>
          <a:prstGeom prst="rect">
            <a:avLst/>
          </a:prstGeom>
          <a:solidFill>
            <a:srgbClr val="C8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189927" y="2432304"/>
            <a:ext cx="3450945" cy="54864"/>
          </a:xfrm>
          <a:prstGeom prst="rect">
            <a:avLst/>
          </a:prstGeom>
          <a:solidFill>
            <a:srgbClr val="C8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189927" y="2578608"/>
            <a:ext cx="2232964" cy="54864"/>
          </a:xfrm>
          <a:prstGeom prst="rect">
            <a:avLst/>
          </a:prstGeom>
          <a:solidFill>
            <a:srgbClr val="C8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189927" y="2724912"/>
            <a:ext cx="3166750" cy="54864"/>
          </a:xfrm>
          <a:prstGeom prst="rect">
            <a:avLst/>
          </a:prstGeom>
          <a:solidFill>
            <a:srgbClr val="C8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25335" y="2304288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C47B20"/>
                </a:solidFill>
                <a:latin typeface="Aptos"/>
              </a:rPr>
              <a:t>PAPER 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8255" y="3108960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7212B"/>
                </a:solidFill>
                <a:latin typeface="Aptos"/>
              </a:rPr>
              <a:t>volume frac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48495" y="3108960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A6675"/>
                </a:solidFill>
                <a:latin typeface="Aptos"/>
              </a:rPr>
              <a:t>0.30 – 0.55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8255" y="349300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7212B"/>
                </a:solidFill>
                <a:latin typeface="Aptos"/>
              </a:rPr>
              <a:t>filter radius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48495" y="3493008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A6675"/>
                </a:solidFill>
                <a:latin typeface="Aptos"/>
              </a:rPr>
              <a:t>2.5 px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28255" y="3877056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7212B"/>
                </a:solidFill>
                <a:latin typeface="Aptos"/>
              </a:rPr>
              <a:t>feasibility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48495" y="3877056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A6675"/>
                </a:solidFill>
                <a:latin typeface="Aptos"/>
              </a:rPr>
              <a:t>hard reject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8255" y="4261104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7212B"/>
                </a:solidFill>
                <a:latin typeface="Aptos"/>
              </a:rPr>
              <a:t>solver tol.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48495" y="4261104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A6675"/>
                </a:solidFill>
                <a:latin typeface="Aptos"/>
              </a:rPr>
              <a:t>1e-5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28255" y="4645152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7212B"/>
                </a:solidFill>
                <a:latin typeface="Aptos"/>
              </a:rPr>
              <a:t>test conds.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48495" y="464515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A6675"/>
                </a:solidFill>
                <a:latin typeface="Aptos"/>
              </a:rPr>
              <a:t>OOD corners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0" y="3383280"/>
            <a:ext cx="1645920" cy="1645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0" b="1" i="0">
                <a:solidFill>
                  <a:srgbClr val="C84837"/>
                </a:solidFill>
                <a:latin typeface="Aptos Display"/>
              </a:rPr>
              <a:t>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" y="6035040"/>
            <a:ext cx="11018520" cy="36576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4360" y="6108192"/>
            <a:ext cx="11018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Different problem, same number.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2336" y="6419088"/>
            <a:ext cx="4005072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>
                <a:solidFill>
                  <a:srgbClr val="5A6675"/>
                </a:solidFill>
                <a:latin typeface="Aptos"/>
              </a:rPr>
              <a:t>Why we cannot tell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8975" y="6419088"/>
            <a:ext cx="3712463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0" i="0">
                <a:solidFill>
                  <a:srgbClr val="5A6675"/>
                </a:solidFill>
                <a:latin typeface="Aptos"/>
              </a:rPr>
              <a:t>DCC 2026 workshop  |  EngiBench + EngiOpt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25E9B"/>
                </a:solidFill>
                <a:latin typeface="Aptos"/>
              </a:rPr>
              <a:t>THREE FAILURE MODES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315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7212B"/>
                </a:solidFill>
                <a:latin typeface="Aptos Display"/>
              </a:rPr>
              <a:t>Without a shared contract, three patterns recur.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103120"/>
            <a:ext cx="3514344" cy="384048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91412" y="2697480"/>
            <a:ext cx="1920240" cy="1920240"/>
          </a:xfrm>
          <a:prstGeom prst="ellipse">
            <a:avLst/>
          </a:prstGeom>
          <a:solidFill>
            <a:srgbClr val="C84837"/>
          </a:solidFill>
          <a:ln w="25400">
            <a:solidFill>
              <a:srgbClr val="C848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665732" y="2971800"/>
            <a:ext cx="1371600" cy="1371600"/>
          </a:xfrm>
          <a:prstGeom prst="ellipse">
            <a:avLst/>
          </a:prstGeom>
          <a:solidFill>
            <a:srgbClr val="F6E0DD"/>
          </a:solidFill>
          <a:ln w="25400">
            <a:solidFill>
              <a:srgbClr val="C848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940052" y="324612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848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186940" y="3493008"/>
            <a:ext cx="329184" cy="329184"/>
          </a:xfrm>
          <a:prstGeom prst="ellipse">
            <a:avLst/>
          </a:prstGeom>
          <a:solidFill>
            <a:srgbClr val="C84837"/>
          </a:solidFill>
          <a:ln w="25400">
            <a:solidFill>
              <a:srgbClr val="C848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54452" y="30175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17212B"/>
                </a:solidFill>
                <a:latin typeface="Aptos Display"/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212080"/>
            <a:ext cx="351434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C84837"/>
                </a:solidFill>
                <a:latin typeface="Aptos"/>
              </a:rPr>
              <a:t>Cherry-picked conditions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32120"/>
            <a:ext cx="31485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A6675"/>
                </a:solidFill>
                <a:latin typeface="Aptos"/>
              </a:rPr>
              <a:t>Easy near the training mean. Collapses elsewhere.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7304" y="2103120"/>
            <a:ext cx="3514344" cy="384048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180076" y="3154680"/>
            <a:ext cx="1828800" cy="1005840"/>
          </a:xfrm>
          <a:prstGeom prst="ellipse">
            <a:avLst/>
          </a:prstGeom>
          <a:noFill/>
          <a:ln>
            <a:solidFill>
              <a:srgbClr val="C47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742432" y="3305556"/>
            <a:ext cx="704088" cy="704088"/>
          </a:xfrm>
          <a:prstGeom prst="ellipse">
            <a:avLst/>
          </a:prstGeom>
          <a:solidFill>
            <a:srgbClr val="C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37304" y="5212080"/>
            <a:ext cx="351434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C47B20"/>
                </a:solidFill>
                <a:latin typeface="Aptos"/>
              </a:rPr>
              <a:t>Visual-only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0184" y="5532120"/>
            <a:ext cx="31485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A6675"/>
                </a:solidFill>
                <a:latin typeface="Aptos"/>
              </a:rPr>
              <a:t>Looks plausible. Fails the simulator.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80248" y="2103120"/>
            <a:ext cx="3514344" cy="384048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563100" y="2468880"/>
            <a:ext cx="548640" cy="237744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31580" y="4206240"/>
            <a:ext cx="274320" cy="640080"/>
          </a:xfrm>
          <a:prstGeom prst="rect">
            <a:avLst/>
          </a:prstGeom>
          <a:solidFill>
            <a:srgbClr val="C8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340340" y="3840480"/>
            <a:ext cx="274320" cy="1005840"/>
          </a:xfrm>
          <a:prstGeom prst="rect">
            <a:avLst/>
          </a:prstGeom>
          <a:solidFill>
            <a:srgbClr val="C8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80248" y="5212080"/>
            <a:ext cx="3514344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225E9B"/>
                </a:solidFill>
                <a:latin typeface="Aptos"/>
              </a:rPr>
              <a:t>One-number scores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3128" y="5532120"/>
            <a:ext cx="31485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A6675"/>
                </a:solidFill>
                <a:latin typeface="Aptos"/>
              </a:rPr>
              <a:t>Hides feasibility, diversity, and warm-start.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234440" y="2103120"/>
            <a:ext cx="2651760" cy="2651760"/>
          </a:xfrm>
          <a:prstGeom prst="ellipse">
            <a:avLst/>
          </a:prstGeom>
          <a:solidFill>
            <a:srgbClr val="174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5-Point Star 3"/>
          <p:cNvSpPr/>
          <p:nvPr/>
        </p:nvSpPr>
        <p:spPr>
          <a:xfrm>
            <a:off x="1783080" y="2651760"/>
            <a:ext cx="1554480" cy="1554480"/>
          </a:xfrm>
          <a:prstGeom prst="star5">
            <a:avLst/>
          </a:prstGeom>
          <a:solidFill>
            <a:srgbClr val="CF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754880" y="2423160"/>
            <a:ext cx="68580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FE3F3"/>
                </a:solidFill>
                <a:latin typeface="Aptos"/>
              </a:rPr>
              <a:t>SECTION 2  —  LESSONS FROM OTHER FIELDS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834640"/>
            <a:ext cx="68580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Aptos Display"/>
              </a:rPr>
              <a:t>What benchmarks have done
elsewhere.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4754880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EAF3FA"/>
                </a:solidFill>
                <a:latin typeface="Aptos"/>
              </a:rPr>
              <a:t>Vision, language, and biology have all been here. Three case studies, one recipe.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2336" y="6419088"/>
            <a:ext cx="4005072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>
                <a:solidFill>
                  <a:srgbClr val="5A6675"/>
                </a:solidFill>
                <a:latin typeface="Aptos"/>
              </a:rPr>
              <a:t>Lessons from other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8975" y="6419088"/>
            <a:ext cx="3712463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0" i="0">
                <a:solidFill>
                  <a:srgbClr val="5A6675"/>
                </a:solidFill>
                <a:latin typeface="Aptos"/>
              </a:rPr>
              <a:t>DCC 2026 workshop  |  EngiBench + EngiOpt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25E9B"/>
                </a:solidFill>
                <a:latin typeface="Aptos"/>
              </a:rPr>
              <a:t>LESSON 1  —  IMAGENET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315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212B"/>
                </a:solidFill>
                <a:latin typeface="Aptos Display"/>
              </a:rPr>
              <a:t>One frozen evaluation made breakthroughs unambiguous.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45920"/>
            <a:ext cx="1101852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7212B"/>
                </a:solidFill>
                <a:latin typeface="Aptos"/>
              </a:rPr>
              <a:t>ImageNet top-5 error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35738" y="2676448"/>
            <a:ext cx="694658" cy="2535631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420416"/>
            <a:ext cx="126301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17212B"/>
                </a:solidFill>
                <a:latin typeface="Aptos"/>
              </a:rPr>
              <a:t>28.2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248656"/>
            <a:ext cx="12630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5A6675"/>
                </a:solidFill>
                <a:latin typeface="Aptos"/>
              </a:rPr>
              <a:t>2010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98753" y="2892247"/>
            <a:ext cx="694658" cy="2319832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14575" y="2636215"/>
            <a:ext cx="126301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17212B"/>
                </a:solidFill>
                <a:latin typeface="Aptos"/>
              </a:rPr>
              <a:t>25.8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14575" y="5248656"/>
            <a:ext cx="12630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5A6675"/>
                </a:solidFill>
                <a:latin typeface="Aptos"/>
              </a:rPr>
              <a:t>2011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61768" y="3737457"/>
            <a:ext cx="694658" cy="1474622"/>
          </a:xfrm>
          <a:prstGeom prst="rect">
            <a:avLst/>
          </a:prstGeom>
          <a:solidFill>
            <a:srgbClr val="C84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77590" y="3481425"/>
            <a:ext cx="126301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17212B"/>
                </a:solidFill>
                <a:latin typeface="Aptos"/>
              </a:rPr>
              <a:t>16.4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7590" y="5248656"/>
            <a:ext cx="12630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5A6675"/>
                </a:solidFill>
                <a:latin typeface="Aptos"/>
              </a:rPr>
              <a:t>2012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4783" y="4160062"/>
            <a:ext cx="694658" cy="1052017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40605" y="3904030"/>
            <a:ext cx="126301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17212B"/>
                </a:solidFill>
                <a:latin typeface="Aptos"/>
              </a:rPr>
              <a:t>11.7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0605" y="5248656"/>
            <a:ext cx="12630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5A6675"/>
                </a:solidFill>
                <a:latin typeface="Aptos"/>
              </a:rPr>
              <a:t>2013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87798" y="4609642"/>
            <a:ext cx="694658" cy="602437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03620" y="4353610"/>
            <a:ext cx="126301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17212B"/>
                </a:solidFill>
                <a:latin typeface="Aptos"/>
              </a:rPr>
              <a:t>6.7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3620" y="5248656"/>
            <a:ext cx="12630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5A6675"/>
                </a:solidFill>
                <a:latin typeface="Aptos"/>
              </a:rPr>
              <a:t>2014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50813" y="4888382"/>
            <a:ext cx="694658" cy="323697"/>
          </a:xfrm>
          <a:prstGeom prst="rect">
            <a:avLst/>
          </a:prstGeom>
          <a:solidFill>
            <a:srgbClr val="2F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66635" y="4632350"/>
            <a:ext cx="126301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17212B"/>
                </a:solidFill>
                <a:latin typeface="Aptos"/>
              </a:rPr>
              <a:t>3.6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6635" y="5248656"/>
            <a:ext cx="12630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5A6675"/>
                </a:solidFill>
                <a:latin typeface="Aptos"/>
              </a:rPr>
              <a:t>2015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13828" y="4942332"/>
            <a:ext cx="694658" cy="269748"/>
          </a:xfrm>
          <a:prstGeom prst="rect">
            <a:avLst/>
          </a:prstGeom>
          <a:solidFill>
            <a:srgbClr val="2F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29650" y="4686300"/>
            <a:ext cx="126301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17212B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29650" y="5248656"/>
            <a:ext cx="12630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5A6675"/>
                </a:solidFill>
                <a:latin typeface="Aptos"/>
              </a:rPr>
              <a:t>2016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76843" y="5005273"/>
            <a:ext cx="694658" cy="206806"/>
          </a:xfrm>
          <a:prstGeom prst="rect">
            <a:avLst/>
          </a:prstGeom>
          <a:solidFill>
            <a:srgbClr val="2F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892665" y="4749241"/>
            <a:ext cx="126301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17212B"/>
                </a:solidFill>
                <a:latin typeface="Aptos"/>
              </a:rPr>
              <a:t>2.3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2665" y="5248656"/>
            <a:ext cx="12630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5A6675"/>
                </a:solidFill>
                <a:latin typeface="Aptos"/>
              </a:rPr>
              <a:t>2017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7620" y="3163899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84837"/>
                </a:solidFill>
                <a:latin typeface="Aptos"/>
              </a:rPr>
              <a:t>AlexNet, 2012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5852160"/>
            <a:ext cx="11018520" cy="50292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4360" y="5961888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A shared task + a shared evaluation = a decade of compounding progress.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2336" y="6419088"/>
            <a:ext cx="4005072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>
                <a:solidFill>
                  <a:srgbClr val="5A6675"/>
                </a:solidFill>
                <a:latin typeface="Aptos"/>
              </a:rPr>
              <a:t>Lessons from other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8975" y="6419088"/>
            <a:ext cx="3712463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0" i="0">
                <a:solidFill>
                  <a:srgbClr val="5A6675"/>
                </a:solidFill>
                <a:latin typeface="Aptos"/>
              </a:rPr>
              <a:t>DCC 2026 workshop  |  EngiBench + EngiOpt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25E9B"/>
                </a:solidFill>
                <a:latin typeface="Aptos"/>
              </a:rPr>
              <a:t>LESSON 2  —  GLUE / SUPERGLUE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315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7212B"/>
                </a:solidFill>
                <a:latin typeface="Aptos Display"/>
              </a:rPr>
              <a:t>When one task saturates, a suite of tasks sustains the conversation.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240280"/>
            <a:ext cx="1005840" cy="1005840"/>
          </a:xfrm>
          <a:prstGeom prst="rect">
            <a:avLst/>
          </a:prstGeom>
          <a:solidFill>
            <a:srgbClr val="EC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24028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225E9B"/>
                </a:solidFill>
                <a:latin typeface="Aptos"/>
              </a:rPr>
              <a:t>CoLA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2240280"/>
            <a:ext cx="1005840" cy="1005840"/>
          </a:xfrm>
          <a:prstGeom prst="rect">
            <a:avLst/>
          </a:prstGeom>
          <a:solidFill>
            <a:srgbClr val="EC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37360" y="224028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225E9B"/>
                </a:solidFill>
                <a:latin typeface="Aptos"/>
              </a:rPr>
              <a:t>SST-2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2240280"/>
            <a:ext cx="1005840" cy="1005840"/>
          </a:xfrm>
          <a:prstGeom prst="rect">
            <a:avLst/>
          </a:prstGeom>
          <a:solidFill>
            <a:srgbClr val="EC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80360" y="224028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225E9B"/>
                </a:solidFill>
                <a:latin typeface="Aptos"/>
              </a:rPr>
              <a:t>MRPC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383280"/>
            <a:ext cx="1005840" cy="1005840"/>
          </a:xfrm>
          <a:prstGeom prst="rect">
            <a:avLst/>
          </a:prstGeom>
          <a:solidFill>
            <a:srgbClr val="EC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38328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225E9B"/>
                </a:solidFill>
                <a:latin typeface="Aptos"/>
              </a:rPr>
              <a:t>STS-B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3383280"/>
            <a:ext cx="1005840" cy="1005840"/>
          </a:xfrm>
          <a:prstGeom prst="rect">
            <a:avLst/>
          </a:prstGeom>
          <a:solidFill>
            <a:srgbClr val="EC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737360" y="338328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225E9B"/>
                </a:solidFill>
                <a:latin typeface="Aptos"/>
              </a:rPr>
              <a:t>QQP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80360" y="3383280"/>
            <a:ext cx="1005840" cy="1005840"/>
          </a:xfrm>
          <a:prstGeom prst="rect">
            <a:avLst/>
          </a:prstGeom>
          <a:solidFill>
            <a:srgbClr val="EC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80360" y="338328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225E9B"/>
                </a:solidFill>
                <a:latin typeface="Aptos"/>
              </a:rPr>
              <a:t>MNLI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4526280"/>
            <a:ext cx="1005840" cy="1005840"/>
          </a:xfrm>
          <a:prstGeom prst="rect">
            <a:avLst/>
          </a:prstGeom>
          <a:solidFill>
            <a:srgbClr val="EC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452628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225E9B"/>
                </a:solidFill>
                <a:latin typeface="Aptos"/>
              </a:rPr>
              <a:t>QNLI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37360" y="4526280"/>
            <a:ext cx="1005840" cy="1005840"/>
          </a:xfrm>
          <a:prstGeom prst="rect">
            <a:avLst/>
          </a:prstGeom>
          <a:solidFill>
            <a:srgbClr val="EC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37360" y="452628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225E9B"/>
                </a:solidFill>
                <a:latin typeface="Aptos"/>
              </a:rPr>
              <a:t>RTE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360" y="4526280"/>
            <a:ext cx="1005840" cy="1005840"/>
          </a:xfrm>
          <a:prstGeom prst="rect">
            <a:avLst/>
          </a:prstGeom>
          <a:solidFill>
            <a:srgbClr val="EC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880360" y="4526280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225E9B"/>
                </a:solidFill>
                <a:latin typeface="Aptos"/>
              </a:rPr>
              <a:t>WNLI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069080" y="3337560"/>
            <a:ext cx="1188720" cy="640080"/>
          </a:xfrm>
          <a:prstGeom prst="rightArrow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069080" y="3017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225E9B"/>
                </a:solidFill>
                <a:latin typeface="Aptos"/>
              </a:rPr>
              <a:t>harder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94960" y="2240280"/>
            <a:ext cx="3200400" cy="32004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94960" y="251460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ptos Display"/>
              </a:rPr>
              <a:t>SuperGLUE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3200400"/>
            <a:ext cx="26517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EAF3FA"/>
                </a:solidFill>
                <a:latin typeface="Aptos"/>
              </a:rPr>
              <a:t>Eight harder language understanding tasks. Designed when GLUE saturated in a year.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224028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47B20"/>
                </a:solidFill>
                <a:latin typeface="Aptos"/>
              </a:rPr>
              <a:t>THE LESSON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2606040"/>
            <a:ext cx="27432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7212B"/>
                </a:solidFill>
                <a:latin typeface="Aptos Display"/>
              </a:rPr>
              <a:t>Benchmarks have a lifecycle.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4343400"/>
            <a:ext cx="27432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5A6675"/>
                </a:solidFill>
                <a:latin typeface="Aptos"/>
              </a:rPr>
              <a:t>When models clear the bar, the community raises it. Design needs a suite, not one beam problem.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2336" y="6419088"/>
            <a:ext cx="4005072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>
                <a:solidFill>
                  <a:srgbClr val="5A6675"/>
                </a:solidFill>
                <a:latin typeface="Aptos"/>
              </a:rPr>
              <a:t>Lessons from other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8975" y="6419088"/>
            <a:ext cx="3712463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0" i="0">
                <a:solidFill>
                  <a:srgbClr val="5A6675"/>
                </a:solidFill>
                <a:latin typeface="Aptos"/>
              </a:rPr>
              <a:t>DCC 2026 workshop  |  EngiBench + EngiOpt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25E9B"/>
                </a:solidFill>
                <a:latin typeface="Aptos"/>
              </a:rPr>
              <a:t>LESSON 3  —  CASP / ALPHAFOLD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315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7212B"/>
                </a:solidFill>
                <a:latin typeface="Aptos Display"/>
              </a:rPr>
              <a:t>A 25-year community benchmark turned a breakthrough into a fact.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194560"/>
            <a:ext cx="5303520" cy="3840480"/>
          </a:xfrm>
          <a:prstGeom prst="rect">
            <a:avLst/>
          </a:prstGeom>
          <a:solidFill>
            <a:srgbClr val="ECF3FA"/>
          </a:solidFill>
          <a:ln w="9525">
            <a:solidFill>
              <a:srgbClr val="225E9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834640" y="3611880"/>
            <a:ext cx="822960" cy="594360"/>
          </a:xfrm>
          <a:prstGeom prst="rect">
            <a:avLst/>
          </a:prstGeom>
          <a:noFill/>
          <a:ln w="19050">
            <a:solidFill>
              <a:srgbClr val="225E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Isosceles Triangle 9"/>
          <p:cNvSpPr/>
          <p:nvPr/>
        </p:nvSpPr>
        <p:spPr>
          <a:xfrm>
            <a:off x="2999232" y="3813048"/>
            <a:ext cx="502920" cy="365760"/>
          </a:xfrm>
          <a:prstGeom prst="triangle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401568" y="3703320"/>
            <a:ext cx="146304" cy="146304"/>
          </a:xfrm>
          <a:prstGeom prst="ellipse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5724144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1">
                <a:solidFill>
                  <a:srgbClr val="5A6675"/>
                </a:solidFill>
                <a:latin typeface="Aptos"/>
              </a:rPr>
              <a:t>[IMAGE: AlphaFold predicted structure / CASP scoring]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53492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25E9B"/>
                </a:solidFill>
                <a:latin typeface="Aptos"/>
              </a:rPr>
              <a:t>CASP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60320"/>
            <a:ext cx="53492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i="0">
                <a:solidFill>
                  <a:srgbClr val="17212B"/>
                </a:solidFill>
                <a:latin typeface="Aptos Display"/>
              </a:rPr>
              <a:t>Held-out targets.
Blind submissions.
One shared score.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5029200"/>
            <a:ext cx="5349240" cy="36576"/>
          </a:xfrm>
          <a:prstGeom prst="rect">
            <a:avLst/>
          </a:prstGeom>
          <a:solidFill>
            <a:srgbClr val="C8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291072" y="4937760"/>
            <a:ext cx="219456" cy="219456"/>
          </a:xfrm>
          <a:prstGeom prst="ellipse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0" y="5257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5A6675"/>
                </a:solidFill>
                <a:latin typeface="Aptos"/>
              </a:rPr>
              <a:t>1994</a:t>
            </a:r>
          </a:p>
        </p:txBody>
      </p:sp>
      <p:sp>
        <p:nvSpPr>
          <p:cNvPr id="18" name="Oval 17"/>
          <p:cNvSpPr/>
          <p:nvPr/>
        </p:nvSpPr>
        <p:spPr>
          <a:xfrm>
            <a:off x="7628382" y="4937760"/>
            <a:ext cx="219456" cy="219456"/>
          </a:xfrm>
          <a:prstGeom prst="ellipse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80910" y="5257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5A6675"/>
                </a:solidFill>
                <a:latin typeface="Aptos"/>
              </a:rPr>
              <a:t>2000</a:t>
            </a:r>
          </a:p>
        </p:txBody>
      </p:sp>
      <p:sp>
        <p:nvSpPr>
          <p:cNvPr id="20" name="Oval 19"/>
          <p:cNvSpPr/>
          <p:nvPr/>
        </p:nvSpPr>
        <p:spPr>
          <a:xfrm>
            <a:off x="8965692" y="4937760"/>
            <a:ext cx="219456" cy="219456"/>
          </a:xfrm>
          <a:prstGeom prst="ellipse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18220" y="5257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5A6675"/>
                </a:solidFill>
                <a:latin typeface="Aptos"/>
              </a:rPr>
              <a:t>2010</a:t>
            </a:r>
          </a:p>
        </p:txBody>
      </p:sp>
      <p:sp>
        <p:nvSpPr>
          <p:cNvPr id="22" name="Oval 21"/>
          <p:cNvSpPr/>
          <p:nvPr/>
        </p:nvSpPr>
        <p:spPr>
          <a:xfrm>
            <a:off x="10303002" y="4937760"/>
            <a:ext cx="219456" cy="219456"/>
          </a:xfrm>
          <a:prstGeom prst="ellipse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55530" y="5257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5A6675"/>
                </a:solidFill>
                <a:latin typeface="Aptos"/>
              </a:rPr>
              <a:t>2020</a:t>
            </a:r>
          </a:p>
        </p:txBody>
      </p:sp>
      <p:sp>
        <p:nvSpPr>
          <p:cNvPr id="24" name="Oval 23"/>
          <p:cNvSpPr/>
          <p:nvPr/>
        </p:nvSpPr>
        <p:spPr>
          <a:xfrm>
            <a:off x="11640312" y="4937760"/>
            <a:ext cx="219456" cy="219456"/>
          </a:xfrm>
          <a:prstGeom prst="ellipse">
            <a:avLst/>
          </a:prstGeom>
          <a:solidFill>
            <a:srgbClr val="2F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292840" y="5257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5A6675"/>
                </a:solidFill>
                <a:latin typeface="Aptos"/>
              </a:rPr>
              <a:t>CASP14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06440"/>
            <a:ext cx="53492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17212B"/>
                </a:solidFill>
                <a:latin typeface="Aptos"/>
              </a:rPr>
              <a:t>Without CASP, AlphaFold is a press release. With it, a verdict.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2336" y="6419088"/>
            <a:ext cx="4005072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>
                <a:solidFill>
                  <a:srgbClr val="5A6675"/>
                </a:solidFill>
                <a:latin typeface="Aptos"/>
              </a:rPr>
              <a:t>Lessons from other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8975" y="6419088"/>
            <a:ext cx="3712463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0" i="0">
                <a:solidFill>
                  <a:srgbClr val="5A6675"/>
                </a:solidFill>
                <a:latin typeface="Aptos"/>
              </a:rPr>
              <a:t>DCC 2026 workshop  |  EngiBench + EngiOpt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25E9B"/>
                </a:solidFill>
                <a:latin typeface="Aptos"/>
              </a:rPr>
              <a:t>WHAT GOOD BENCHMARKS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315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7212B"/>
                </a:solidFill>
                <a:latin typeface="Aptos Display"/>
              </a:rPr>
              <a:t>Four ingredients turn a dataset into a benchmark.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20240"/>
            <a:ext cx="2578608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920240"/>
            <a:ext cx="2578608" cy="73152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xagon 9"/>
          <p:cNvSpPr/>
          <p:nvPr/>
        </p:nvSpPr>
        <p:spPr>
          <a:xfrm>
            <a:off x="1197864" y="2560320"/>
            <a:ext cx="1371600" cy="1371600"/>
          </a:xfrm>
          <a:prstGeom prst="hexagon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4251960"/>
            <a:ext cx="25786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17212B"/>
                </a:solidFill>
                <a:latin typeface="Aptos Display"/>
              </a:rPr>
              <a:t>Fixed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754880"/>
            <a:ext cx="202996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>
                <a:solidFill>
                  <a:srgbClr val="5A6675"/>
                </a:solidFill>
                <a:latin typeface="Aptos"/>
              </a:rPr>
              <a:t>Same data, same splits.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920240"/>
            <a:ext cx="2578608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01568" y="1920240"/>
            <a:ext cx="2578608" cy="73152"/>
          </a:xfrm>
          <a:prstGeom prst="rect">
            <a:avLst/>
          </a:prstGeom>
          <a:solidFill>
            <a:srgbClr val="2F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Gear 6 14"/>
          <p:cNvSpPr/>
          <p:nvPr/>
        </p:nvSpPr>
        <p:spPr>
          <a:xfrm>
            <a:off x="4005072" y="2560320"/>
            <a:ext cx="1371600" cy="1371600"/>
          </a:xfrm>
          <a:prstGeom prst="gear6">
            <a:avLst/>
          </a:prstGeom>
          <a:solidFill>
            <a:srgbClr val="2F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01568" y="4251960"/>
            <a:ext cx="25786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17212B"/>
                </a:solidFill>
                <a:latin typeface="Aptos Display"/>
              </a:rPr>
              <a:t>Standard eval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8" y="4754880"/>
            <a:ext cx="202996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>
                <a:solidFill>
                  <a:srgbClr val="5A6675"/>
                </a:solidFill>
                <a:latin typeface="Aptos"/>
              </a:rPr>
              <a:t>Scoring is code, not prose.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8776" y="1920240"/>
            <a:ext cx="2578608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08776" y="1920240"/>
            <a:ext cx="2578608" cy="73152"/>
          </a:xfrm>
          <a:prstGeom prst="rect">
            <a:avLst/>
          </a:prstGeom>
          <a:solidFill>
            <a:srgbClr val="C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ight Arrow 19"/>
          <p:cNvSpPr/>
          <p:nvPr/>
        </p:nvSpPr>
        <p:spPr>
          <a:xfrm>
            <a:off x="6812280" y="2560320"/>
            <a:ext cx="1371600" cy="1371600"/>
          </a:xfrm>
          <a:prstGeom prst="rightArrow">
            <a:avLst/>
          </a:prstGeom>
          <a:solidFill>
            <a:srgbClr val="C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08776" y="4251960"/>
            <a:ext cx="25786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17212B"/>
                </a:solidFill>
                <a:latin typeface="Aptos Display"/>
              </a:rPr>
              <a:t>Open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3096" y="4754880"/>
            <a:ext cx="202996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>
                <a:solidFill>
                  <a:srgbClr val="5A6675"/>
                </a:solidFill>
                <a:latin typeface="Aptos"/>
              </a:rPr>
              <a:t>Low cost of entry.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15984" y="1920240"/>
            <a:ext cx="2578608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15984" y="1920240"/>
            <a:ext cx="2578608" cy="73152"/>
          </a:xfrm>
          <a:prstGeom prst="rect">
            <a:avLst/>
          </a:prstGeom>
          <a:solidFill>
            <a:srgbClr val="C84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5-Point Star 24"/>
          <p:cNvSpPr/>
          <p:nvPr/>
        </p:nvSpPr>
        <p:spPr>
          <a:xfrm>
            <a:off x="9619488" y="2560320"/>
            <a:ext cx="1371600" cy="1371600"/>
          </a:xfrm>
          <a:prstGeom prst="star5">
            <a:avLst/>
          </a:prstGeom>
          <a:solidFill>
            <a:srgbClr val="C84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15984" y="4251960"/>
            <a:ext cx="257860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17212B"/>
                </a:solidFill>
                <a:latin typeface="Aptos Display"/>
              </a:rPr>
              <a:t>Community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0304" y="4754880"/>
            <a:ext cx="202996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0" i="0">
                <a:solidFill>
                  <a:srgbClr val="5A6675"/>
                </a:solidFill>
                <a:latin typeface="Aptos"/>
              </a:rPr>
              <a:t>Lives across years.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234440" y="2103120"/>
            <a:ext cx="2651760" cy="2651760"/>
          </a:xfrm>
          <a:prstGeom prst="ellipse">
            <a:avLst/>
          </a:prstGeom>
          <a:solidFill>
            <a:srgbClr val="174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Gear 6 3"/>
          <p:cNvSpPr/>
          <p:nvPr/>
        </p:nvSpPr>
        <p:spPr>
          <a:xfrm>
            <a:off x="1783080" y="2651760"/>
            <a:ext cx="1554480" cy="1554480"/>
          </a:xfrm>
          <a:prstGeom prst="gear6">
            <a:avLst/>
          </a:prstGeom>
          <a:solidFill>
            <a:srgbClr val="CF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754880" y="2423160"/>
            <a:ext cx="68580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FE3F3"/>
                </a:solidFill>
                <a:latin typeface="Aptos"/>
              </a:rPr>
              <a:t>SECTION 3  —  WHAT OUR FIELD NEEDS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834640"/>
            <a:ext cx="68580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Aptos Display"/>
              </a:rPr>
              <a:t>What engineering design ML
still lacks.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4754880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EAF3FA"/>
                </a:solidFill>
                <a:latin typeface="Aptos"/>
              </a:rPr>
              <a:t>The gap is not theory or talent. It is shared, executable infrastructure.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2336" y="6419088"/>
            <a:ext cx="4005072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>
                <a:solidFill>
                  <a:srgbClr val="5A6675"/>
                </a:solidFill>
                <a:latin typeface="Aptos"/>
              </a:rPr>
              <a:t>What the field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8975" y="6419088"/>
            <a:ext cx="3712463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0" i="0">
                <a:solidFill>
                  <a:srgbClr val="5A6675"/>
                </a:solidFill>
                <a:latin typeface="Aptos"/>
              </a:rPr>
              <a:t>DCC 2026 workshop  |  EngiBench + EngiOpt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25E9B"/>
                </a:solidFill>
                <a:latin typeface="Aptos"/>
              </a:rPr>
              <a:t>FIVE MISSING PIECES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315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7212B"/>
                </a:solidFill>
                <a:latin typeface="Aptos Display"/>
              </a:rPr>
              <a:t>Engineering design ML lacks shared infrastructure.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A6675"/>
                </a:solidFill>
                <a:latin typeface="Aptos"/>
              </a:rPr>
              <a:t>Each can be rebuilt — but no one should have to. That is the gap.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23160"/>
            <a:ext cx="2068372" cy="347472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Hexagon 9"/>
          <p:cNvSpPr/>
          <p:nvPr/>
        </p:nvSpPr>
        <p:spPr>
          <a:xfrm>
            <a:off x="942746" y="2834640"/>
            <a:ext cx="1371600" cy="1371600"/>
          </a:xfrm>
          <a:prstGeom prst="hexagon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399946" y="4526280"/>
            <a:ext cx="457200" cy="36576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4754880"/>
            <a:ext cx="20683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7212B"/>
                </a:solidFill>
                <a:latin typeface="Aptos"/>
              </a:rPr>
              <a:t>Standard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120639"/>
            <a:ext cx="20683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7212B"/>
                </a:solidFill>
                <a:latin typeface="Aptos"/>
              </a:rPr>
              <a:t>problems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27324" y="2423160"/>
            <a:ext cx="2068372" cy="347472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Gear 6 14"/>
          <p:cNvSpPr/>
          <p:nvPr/>
        </p:nvSpPr>
        <p:spPr>
          <a:xfrm>
            <a:off x="3175711" y="2834640"/>
            <a:ext cx="1371600" cy="1371600"/>
          </a:xfrm>
          <a:prstGeom prst="gear6">
            <a:avLst/>
          </a:prstGeom>
          <a:solidFill>
            <a:srgbClr val="2F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32911" y="4526280"/>
            <a:ext cx="457200" cy="36576"/>
          </a:xfrm>
          <a:prstGeom prst="rect">
            <a:avLst/>
          </a:prstGeom>
          <a:solidFill>
            <a:srgbClr val="2F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27324" y="4754880"/>
            <a:ext cx="20683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7212B"/>
                </a:solidFill>
                <a:latin typeface="Aptos"/>
              </a:rPr>
              <a:t>Shared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27324" y="5120639"/>
            <a:ext cx="20683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7212B"/>
                </a:solidFill>
                <a:latin typeface="Aptos"/>
              </a:rPr>
              <a:t>simulators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60289" y="2423160"/>
            <a:ext cx="2068372" cy="347472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Folded Corner 19"/>
          <p:cNvSpPr/>
          <p:nvPr/>
        </p:nvSpPr>
        <p:spPr>
          <a:xfrm>
            <a:off x="5408676" y="2834640"/>
            <a:ext cx="1371600" cy="1371600"/>
          </a:xfrm>
          <a:prstGeom prst="foldedCorner">
            <a:avLst/>
          </a:prstGeom>
          <a:solidFill>
            <a:srgbClr val="C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65876" y="4526280"/>
            <a:ext cx="457200" cy="36576"/>
          </a:xfrm>
          <a:prstGeom prst="rect">
            <a:avLst/>
          </a:prstGeom>
          <a:solidFill>
            <a:srgbClr val="C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60289" y="4754880"/>
            <a:ext cx="20683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7212B"/>
                </a:solidFill>
                <a:latin typeface="Aptos"/>
              </a:rPr>
              <a:t>Curated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60289" y="5120639"/>
            <a:ext cx="20683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7212B"/>
                </a:solidFill>
                <a:latin typeface="Aptos"/>
              </a:rPr>
              <a:t>datasets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93254" y="2423160"/>
            <a:ext cx="2068372" cy="347472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5-Point Star 24"/>
          <p:cNvSpPr/>
          <p:nvPr/>
        </p:nvSpPr>
        <p:spPr>
          <a:xfrm>
            <a:off x="7641640" y="2834640"/>
            <a:ext cx="1371600" cy="1371600"/>
          </a:xfrm>
          <a:prstGeom prst="star5">
            <a:avLst/>
          </a:prstGeom>
          <a:solidFill>
            <a:srgbClr val="C84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98840" y="4526280"/>
            <a:ext cx="457200" cy="36576"/>
          </a:xfrm>
          <a:prstGeom prst="rect">
            <a:avLst/>
          </a:prstGeom>
          <a:solidFill>
            <a:srgbClr val="C84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93254" y="4754880"/>
            <a:ext cx="20683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7212B"/>
                </a:solidFill>
                <a:latin typeface="Aptos"/>
              </a:rPr>
              <a:t>Multi-faceted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93254" y="5120639"/>
            <a:ext cx="20683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7212B"/>
                </a:solidFill>
                <a:latin typeface="Aptos"/>
              </a:rPr>
              <a:t>metrics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26219" y="2423160"/>
            <a:ext cx="2068372" cy="347472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ight Arrow 29"/>
          <p:cNvSpPr/>
          <p:nvPr/>
        </p:nvSpPr>
        <p:spPr>
          <a:xfrm>
            <a:off x="9874605" y="2834640"/>
            <a:ext cx="1371600" cy="1371600"/>
          </a:xfrm>
          <a:prstGeom prst="rightArrow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331805" y="4526280"/>
            <a:ext cx="457200" cy="36576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526219" y="4754880"/>
            <a:ext cx="20683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7212B"/>
                </a:solidFill>
                <a:latin typeface="Aptos"/>
              </a:rPr>
              <a:t>Reproducible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26219" y="5120639"/>
            <a:ext cx="20683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7212B"/>
                </a:solidFill>
                <a:latin typeface="Aptos"/>
              </a:rPr>
              <a:t>runners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2336" y="6419088"/>
            <a:ext cx="4005072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>
                <a:solidFill>
                  <a:srgbClr val="5A6675"/>
                </a:solidFill>
                <a:latin typeface="Aptos"/>
              </a:rPr>
              <a:t>What the field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8975" y="6419088"/>
            <a:ext cx="3712463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0" i="0">
                <a:solidFill>
                  <a:srgbClr val="5A6675"/>
                </a:solidFill>
                <a:latin typeface="Aptos"/>
              </a:rPr>
              <a:t>DCC 2026 workshop  |  EngiBench + EngiOpt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25E9B"/>
                </a:solidFill>
                <a:latin typeface="Aptos"/>
              </a:rPr>
              <a:t>EVALUATION, PROPERLY SCOPED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3152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7212B"/>
                </a:solidFill>
                <a:latin typeface="Aptos Display"/>
              </a:rPr>
              <a:t>Engineering quality has many axes. One scalar will betray you.</a:t>
            </a:r>
          </a:p>
        </p:txBody>
      </p:sp>
      <p:sp>
        <p:nvSpPr>
          <p:cNvPr id="8" name="Oval 7"/>
          <p:cNvSpPr/>
          <p:nvPr/>
        </p:nvSpPr>
        <p:spPr>
          <a:xfrm>
            <a:off x="3185160" y="3505200"/>
            <a:ext cx="1310640" cy="1310640"/>
          </a:xfrm>
          <a:prstGeom prst="ellipse">
            <a:avLst/>
          </a:prstGeom>
          <a:noFill/>
          <a:ln w="9525">
            <a:solidFill>
              <a:srgbClr val="C8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529840" y="2849880"/>
            <a:ext cx="2621280" cy="2621280"/>
          </a:xfrm>
          <a:prstGeom prst="ellipse">
            <a:avLst/>
          </a:prstGeom>
          <a:noFill/>
          <a:ln w="9525">
            <a:solidFill>
              <a:srgbClr val="C8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874520" y="2194560"/>
            <a:ext cx="3931920" cy="3931920"/>
          </a:xfrm>
          <a:prstGeom prst="ellipse">
            <a:avLst/>
          </a:prstGeom>
          <a:noFill/>
          <a:ln w="9525">
            <a:solidFill>
              <a:srgbClr val="C8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 flipV="1">
            <a:off x="3840480" y="2194560"/>
            <a:ext cx="0" cy="1965960"/>
          </a:xfrm>
          <a:prstGeom prst="line">
            <a:avLst/>
          </a:prstGeom>
          <a:ln w="9525">
            <a:solidFill>
              <a:srgbClr val="C8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651760" y="162306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17212B"/>
                </a:solidFill>
                <a:latin typeface="Aptos"/>
              </a:rPr>
              <a:t>Feasibility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3840480" y="3553004"/>
            <a:ext cx="1869739" cy="607516"/>
          </a:xfrm>
          <a:prstGeom prst="line">
            <a:avLst/>
          </a:prstGeom>
          <a:ln w="9525">
            <a:solidFill>
              <a:srgbClr val="C8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912839" y="326583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17212B"/>
                </a:solidFill>
                <a:latin typeface="Aptos"/>
              </a:rPr>
              <a:t>Performance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40480" y="4160520"/>
            <a:ext cx="1155562" cy="1590495"/>
          </a:xfrm>
          <a:prstGeom prst="line">
            <a:avLst/>
          </a:prstGeom>
          <a:ln w="9525">
            <a:solidFill>
              <a:srgbClr val="C8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049184" y="5923889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17212B"/>
                </a:solidFill>
                <a:latin typeface="Aptos"/>
              </a:rPr>
              <a:t>Diversity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2684917" y="4160520"/>
            <a:ext cx="1155563" cy="1590495"/>
          </a:xfrm>
          <a:prstGeom prst="line">
            <a:avLst/>
          </a:prstGeom>
          <a:ln w="9525">
            <a:solidFill>
              <a:srgbClr val="C8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254335" y="5923889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17212B"/>
                </a:solidFill>
                <a:latin typeface="Aptos"/>
              </a:rPr>
              <a:t>Novelty</a:t>
            </a: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1970740" y="3553004"/>
            <a:ext cx="1869740" cy="607516"/>
          </a:xfrm>
          <a:prstGeom prst="line">
            <a:avLst/>
          </a:prstGeom>
          <a:ln w="9525">
            <a:solidFill>
              <a:srgbClr val="C8C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90680" y="326583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50" b="1" i="0">
                <a:solidFill>
                  <a:srgbClr val="17212B"/>
                </a:solidFill>
                <a:latin typeface="Aptos"/>
              </a:rPr>
              <a:t>Warm-start</a:t>
            </a:r>
          </a:p>
        </p:txBody>
      </p:sp>
      <p:sp>
        <p:nvSpPr>
          <p:cNvPr id="9999" name="Polygon"/>
          <p:cNvSpPr/>
          <p:nvPr/>
        </p:nvSpPr>
        <p:spPr>
          <a:xfrm>
            <a:off x="2344688" y="2489454"/>
            <a:ext cx="2711122" cy="2863937"/>
          </a:xfrm>
          <a:custGeom>
            <a:avLst/>
            <a:gdLst/>
            <a:ahLst/>
            <a:cxnLst/>
            <a:rect l="0" t="0" r="r" b="b"/>
            <a:pathLst>
              <a:path w="2711122" h="2863937">
                <a:moveTo>
                  <a:pt x="1495792" y="0"/>
                </a:moveTo>
                <a:lnTo>
                  <a:pt x="2711122" y="1276181"/>
                </a:lnTo>
                <a:lnTo>
                  <a:pt x="2362463" y="2863937"/>
                </a:lnTo>
                <a:lnTo>
                  <a:pt x="860232" y="2545838"/>
                </a:lnTo>
                <a:lnTo>
                  <a:pt x="0" y="1185053"/>
                </a:lnTo>
                <a:close/>
              </a:path>
            </a:pathLst>
          </a:custGeom>
          <a:solidFill>
            <a:srgbClr val="D7E8F6"/>
          </a:solidFill>
          <a:ln w="25400">
            <a:solidFill>
              <a:srgbClr val="225E9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000" name="Rectangle 9999"/>
          <p:cNvSpPr/>
          <p:nvPr/>
        </p:nvSpPr>
        <p:spPr>
          <a:xfrm>
            <a:off x="7315200" y="2194560"/>
            <a:ext cx="128016" cy="59436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01" name="TextBox 10000"/>
          <p:cNvSpPr txBox="1"/>
          <p:nvPr/>
        </p:nvSpPr>
        <p:spPr>
          <a:xfrm>
            <a:off x="7589520" y="2231136"/>
            <a:ext cx="4069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7212B"/>
                </a:solidFill>
                <a:latin typeface="Aptos"/>
              </a:rPr>
              <a:t>Feasibility</a:t>
            </a:r>
          </a:p>
        </p:txBody>
      </p:sp>
      <p:sp>
        <p:nvSpPr>
          <p:cNvPr id="10002" name="TextBox 10001"/>
          <p:cNvSpPr txBox="1"/>
          <p:nvPr/>
        </p:nvSpPr>
        <p:spPr>
          <a:xfrm>
            <a:off x="7589520" y="2523744"/>
            <a:ext cx="4069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A6675"/>
                </a:solidFill>
                <a:latin typeface="Aptos"/>
              </a:rPr>
              <a:t>Constraints actually satisfied.</a:t>
            </a:r>
          </a:p>
        </p:txBody>
      </p:sp>
      <p:sp>
        <p:nvSpPr>
          <p:cNvPr id="10003" name="Rectangle 10002"/>
          <p:cNvSpPr/>
          <p:nvPr/>
        </p:nvSpPr>
        <p:spPr>
          <a:xfrm>
            <a:off x="7315200" y="2971800"/>
            <a:ext cx="128016" cy="594360"/>
          </a:xfrm>
          <a:prstGeom prst="rect">
            <a:avLst/>
          </a:prstGeom>
          <a:solidFill>
            <a:srgbClr val="2F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04" name="TextBox 10003"/>
          <p:cNvSpPr txBox="1"/>
          <p:nvPr/>
        </p:nvSpPr>
        <p:spPr>
          <a:xfrm>
            <a:off x="7589520" y="3008376"/>
            <a:ext cx="4069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7212B"/>
                </a:solidFill>
                <a:latin typeface="Aptos"/>
              </a:rPr>
              <a:t>Performance</a:t>
            </a:r>
          </a:p>
        </p:txBody>
      </p:sp>
      <p:sp>
        <p:nvSpPr>
          <p:cNvPr id="10005" name="TextBox 10004"/>
          <p:cNvSpPr txBox="1"/>
          <p:nvPr/>
        </p:nvSpPr>
        <p:spPr>
          <a:xfrm>
            <a:off x="7589520" y="3300984"/>
            <a:ext cx="4069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A6675"/>
                </a:solidFill>
                <a:latin typeface="Aptos"/>
              </a:rPr>
              <a:t>Sim score vs. optimizer baseline.</a:t>
            </a:r>
          </a:p>
        </p:txBody>
      </p:sp>
      <p:sp>
        <p:nvSpPr>
          <p:cNvPr id="10006" name="Rectangle 10005"/>
          <p:cNvSpPr/>
          <p:nvPr/>
        </p:nvSpPr>
        <p:spPr>
          <a:xfrm>
            <a:off x="7315200" y="3749040"/>
            <a:ext cx="128016" cy="594360"/>
          </a:xfrm>
          <a:prstGeom prst="rect">
            <a:avLst/>
          </a:prstGeom>
          <a:solidFill>
            <a:srgbClr val="C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07" name="TextBox 10006"/>
          <p:cNvSpPr txBox="1"/>
          <p:nvPr/>
        </p:nvSpPr>
        <p:spPr>
          <a:xfrm>
            <a:off x="7589520" y="3785616"/>
            <a:ext cx="4069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7212B"/>
                </a:solidFill>
                <a:latin typeface="Aptos"/>
              </a:rPr>
              <a:t>Diversity</a:t>
            </a:r>
          </a:p>
        </p:txBody>
      </p:sp>
      <p:sp>
        <p:nvSpPr>
          <p:cNvPr id="10008" name="TextBox 10007"/>
          <p:cNvSpPr txBox="1"/>
          <p:nvPr/>
        </p:nvSpPr>
        <p:spPr>
          <a:xfrm>
            <a:off x="7589520" y="4078224"/>
            <a:ext cx="4069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A6675"/>
                </a:solidFill>
                <a:latin typeface="Aptos"/>
              </a:rPr>
              <a:t>Modes covered, not collapsed.</a:t>
            </a:r>
          </a:p>
        </p:txBody>
      </p:sp>
      <p:sp>
        <p:nvSpPr>
          <p:cNvPr id="10009" name="Rectangle 10008"/>
          <p:cNvSpPr/>
          <p:nvPr/>
        </p:nvSpPr>
        <p:spPr>
          <a:xfrm>
            <a:off x="7315200" y="4526280"/>
            <a:ext cx="128016" cy="594360"/>
          </a:xfrm>
          <a:prstGeom prst="rect">
            <a:avLst/>
          </a:prstGeom>
          <a:solidFill>
            <a:srgbClr val="C84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10" name="TextBox 10009"/>
          <p:cNvSpPr txBox="1"/>
          <p:nvPr/>
        </p:nvSpPr>
        <p:spPr>
          <a:xfrm>
            <a:off x="7589520" y="4562856"/>
            <a:ext cx="4069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7212B"/>
                </a:solidFill>
                <a:latin typeface="Aptos"/>
              </a:rPr>
              <a:t>Novelty</a:t>
            </a:r>
          </a:p>
        </p:txBody>
      </p:sp>
      <p:sp>
        <p:nvSpPr>
          <p:cNvPr id="10011" name="TextBox 10010"/>
          <p:cNvSpPr txBox="1"/>
          <p:nvPr/>
        </p:nvSpPr>
        <p:spPr>
          <a:xfrm>
            <a:off x="7589520" y="4855464"/>
            <a:ext cx="4069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A6675"/>
                </a:solidFill>
                <a:latin typeface="Aptos"/>
              </a:rPr>
              <a:t>New designs, not paraphrases.</a:t>
            </a:r>
          </a:p>
        </p:txBody>
      </p:sp>
      <p:sp>
        <p:nvSpPr>
          <p:cNvPr id="10012" name="Rectangle 10011"/>
          <p:cNvSpPr/>
          <p:nvPr/>
        </p:nvSpPr>
        <p:spPr>
          <a:xfrm>
            <a:off x="7315200" y="5303520"/>
            <a:ext cx="128016" cy="59436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13" name="TextBox 10012"/>
          <p:cNvSpPr txBox="1"/>
          <p:nvPr/>
        </p:nvSpPr>
        <p:spPr>
          <a:xfrm>
            <a:off x="7589520" y="5340096"/>
            <a:ext cx="4069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7212B"/>
                </a:solidFill>
                <a:latin typeface="Aptos"/>
              </a:rPr>
              <a:t>Warm-start</a:t>
            </a:r>
          </a:p>
        </p:txBody>
      </p:sp>
      <p:sp>
        <p:nvSpPr>
          <p:cNvPr id="10014" name="TextBox 10013"/>
          <p:cNvSpPr txBox="1"/>
          <p:nvPr/>
        </p:nvSpPr>
        <p:spPr>
          <a:xfrm>
            <a:off x="7589520" y="5632704"/>
            <a:ext cx="4069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A6675"/>
                </a:solidFill>
                <a:latin typeface="Aptos"/>
              </a:rPr>
              <a:t>Does it help downstream search?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2336" y="6419088"/>
            <a:ext cx="4005072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>
                <a:solidFill>
                  <a:srgbClr val="5A6675"/>
                </a:solidFill>
                <a:latin typeface="Aptos"/>
              </a:rPr>
              <a:t>What the field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8975" y="6419088"/>
            <a:ext cx="3712463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0" i="0">
                <a:solidFill>
                  <a:srgbClr val="5A6675"/>
                </a:solidFill>
                <a:latin typeface="Aptos"/>
              </a:rPr>
              <a:t>DCC 2026 workshop  |  EngiBench + EngiOpt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25E9B"/>
                </a:solidFill>
                <a:latin typeface="Aptos"/>
              </a:rPr>
              <a:t>DATASETS ALONE DO NOT BENCHMARK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315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7212B"/>
                </a:solidFill>
                <a:latin typeface="Aptos Display"/>
              </a:rPr>
              <a:t>Releasing the dataset is necessary, but not enough.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94560"/>
            <a:ext cx="5212080" cy="347472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C84837"/>
                </a:solidFill>
                <a:latin typeface="Aptos"/>
              </a:rPr>
              <a:t>DATASET ONLY</a:t>
            </a:r>
          </a:p>
        </p:txBody>
      </p:sp>
      <p:sp>
        <p:nvSpPr>
          <p:cNvPr id="10" name="Folded Corner 9"/>
          <p:cNvSpPr/>
          <p:nvPr/>
        </p:nvSpPr>
        <p:spPr>
          <a:xfrm>
            <a:off x="2651760" y="2788920"/>
            <a:ext cx="1463040" cy="1828800"/>
          </a:xfrm>
          <a:prstGeom prst="foldedCorner">
            <a:avLst/>
          </a:prstGeom>
          <a:solidFill>
            <a:srgbClr val="FFFFFF"/>
          </a:solidFill>
          <a:ln w="19050">
            <a:solidFill>
              <a:srgbClr val="C848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16352" y="3063240"/>
            <a:ext cx="793699" cy="54864"/>
          </a:xfrm>
          <a:prstGeom prst="rect">
            <a:avLst/>
          </a:prstGeom>
          <a:solidFill>
            <a:srgbClr val="C8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16352" y="3209544"/>
            <a:ext cx="963777" cy="54864"/>
          </a:xfrm>
          <a:prstGeom prst="rect">
            <a:avLst/>
          </a:prstGeom>
          <a:solidFill>
            <a:srgbClr val="C8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16352" y="3355848"/>
            <a:ext cx="623620" cy="54864"/>
          </a:xfrm>
          <a:prstGeom prst="rect">
            <a:avLst/>
          </a:prstGeom>
          <a:solidFill>
            <a:srgbClr val="C8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816352" y="3502152"/>
            <a:ext cx="884407" cy="54864"/>
          </a:xfrm>
          <a:prstGeom prst="rect">
            <a:avLst/>
          </a:prstGeom>
          <a:solidFill>
            <a:srgbClr val="C8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&quot;No&quot; Symbol 14"/>
          <p:cNvSpPr/>
          <p:nvPr/>
        </p:nvSpPr>
        <p:spPr>
          <a:xfrm>
            <a:off x="2926080" y="3063240"/>
            <a:ext cx="914400" cy="1280160"/>
          </a:xfrm>
          <a:prstGeom prst="noSmoking">
            <a:avLst/>
          </a:prstGeom>
          <a:solidFill>
            <a:srgbClr val="C84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4846320"/>
            <a:ext cx="4297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7212B"/>
                </a:solidFill>
                <a:latin typeface="Aptos"/>
              </a:rPr>
              <a:t>Designs can be displayed.
They cannot be scored.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9464" y="3337560"/>
            <a:ext cx="9144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i="0" dirty="0">
                <a:solidFill>
                  <a:srgbClr val="5A6675"/>
                </a:solidFill>
                <a:latin typeface="Aptos Display"/>
              </a:rPr>
              <a:t>vs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2375" y="2194560"/>
            <a:ext cx="5212080" cy="347472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02375" y="228600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2F7D62"/>
                </a:solidFill>
                <a:latin typeface="Aptos"/>
              </a:rPr>
              <a:t>DATASET  +  SIMULATOR  +  SCORING</a:t>
            </a:r>
          </a:p>
        </p:txBody>
      </p:sp>
      <p:sp>
        <p:nvSpPr>
          <p:cNvPr id="20" name="Folded Corner 19"/>
          <p:cNvSpPr/>
          <p:nvPr/>
        </p:nvSpPr>
        <p:spPr>
          <a:xfrm>
            <a:off x="7025335" y="2880360"/>
            <a:ext cx="1005840" cy="1280160"/>
          </a:xfrm>
          <a:prstGeom prst="foldedCorner">
            <a:avLst/>
          </a:prstGeom>
          <a:solidFill>
            <a:srgbClr val="FFFFFF"/>
          </a:solidFill>
          <a:ln w="19050">
            <a:solidFill>
              <a:srgbClr val="2F7D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89927" y="3154680"/>
            <a:ext cx="473659" cy="54864"/>
          </a:xfrm>
          <a:prstGeom prst="rect">
            <a:avLst/>
          </a:prstGeom>
          <a:solidFill>
            <a:srgbClr val="C8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189927" y="3300984"/>
            <a:ext cx="575157" cy="54864"/>
          </a:xfrm>
          <a:prstGeom prst="rect">
            <a:avLst/>
          </a:prstGeom>
          <a:solidFill>
            <a:srgbClr val="C8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189927" y="3447288"/>
            <a:ext cx="372160" cy="54864"/>
          </a:xfrm>
          <a:prstGeom prst="rect">
            <a:avLst/>
          </a:prstGeom>
          <a:solidFill>
            <a:srgbClr val="C8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189927" y="3593592"/>
            <a:ext cx="527791" cy="54864"/>
          </a:xfrm>
          <a:prstGeom prst="rect">
            <a:avLst/>
          </a:prstGeom>
          <a:solidFill>
            <a:srgbClr val="C8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Gear 6 24"/>
          <p:cNvSpPr/>
          <p:nvPr/>
        </p:nvSpPr>
        <p:spPr>
          <a:xfrm>
            <a:off x="8305495" y="2971800"/>
            <a:ext cx="1005840" cy="1005840"/>
          </a:xfrm>
          <a:prstGeom prst="gear6">
            <a:avLst/>
          </a:prstGeom>
          <a:solidFill>
            <a:srgbClr val="2F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5-Point Star 25"/>
          <p:cNvSpPr/>
          <p:nvPr/>
        </p:nvSpPr>
        <p:spPr>
          <a:xfrm>
            <a:off x="9585655" y="2971800"/>
            <a:ext cx="1005840" cy="1005840"/>
          </a:xfrm>
          <a:prstGeom prst="star5">
            <a:avLst/>
          </a:prstGeom>
          <a:solidFill>
            <a:srgbClr val="2F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25335" y="425196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5A6675"/>
                </a:solidFill>
                <a:latin typeface="Aptos"/>
              </a:rPr>
              <a:t>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5495" y="425196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5A6675"/>
                </a:solidFill>
                <a:latin typeface="Aptos"/>
              </a:rPr>
              <a:t>simulate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85655" y="425196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0">
                <a:solidFill>
                  <a:srgbClr val="5A6675"/>
                </a:solidFill>
                <a:latin typeface="Aptos"/>
              </a:rPr>
              <a:t>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9575" y="4846320"/>
            <a:ext cx="4297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7212B"/>
                </a:solidFill>
                <a:latin typeface="Aptos"/>
              </a:rPr>
              <a:t>The verdict is portable.
Numbers travel across labs.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234440" y="2103120"/>
            <a:ext cx="2651760" cy="2651760"/>
          </a:xfrm>
          <a:prstGeom prst="ellipse">
            <a:avLst/>
          </a:prstGeom>
          <a:solidFill>
            <a:srgbClr val="1742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Can 3"/>
          <p:cNvSpPr/>
          <p:nvPr/>
        </p:nvSpPr>
        <p:spPr>
          <a:xfrm>
            <a:off x="1783080" y="2651760"/>
            <a:ext cx="1554480" cy="1554480"/>
          </a:xfrm>
          <a:prstGeom prst="can">
            <a:avLst/>
          </a:prstGeom>
          <a:solidFill>
            <a:srgbClr val="CFE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754880" y="2423160"/>
            <a:ext cx="68580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CFE3F3"/>
                </a:solidFill>
                <a:latin typeface="Aptos"/>
              </a:rPr>
              <a:t>WHY WE BUILT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834640"/>
            <a:ext cx="68580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Aptos Display"/>
              </a:rPr>
              <a:t>Enter EngiBench.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4754880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EAF3FA"/>
                </a:solidFill>
                <a:latin typeface="Aptos"/>
              </a:rPr>
              <a:t>A standardized framework for benchmarking generative AI in engineering design  —  NeurIPS 2025.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2336" y="6419088"/>
            <a:ext cx="4005072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>
                <a:solidFill>
                  <a:srgbClr val="5A6675"/>
                </a:solidFill>
                <a:latin typeface="Aptos"/>
              </a:rPr>
              <a:t>EngiBench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8975" y="6419088"/>
            <a:ext cx="3712463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0" i="0">
                <a:solidFill>
                  <a:srgbClr val="5A6675"/>
                </a:solidFill>
                <a:latin typeface="Aptos"/>
              </a:rPr>
              <a:t>DCC 2026 workshop  |  EngiBench + EngiOpt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25E9B"/>
                </a:solidFill>
                <a:latin typeface="Aptos"/>
              </a:rPr>
              <a:t>THE DESIGN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315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7212B"/>
                </a:solidFill>
                <a:latin typeface="Aptos Display"/>
              </a:rPr>
              <a:t>Each problem is a "paper in a can".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A6675"/>
                </a:solidFill>
                <a:latin typeface="Aptos"/>
              </a:rPr>
              <a:t>Eight ingredients, one Python interface, ready to compare across labs.</a:t>
            </a:r>
          </a:p>
        </p:txBody>
      </p:sp>
      <p:sp>
        <p:nvSpPr>
          <p:cNvPr id="9" name="Can 8"/>
          <p:cNvSpPr/>
          <p:nvPr/>
        </p:nvSpPr>
        <p:spPr>
          <a:xfrm>
            <a:off x="4905756" y="2651760"/>
            <a:ext cx="2377440" cy="2743200"/>
          </a:xfrm>
          <a:prstGeom prst="can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05756" y="37033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tos Display"/>
              </a:rPr>
              <a:t>engibench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5756" y="40690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CFE3F3"/>
                </a:solidFill>
                <a:latin typeface="Aptos"/>
              </a:rPr>
              <a:t>problem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48656" y="1600200"/>
            <a:ext cx="1691640" cy="457200"/>
          </a:xfrm>
          <a:prstGeom prst="round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Design space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10863" y="2242971"/>
            <a:ext cx="1691640" cy="457200"/>
          </a:xfrm>
          <a:prstGeom prst="roundRect">
            <a:avLst/>
          </a:prstGeom>
          <a:solidFill>
            <a:srgbClr val="2F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Conditions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03536" y="3794760"/>
            <a:ext cx="1691640" cy="457200"/>
          </a:xfrm>
          <a:prstGeom prst="roundRect">
            <a:avLst/>
          </a:prstGeom>
          <a:solidFill>
            <a:srgbClr val="C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Objectives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10863" y="5346548"/>
            <a:ext cx="1691640" cy="457200"/>
          </a:xfrm>
          <a:prstGeom prst="roundRect">
            <a:avLst/>
          </a:prstGeom>
          <a:solidFill>
            <a:srgbClr val="C84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Constraints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48656" y="5989320"/>
            <a:ext cx="1691640" cy="457200"/>
          </a:xfrm>
          <a:prstGeom prst="round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Dataset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86448" y="5346548"/>
            <a:ext cx="1691640" cy="457200"/>
          </a:xfrm>
          <a:prstGeom prst="roundRect">
            <a:avLst/>
          </a:prstGeom>
          <a:solidFill>
            <a:srgbClr val="2F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Render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" y="3794760"/>
            <a:ext cx="1691640" cy="457200"/>
          </a:xfrm>
          <a:prstGeom prst="roundRect">
            <a:avLst/>
          </a:prstGeom>
          <a:solidFill>
            <a:srgbClr val="C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Simulate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86448" y="2242971"/>
            <a:ext cx="1691640" cy="457200"/>
          </a:xfrm>
          <a:prstGeom prst="roundRect">
            <a:avLst/>
          </a:prstGeom>
          <a:solidFill>
            <a:srgbClr val="C84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Optimize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2336" y="6419088"/>
            <a:ext cx="4005072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>
                <a:solidFill>
                  <a:srgbClr val="5A6675"/>
                </a:solidFill>
                <a:latin typeface="Aptos"/>
              </a:rPr>
              <a:t>EngiBench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8975" y="6419088"/>
            <a:ext cx="3712463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0" i="0">
                <a:solidFill>
                  <a:srgbClr val="5A6675"/>
                </a:solidFill>
                <a:latin typeface="Aptos"/>
              </a:rPr>
              <a:t>DCC 2026 workshop  |  EngiBench + EngiOpt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25E9B"/>
                </a:solidFill>
                <a:latin typeface="Aptos"/>
              </a:rPr>
              <a:t>COVERAGE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315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17212B"/>
                </a:solidFill>
                <a:latin typeface="Aptos Display"/>
              </a:rPr>
              <a:t>Structural, thermal, aerodynamic, photonic, electronic.</a:t>
            </a:r>
          </a:p>
        </p:txBody>
      </p:sp>
      <p:pic>
        <p:nvPicPr>
          <p:cNvPr id="8" name="Picture 7" descr="engibench_proble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59" y="2514599"/>
            <a:ext cx="11347704" cy="225812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080760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1">
                <a:solidFill>
                  <a:srgbClr val="5A6675"/>
                </a:solidFill>
                <a:latin typeface="Aptos"/>
              </a:rPr>
              <a:t>Each comes with a dataset, a simulator, and a baseline optimizer.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65176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2336" y="6419088"/>
            <a:ext cx="4005072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>
                <a:solidFill>
                  <a:srgbClr val="5A6675"/>
                </a:solidFill>
                <a:latin typeface="Aptos"/>
              </a:rPr>
              <a:t>EngiBench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8975" y="6419088"/>
            <a:ext cx="3712463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0" i="0">
                <a:solidFill>
                  <a:srgbClr val="5A6675"/>
                </a:solidFill>
                <a:latin typeface="Aptos"/>
              </a:rPr>
              <a:t>DCC 2026 workshop  |  EngiBench + EngiOpt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25E9B"/>
                </a:solidFill>
                <a:latin typeface="Aptos"/>
              </a:rPr>
              <a:t>THE CONTRACT, IN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315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17212B"/>
                </a:solidFill>
                <a:latin typeface="Aptos Display"/>
              </a:rPr>
              <a:t>Design-problem questions become Python calls.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7178040" cy="4114800"/>
          </a:xfrm>
          <a:prstGeom prst="rect">
            <a:avLst/>
          </a:prstGeom>
          <a:solidFill>
            <a:srgbClr val="172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22960" y="2057399"/>
            <a:ext cx="164592" cy="164592"/>
          </a:xfrm>
          <a:prstGeom prst="ellipse">
            <a:avLst/>
          </a:prstGeom>
          <a:solidFill>
            <a:srgbClr val="C84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97280" y="2057399"/>
            <a:ext cx="164592" cy="164592"/>
          </a:xfrm>
          <a:prstGeom prst="ellipse">
            <a:avLst/>
          </a:prstGeom>
          <a:solidFill>
            <a:srgbClr val="C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371600" y="2057399"/>
            <a:ext cx="164592" cy="164592"/>
          </a:xfrm>
          <a:prstGeom prst="ellipse">
            <a:avLst/>
          </a:prstGeom>
          <a:solidFill>
            <a:srgbClr val="2F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468879"/>
            <a:ext cx="6720840" cy="33375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450" dirty="0">
                <a:solidFill>
                  <a:srgbClr val="FFFFFF"/>
                </a:solidFill>
                <a:latin typeface="Consolas"/>
              </a:rPr>
              <a:t>from </a:t>
            </a:r>
            <a:r>
              <a:rPr sz="1450" dirty="0" err="1">
                <a:solidFill>
                  <a:srgbClr val="FFFFFF"/>
                </a:solidFill>
                <a:latin typeface="Consolas"/>
              </a:rPr>
              <a:t>engibench.utils.all_problems</a:t>
            </a:r>
            <a:r>
              <a:rPr sz="1450" dirty="0">
                <a:solidFill>
                  <a:srgbClr val="FFFFFF"/>
                </a:solidFill>
                <a:latin typeface="Consolas"/>
              </a:rPr>
              <a:t> import BUILTIN_PROBLEMS</a:t>
            </a:r>
          </a:p>
          <a:p>
            <a:r>
              <a:rPr sz="1450" dirty="0">
                <a:solidFill>
                  <a:srgbClr val="FFFFFF"/>
                </a:solidFill>
                <a:latin typeface="Consolas"/>
              </a:rPr>
              <a:t> </a:t>
            </a:r>
          </a:p>
          <a:p>
            <a:r>
              <a:rPr sz="1450" dirty="0">
                <a:solidFill>
                  <a:srgbClr val="FFFFFF"/>
                </a:solidFill>
                <a:latin typeface="Consolas"/>
              </a:rPr>
              <a:t>problem  = BUILTIN_PROBLEMS['beams2d'](seed=7)</a:t>
            </a:r>
          </a:p>
          <a:p>
            <a:r>
              <a:rPr sz="1450" dirty="0">
                <a:solidFill>
                  <a:srgbClr val="FFFFFF"/>
                </a:solidFill>
                <a:latin typeface="Consolas"/>
              </a:rPr>
              <a:t> </a:t>
            </a:r>
          </a:p>
          <a:p>
            <a:r>
              <a:rPr sz="1450" dirty="0">
                <a:solidFill>
                  <a:srgbClr val="FFFFFF"/>
                </a:solidFill>
                <a:latin typeface="Consolas"/>
              </a:rPr>
              <a:t>design   = </a:t>
            </a:r>
            <a:r>
              <a:rPr sz="1450" dirty="0" err="1">
                <a:solidFill>
                  <a:srgbClr val="FFFFFF"/>
                </a:solidFill>
                <a:latin typeface="Consolas"/>
              </a:rPr>
              <a:t>my_generator.sample</a:t>
            </a:r>
            <a:r>
              <a:rPr sz="1450" dirty="0">
                <a:solidFill>
                  <a:srgbClr val="FFFFFF"/>
                </a:solidFill>
                <a:latin typeface="Consolas"/>
              </a:rPr>
              <a:t>(</a:t>
            </a:r>
            <a:r>
              <a:rPr sz="1450" dirty="0" err="1">
                <a:solidFill>
                  <a:srgbClr val="FFFFFF"/>
                </a:solidFill>
                <a:latin typeface="Consolas"/>
              </a:rPr>
              <a:t>problem.conditions_keys</a:t>
            </a:r>
            <a:r>
              <a:rPr sz="1450" dirty="0">
                <a:solidFill>
                  <a:srgbClr val="FFFFFF"/>
                </a:solidFill>
                <a:latin typeface="Consolas"/>
              </a:rPr>
              <a:t>)</a:t>
            </a:r>
          </a:p>
          <a:p>
            <a:r>
              <a:rPr sz="1450" dirty="0">
                <a:solidFill>
                  <a:srgbClr val="FFFFFF"/>
                </a:solidFill>
                <a:latin typeface="Consolas"/>
              </a:rPr>
              <a:t>ok       = </a:t>
            </a:r>
            <a:r>
              <a:rPr sz="1450" dirty="0" err="1">
                <a:solidFill>
                  <a:srgbClr val="FFFFFF"/>
                </a:solidFill>
                <a:latin typeface="Consolas"/>
              </a:rPr>
              <a:t>problem.check_constraints</a:t>
            </a:r>
            <a:r>
              <a:rPr sz="1450" dirty="0">
                <a:solidFill>
                  <a:srgbClr val="FFFFFF"/>
                </a:solidFill>
                <a:latin typeface="Consolas"/>
              </a:rPr>
              <a:t>(design, </a:t>
            </a:r>
            <a:r>
              <a:rPr sz="1450" dirty="0" err="1">
                <a:solidFill>
                  <a:srgbClr val="FFFFFF"/>
                </a:solidFill>
                <a:latin typeface="Consolas"/>
              </a:rPr>
              <a:t>conds</a:t>
            </a:r>
            <a:r>
              <a:rPr sz="1450" dirty="0">
                <a:solidFill>
                  <a:srgbClr val="FFFFFF"/>
                </a:solidFill>
                <a:latin typeface="Consolas"/>
              </a:rPr>
              <a:t>)</a:t>
            </a:r>
          </a:p>
          <a:p>
            <a:r>
              <a:rPr sz="1450" dirty="0">
                <a:solidFill>
                  <a:srgbClr val="FFFFFF"/>
                </a:solidFill>
                <a:latin typeface="Consolas"/>
              </a:rPr>
              <a:t>score    = </a:t>
            </a:r>
            <a:r>
              <a:rPr sz="1450" dirty="0" err="1">
                <a:solidFill>
                  <a:srgbClr val="FFFFFF"/>
                </a:solidFill>
                <a:latin typeface="Consolas"/>
              </a:rPr>
              <a:t>problem.simulate</a:t>
            </a:r>
            <a:r>
              <a:rPr sz="1450" dirty="0">
                <a:solidFill>
                  <a:srgbClr val="FFFFFF"/>
                </a:solidFill>
                <a:latin typeface="Consolas"/>
              </a:rPr>
              <a:t>(design, </a:t>
            </a:r>
            <a:r>
              <a:rPr sz="1450" dirty="0" err="1">
                <a:solidFill>
                  <a:srgbClr val="FFFFFF"/>
                </a:solidFill>
                <a:latin typeface="Consolas"/>
              </a:rPr>
              <a:t>conds</a:t>
            </a:r>
            <a:r>
              <a:rPr sz="1450" dirty="0">
                <a:solidFill>
                  <a:srgbClr val="FFFFFF"/>
                </a:solidFill>
                <a:latin typeface="Consolas"/>
              </a:rPr>
              <a:t>)</a:t>
            </a:r>
          </a:p>
          <a:p>
            <a:r>
              <a:rPr sz="1450" dirty="0">
                <a:solidFill>
                  <a:srgbClr val="FFFFFF"/>
                </a:solidFill>
                <a:latin typeface="Consolas"/>
              </a:rPr>
              <a:t>baseline = </a:t>
            </a:r>
            <a:r>
              <a:rPr sz="1450" dirty="0" err="1">
                <a:solidFill>
                  <a:srgbClr val="FFFFFF"/>
                </a:solidFill>
                <a:latin typeface="Consolas"/>
              </a:rPr>
              <a:t>problem.optimize</a:t>
            </a:r>
            <a:r>
              <a:rPr sz="1450" dirty="0">
                <a:solidFill>
                  <a:srgbClr val="FFFFFF"/>
                </a:solidFill>
                <a:latin typeface="Consolas"/>
              </a:rPr>
              <a:t>(starting=design, config=</a:t>
            </a:r>
            <a:r>
              <a:rPr sz="1450" dirty="0" err="1">
                <a:solidFill>
                  <a:srgbClr val="FFFFFF"/>
                </a:solidFill>
                <a:latin typeface="Consolas"/>
              </a:rPr>
              <a:t>conds</a:t>
            </a:r>
            <a:r>
              <a:rPr sz="1450" dirty="0">
                <a:solidFill>
                  <a:srgbClr val="FFFFFF"/>
                </a:solidFill>
                <a:latin typeface="Consolas"/>
              </a:rPr>
              <a:t>)</a:t>
            </a:r>
          </a:p>
          <a:p>
            <a:r>
              <a:rPr sz="1450" dirty="0" err="1">
                <a:solidFill>
                  <a:srgbClr val="FFFFFF"/>
                </a:solidFill>
                <a:latin typeface="Consolas"/>
              </a:rPr>
              <a:t>problem.render</a:t>
            </a:r>
            <a:r>
              <a:rPr sz="1450" dirty="0">
                <a:solidFill>
                  <a:srgbClr val="FFFFFF"/>
                </a:solidFill>
                <a:latin typeface="Consolas"/>
              </a:rPr>
              <a:t>(design)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920240"/>
            <a:ext cx="36576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Gear 6 13"/>
          <p:cNvSpPr/>
          <p:nvPr/>
        </p:nvSpPr>
        <p:spPr>
          <a:xfrm>
            <a:off x="8257032" y="2194560"/>
            <a:ext cx="594360" cy="594360"/>
          </a:xfrm>
          <a:prstGeom prst="gear6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06840" y="2121408"/>
            <a:ext cx="26060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25E9B"/>
                </a:solidFill>
                <a:latin typeface="Aptos"/>
              </a:rPr>
              <a:t>Same task contract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468880"/>
            <a:ext cx="26060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A6675"/>
                </a:solidFill>
                <a:latin typeface="Aptos"/>
              </a:rPr>
              <a:t>Every paper compares on the same problem.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3291840"/>
            <a:ext cx="36576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Hexagon 17"/>
          <p:cNvSpPr/>
          <p:nvPr/>
        </p:nvSpPr>
        <p:spPr>
          <a:xfrm>
            <a:off x="8257032" y="3566160"/>
            <a:ext cx="594360" cy="594360"/>
          </a:xfrm>
          <a:prstGeom prst="hexagon">
            <a:avLst/>
          </a:prstGeom>
          <a:solidFill>
            <a:srgbClr val="2F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06840" y="3493008"/>
            <a:ext cx="26060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F7D62"/>
                </a:solidFill>
                <a:latin typeface="Aptos"/>
              </a:rPr>
              <a:t>Swap the model, not the task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3840480"/>
            <a:ext cx="26060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A6675"/>
                </a:solidFill>
                <a:latin typeface="Aptos"/>
              </a:rPr>
              <a:t>Your generator is one cell. The rest is fixed.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4663440"/>
            <a:ext cx="365760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5-Point Star 21"/>
          <p:cNvSpPr/>
          <p:nvPr/>
        </p:nvSpPr>
        <p:spPr>
          <a:xfrm>
            <a:off x="8257032" y="4937760"/>
            <a:ext cx="594360" cy="594360"/>
          </a:xfrm>
          <a:prstGeom prst="star5">
            <a:avLst/>
          </a:prstGeom>
          <a:solidFill>
            <a:srgbClr val="C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06840" y="4864608"/>
            <a:ext cx="26060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C47B20"/>
                </a:solidFill>
                <a:latin typeface="Aptos"/>
              </a:rPr>
              <a:t>Portable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5212080"/>
            <a:ext cx="26060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5A6675"/>
                </a:solidFill>
                <a:latin typeface="Aptos"/>
              </a:rPr>
              <a:t>Your numbers match a reviewer's numbers.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2336" y="6419088"/>
            <a:ext cx="4005072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>
                <a:solidFill>
                  <a:srgbClr val="5A6675"/>
                </a:solidFill>
                <a:latin typeface="Aptos"/>
              </a:rPr>
              <a:t>Workshop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08975" y="6419088"/>
            <a:ext cx="3712463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25" b="0" i="0">
                <a:solidFill>
                  <a:srgbClr val="5A6675"/>
                </a:solidFill>
                <a:latin typeface="Aptos"/>
              </a:rPr>
              <a:t>DCC 2026 workshop  |  EngiBench + EngiOpt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38912"/>
            <a:ext cx="914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25E9B"/>
                </a:solidFill>
                <a:latin typeface="Aptos"/>
              </a:rPr>
              <a:t>FROM MOTIVATION TO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7315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7212B"/>
                </a:solidFill>
                <a:latin typeface="Aptos Display"/>
              </a:rPr>
              <a:t>Four notebooks. One contract.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5A6675"/>
                </a:solidFill>
                <a:latin typeface="Aptos"/>
              </a:rPr>
              <a:t>Run them in order. Then we come back together to discuss what is missing.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286000"/>
            <a:ext cx="2201418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2286000"/>
            <a:ext cx="2201418" cy="73152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560320"/>
            <a:ext cx="174421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25E9B"/>
                </a:solidFill>
                <a:latin typeface="Aptos"/>
              </a:rPr>
              <a:t>NOTEBOOK 00</a:t>
            </a:r>
          </a:p>
        </p:txBody>
      </p:sp>
      <p:sp>
        <p:nvSpPr>
          <p:cNvPr id="12" name="Hexagon 11"/>
          <p:cNvSpPr/>
          <p:nvPr/>
        </p:nvSpPr>
        <p:spPr>
          <a:xfrm>
            <a:off x="1192149" y="3063240"/>
            <a:ext cx="1005840" cy="1005840"/>
          </a:xfrm>
          <a:prstGeom prst="hexagon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220141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17212B"/>
                </a:solidFill>
                <a:latin typeface="Aptos Display"/>
              </a:rPr>
              <a:t>Frame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09160"/>
            <a:ext cx="183565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A6675"/>
                </a:solidFill>
                <a:latin typeface="Aptos"/>
              </a:rPr>
              <a:t>Inspect a benchmark contract.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978658" y="3703320"/>
            <a:ext cx="365760" cy="365760"/>
          </a:xfrm>
          <a:prstGeom prst="rightArrow">
            <a:avLst/>
          </a:prstGeom>
          <a:solidFill>
            <a:srgbClr val="C8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27298" y="2286000"/>
            <a:ext cx="2201418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527298" y="2286000"/>
            <a:ext cx="2201418" cy="73152"/>
          </a:xfrm>
          <a:prstGeom prst="rect">
            <a:avLst/>
          </a:prstGeom>
          <a:solidFill>
            <a:srgbClr val="2F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55898" y="2560320"/>
            <a:ext cx="174421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F7D62"/>
                </a:solidFill>
                <a:latin typeface="Aptos"/>
              </a:rPr>
              <a:t>NOTEBOOK 01</a:t>
            </a:r>
          </a:p>
        </p:txBody>
      </p:sp>
      <p:sp>
        <p:nvSpPr>
          <p:cNvPr id="19" name="Gear 6 18"/>
          <p:cNvSpPr/>
          <p:nvPr/>
        </p:nvSpPr>
        <p:spPr>
          <a:xfrm>
            <a:off x="4125087" y="3063240"/>
            <a:ext cx="1005840" cy="1005840"/>
          </a:xfrm>
          <a:prstGeom prst="gear6">
            <a:avLst/>
          </a:prstGeom>
          <a:solidFill>
            <a:srgbClr val="2F7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27298" y="4206240"/>
            <a:ext cx="220141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17212B"/>
                </a:solidFill>
                <a:latin typeface="Aptos Display"/>
              </a:rPr>
              <a:t>Train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10178" y="4709160"/>
            <a:ext cx="183565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A6675"/>
                </a:solidFill>
                <a:latin typeface="Aptos"/>
              </a:rPr>
              <a:t>Fit a small conditional generator.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11596" y="3703320"/>
            <a:ext cx="365760" cy="365760"/>
          </a:xfrm>
          <a:prstGeom prst="rightArrow">
            <a:avLst/>
          </a:prstGeom>
          <a:solidFill>
            <a:srgbClr val="C8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60236" y="2286000"/>
            <a:ext cx="2201418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60236" y="2286000"/>
            <a:ext cx="2201418" cy="73152"/>
          </a:xfrm>
          <a:prstGeom prst="rect">
            <a:avLst/>
          </a:prstGeom>
          <a:solidFill>
            <a:srgbClr val="C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88836" y="2560320"/>
            <a:ext cx="174421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47B20"/>
                </a:solidFill>
                <a:latin typeface="Aptos"/>
              </a:rPr>
              <a:t>NOTEBOOK 02</a:t>
            </a:r>
          </a:p>
        </p:txBody>
      </p:sp>
      <p:sp>
        <p:nvSpPr>
          <p:cNvPr id="26" name="5-Point Star 25"/>
          <p:cNvSpPr/>
          <p:nvPr/>
        </p:nvSpPr>
        <p:spPr>
          <a:xfrm>
            <a:off x="7058025" y="3063240"/>
            <a:ext cx="1005840" cy="1005840"/>
          </a:xfrm>
          <a:prstGeom prst="star5">
            <a:avLst/>
          </a:prstGeom>
          <a:solidFill>
            <a:srgbClr val="C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60236" y="4206240"/>
            <a:ext cx="220141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17212B"/>
                </a:solidFill>
                <a:latin typeface="Aptos Display"/>
              </a:rPr>
              <a:t>Evaluate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3116" y="4709160"/>
            <a:ext cx="183565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A6675"/>
                </a:solidFill>
                <a:latin typeface="Aptos"/>
              </a:rPr>
              <a:t>Score generated designs as engineering candidates.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844534" y="3703320"/>
            <a:ext cx="365760" cy="365760"/>
          </a:xfrm>
          <a:prstGeom prst="rightArrow">
            <a:avLst/>
          </a:prstGeom>
          <a:solidFill>
            <a:srgbClr val="C8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393174" y="2286000"/>
            <a:ext cx="2201418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393174" y="2286000"/>
            <a:ext cx="2201418" cy="73152"/>
          </a:xfrm>
          <a:prstGeom prst="rect">
            <a:avLst/>
          </a:prstGeom>
          <a:solidFill>
            <a:srgbClr val="C84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21774" y="2560320"/>
            <a:ext cx="174421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84837"/>
                </a:solidFill>
                <a:latin typeface="Aptos"/>
              </a:rPr>
              <a:t>NOTEBOOK 03</a:t>
            </a:r>
          </a:p>
        </p:txBody>
      </p:sp>
      <p:sp>
        <p:nvSpPr>
          <p:cNvPr id="33" name="Can 32"/>
          <p:cNvSpPr/>
          <p:nvPr/>
        </p:nvSpPr>
        <p:spPr>
          <a:xfrm>
            <a:off x="9990963" y="3063240"/>
            <a:ext cx="1005840" cy="1005840"/>
          </a:xfrm>
          <a:prstGeom prst="can">
            <a:avLst/>
          </a:prstGeom>
          <a:solidFill>
            <a:srgbClr val="C84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393174" y="4206240"/>
            <a:ext cx="220141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17212B"/>
                </a:solidFill>
                <a:latin typeface="Aptos Display"/>
              </a:rPr>
              <a:t>Extend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76054" y="4709160"/>
            <a:ext cx="1835658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5A6675"/>
                </a:solidFill>
                <a:latin typeface="Aptos"/>
              </a:rPr>
              <a:t>Wrap your own problem behind the same API.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5852160"/>
            <a:ext cx="11018520" cy="4572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4360" y="5943600"/>
            <a:ext cx="11018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Then: what is missing, and where do we go next as a community?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943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25E9B"/>
                </a:solidFill>
                <a:latin typeface="Aptos"/>
              </a:rPr>
              <a:t>DCC 2026 WORKSHOP  ·  OPENING KEYNOTE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20240"/>
            <a:ext cx="1097280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17212B"/>
                </a:solidFill>
                <a:latin typeface="Aptos Display"/>
              </a:rPr>
              <a:t>Benchmarks do not</a:t>
            </a:r>
          </a:p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17212B"/>
                </a:solidFill>
                <a:latin typeface="Aptos Display"/>
              </a:rPr>
              <a:t>slow research down.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0" b="1" i="0">
                <a:solidFill>
                  <a:srgbClr val="225E9B"/>
                </a:solidFill>
                <a:latin typeface="Aptos Display"/>
              </a:rPr>
              <a:t>They make it add up.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5806440"/>
            <a:ext cx="11018520" cy="548640"/>
          </a:xfrm>
          <a:prstGeom prst="rect">
            <a:avLst/>
          </a:prstGeom>
          <a:solidFill>
            <a:srgbClr val="225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594360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Up next  →  Notebook 00:  Frame your design problem as a benchmark contract.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1393</Words>
  <Application>Microsoft Macintosh PowerPoint</Application>
  <PresentationFormat>Widescreen</PresentationFormat>
  <Paragraphs>298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Keeler  Matthew</cp:lastModifiedBy>
  <cp:revision>2</cp:revision>
  <dcterms:created xsi:type="dcterms:W3CDTF">2013-01-27T09:14:16Z</dcterms:created>
  <dcterms:modified xsi:type="dcterms:W3CDTF">2026-05-18T12:29:27Z</dcterms:modified>
  <cp:category/>
</cp:coreProperties>
</file>