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aa134ac4e24fdd" /><Relationship Type="http://schemas.openxmlformats.org/officeDocument/2006/relationships/extended-properties" Target="/docProps/app.xml" Id="R9e9304305c794f54" /><Relationship Type="http://schemas.openxmlformats.org/officeDocument/2006/relationships/officeDocument" Target="/ppt/presentation.xml" Id="R2293ab8f80c444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3761b5dde845f8"/>
  </p:sldMasterIdLst>
  <p:notesMasterIdLst>
    <p:notesMasterId xmlns:r="http://schemas.openxmlformats.org/officeDocument/2006/relationships" r:id="R5e072ca9c7fa4914"/>
  </p:notesMasterIdLst>
  <p:sldIdLst>
    <p:sldId xmlns:r="http://schemas.openxmlformats.org/officeDocument/2006/relationships" id="256" r:id="Rc6ef2822e0be4f2c"/>
    <p:sldId xmlns:r="http://schemas.openxmlformats.org/officeDocument/2006/relationships" id="257" r:id="R04fd0deb03ad41cc"/>
    <p:sldId xmlns:r="http://schemas.openxmlformats.org/officeDocument/2006/relationships" id="258" r:id="Rc88316a5dbbb4be5"/>
    <p:sldId xmlns:r="http://schemas.openxmlformats.org/officeDocument/2006/relationships" id="259" r:id="R584e998e0dd34144"/>
    <p:sldId xmlns:r="http://schemas.openxmlformats.org/officeDocument/2006/relationships" id="260" r:id="Ra0879da04a424493"/>
    <p:sldId xmlns:r="http://schemas.openxmlformats.org/officeDocument/2006/relationships" id="261" r:id="R284ae56356d84cd0"/>
    <p:sldId xmlns:r="http://schemas.openxmlformats.org/officeDocument/2006/relationships" id="262" r:id="R84a2dbeff58042b5"/>
    <p:sldId xmlns:r="http://schemas.openxmlformats.org/officeDocument/2006/relationships" id="263" r:id="Rbcf15e3f97624b8d"/>
    <p:sldId xmlns:r="http://schemas.openxmlformats.org/officeDocument/2006/relationships" id="264" r:id="R5acbfe086b7e43d3"/>
    <p:sldId xmlns:r="http://schemas.openxmlformats.org/officeDocument/2006/relationships" id="265" r:id="R7ac8c2cb47cd40f0"/>
    <p:sldId xmlns:r="http://schemas.openxmlformats.org/officeDocument/2006/relationships" id="266" r:id="R0a675d168ff44322"/>
    <p:sldId xmlns:r="http://schemas.openxmlformats.org/officeDocument/2006/relationships" id="267" r:id="Rf9502920880b48d3"/>
    <p:sldId xmlns:r="http://schemas.openxmlformats.org/officeDocument/2006/relationships" id="268" r:id="R9967b1c9cde44f96"/>
    <p:sldId xmlns:r="http://schemas.openxmlformats.org/officeDocument/2006/relationships" id="269" r:id="R3510b63fb6cd42d7"/>
    <p:sldId xmlns:r="http://schemas.openxmlformats.org/officeDocument/2006/relationships" id="270" r:id="R82ecafa84f3e42b3"/>
    <p:sldId xmlns:r="http://schemas.openxmlformats.org/officeDocument/2006/relationships" id="271" r:id="R9ef6164065af46d9"/>
    <p:sldId xmlns:r="http://schemas.openxmlformats.org/officeDocument/2006/relationships" id="272" r:id="R2adca92b366d4c8c"/>
    <p:sldId xmlns:r="http://schemas.openxmlformats.org/officeDocument/2006/relationships" id="273" r:id="R3904ee3b672b47ef"/>
    <p:sldId xmlns:r="http://schemas.openxmlformats.org/officeDocument/2006/relationships" id="274" r:id="Red42f1108bb94cbd"/>
    <p:sldId xmlns:r="http://schemas.openxmlformats.org/officeDocument/2006/relationships" id="275" r:id="Rd092591b77234db3"/>
    <p:sldId xmlns:r="http://schemas.openxmlformats.org/officeDocument/2006/relationships" id="276" r:id="R52ceb02807b6415a"/>
    <p:sldId xmlns:r="http://schemas.openxmlformats.org/officeDocument/2006/relationships" id="277" r:id="R02951e7690814165"/>
    <p:sldId xmlns:r="http://schemas.openxmlformats.org/officeDocument/2006/relationships" id="278" r:id="R1324e1b8e0a647a5"/>
    <p:sldId xmlns:r="http://schemas.openxmlformats.org/officeDocument/2006/relationships" id="279" r:id="R207f0677957942d8"/>
    <p:sldId xmlns:r="http://schemas.openxmlformats.org/officeDocument/2006/relationships" id="280" r:id="R7c2864a7023e4333"/>
    <p:sldId xmlns:r="http://schemas.openxmlformats.org/officeDocument/2006/relationships" id="281" r:id="R66d105c68613430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3761b5dde845f8" /><Relationship Type="http://schemas.openxmlformats.org/officeDocument/2006/relationships/theme" Target="/ppt/theme/theme1.xml" Id="R5ecfa49f197142dd" /><Relationship Type="http://schemas.openxmlformats.org/officeDocument/2006/relationships/notesMaster" Target="/ppt/notesMasters/notesMaster1.xml" Id="R5e072ca9c7fa4914" /><Relationship Type="http://schemas.openxmlformats.org/officeDocument/2006/relationships/presProps" Target="/ppt/presProps.xml" Id="R543c7e6b8aa9416d" /><Relationship Type="http://schemas.openxmlformats.org/officeDocument/2006/relationships/viewProps" Target="/ppt/viewProps.xml" Id="Re4e0e1260ded4e61" /><Relationship Type="http://schemas.openxmlformats.org/officeDocument/2006/relationships/tableStyles" Target="/ppt/tableStyles.xml" Id="R74bee9812f7d4f15" /><Relationship Type="http://schemas.openxmlformats.org/officeDocument/2006/relationships/slide" Target="/ppt/slides/slide1.xml" Id="Rc6ef2822e0be4f2c" /><Relationship Type="http://schemas.openxmlformats.org/officeDocument/2006/relationships/slide" Target="/ppt/slides/slide2.xml" Id="R04fd0deb03ad41cc" /><Relationship Type="http://schemas.openxmlformats.org/officeDocument/2006/relationships/slide" Target="/ppt/slides/slide3.xml" Id="Rc88316a5dbbb4be5" /><Relationship Type="http://schemas.openxmlformats.org/officeDocument/2006/relationships/slide" Target="/ppt/slides/slide4.xml" Id="R584e998e0dd34144" /><Relationship Type="http://schemas.openxmlformats.org/officeDocument/2006/relationships/slide" Target="/ppt/slides/slide5.xml" Id="Ra0879da04a424493" /><Relationship Type="http://schemas.openxmlformats.org/officeDocument/2006/relationships/slide" Target="/ppt/slides/slide6.xml" Id="R284ae56356d84cd0" /><Relationship Type="http://schemas.openxmlformats.org/officeDocument/2006/relationships/slide" Target="/ppt/slides/slide7.xml" Id="R84a2dbeff58042b5" /><Relationship Type="http://schemas.openxmlformats.org/officeDocument/2006/relationships/slide" Target="/ppt/slides/slide8.xml" Id="Rbcf15e3f97624b8d" /><Relationship Type="http://schemas.openxmlformats.org/officeDocument/2006/relationships/slide" Target="/ppt/slides/slide9.xml" Id="R5acbfe086b7e43d3" /><Relationship Type="http://schemas.openxmlformats.org/officeDocument/2006/relationships/slide" Target="/ppt/slides/slide10.xml" Id="R7ac8c2cb47cd40f0" /><Relationship Type="http://schemas.openxmlformats.org/officeDocument/2006/relationships/slide" Target="/ppt/slides/slide11.xml" Id="R0a675d168ff44322" /><Relationship Type="http://schemas.openxmlformats.org/officeDocument/2006/relationships/slide" Target="/ppt/slides/slide12.xml" Id="Rf9502920880b48d3" /><Relationship Type="http://schemas.openxmlformats.org/officeDocument/2006/relationships/slide" Target="/ppt/slides/slide13.xml" Id="R9967b1c9cde44f96" /><Relationship Type="http://schemas.openxmlformats.org/officeDocument/2006/relationships/slide" Target="/ppt/slides/slide14.xml" Id="R3510b63fb6cd42d7" /><Relationship Type="http://schemas.openxmlformats.org/officeDocument/2006/relationships/slide" Target="/ppt/slides/slide15.xml" Id="R82ecafa84f3e42b3" /><Relationship Type="http://schemas.openxmlformats.org/officeDocument/2006/relationships/slide" Target="/ppt/slides/slide16.xml" Id="R9ef6164065af46d9" /><Relationship Type="http://schemas.openxmlformats.org/officeDocument/2006/relationships/slide" Target="/ppt/slides/slide17.xml" Id="R2adca92b366d4c8c" /><Relationship Type="http://schemas.openxmlformats.org/officeDocument/2006/relationships/slide" Target="/ppt/slides/slide18.xml" Id="R3904ee3b672b47ef" /><Relationship Type="http://schemas.openxmlformats.org/officeDocument/2006/relationships/slide" Target="/ppt/slides/slide19.xml" Id="Red42f1108bb94cbd" /><Relationship Type="http://schemas.openxmlformats.org/officeDocument/2006/relationships/slide" Target="/ppt/slides/slide20.xml" Id="Rd092591b77234db3" /><Relationship Type="http://schemas.openxmlformats.org/officeDocument/2006/relationships/slide" Target="/ppt/slides/slide21.xml" Id="R52ceb02807b6415a" /><Relationship Type="http://schemas.openxmlformats.org/officeDocument/2006/relationships/slide" Target="/ppt/slides/slide22.xml" Id="R02951e7690814165" /><Relationship Type="http://schemas.openxmlformats.org/officeDocument/2006/relationships/slide" Target="/ppt/slides/slide23.xml" Id="R1324e1b8e0a647a5" /><Relationship Type="http://schemas.openxmlformats.org/officeDocument/2006/relationships/slide" Target="/ppt/slides/slide24.xml" Id="R207f0677957942d8" /><Relationship Type="http://schemas.openxmlformats.org/officeDocument/2006/relationships/slide" Target="/ppt/slides/slide25.xml" Id="R7c2864a7023e4333" /><Relationship Type="http://schemas.openxmlformats.org/officeDocument/2006/relationships/slide" Target="/ppt/slides/slide26.xml" Id="R66d105c6861343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a8bfd0f568f44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6f0c7f07f8467d" /><Relationship Type="http://schemas.openxmlformats.org/officeDocument/2006/relationships/notesMaster" Target="/ppt/notesMasters/notesMaster1.xml" Id="Rb73d19f58a4946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5f3df35e1b44a9" /><Relationship Type="http://schemas.openxmlformats.org/officeDocument/2006/relationships/notesMaster" Target="/ppt/notesMasters/notesMaster1.xml" Id="R140247cce1bb44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36f6b005d74b4e" /><Relationship Type="http://schemas.openxmlformats.org/officeDocument/2006/relationships/notesMaster" Target="/ppt/notesMasters/notesMaster1.xml" Id="R445c03c2ac164e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9a0483b60948d1" /><Relationship Type="http://schemas.openxmlformats.org/officeDocument/2006/relationships/notesMaster" Target="/ppt/notesMasters/notesMaster1.xml" Id="Re414f9ab45834c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a87dd84b8e4c3d" /><Relationship Type="http://schemas.openxmlformats.org/officeDocument/2006/relationships/notesMaster" Target="/ppt/notesMasters/notesMaster1.xml" Id="Ra18b0c8b9b9649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8f90fffb414e54" /><Relationship Type="http://schemas.openxmlformats.org/officeDocument/2006/relationships/notesMaster" Target="/ppt/notesMasters/notesMaster1.xml" Id="R55889d6a168746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94cb1359644a6e" /><Relationship Type="http://schemas.openxmlformats.org/officeDocument/2006/relationships/notesMaster" Target="/ppt/notesMasters/notesMaster1.xml" Id="Rf56a5c98965a432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98734389414a3f" /><Relationship Type="http://schemas.openxmlformats.org/officeDocument/2006/relationships/notesMaster" Target="/ppt/notesMasters/notesMaster1.xml" Id="Rd9e60e7dfc5e4f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db8d9244664c4d" /><Relationship Type="http://schemas.openxmlformats.org/officeDocument/2006/relationships/notesMaster" Target="/ppt/notesMasters/notesMaster1.xml" Id="Rda69197c81ed46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99ed11e44f4c1e" /><Relationship Type="http://schemas.openxmlformats.org/officeDocument/2006/relationships/notesMaster" Target="/ppt/notesMasters/notesMaster1.xml" Id="R11a3dd3c02db46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ee811ef992344e2" /><Relationship Type="http://schemas.openxmlformats.org/officeDocument/2006/relationships/notesMaster" Target="/ppt/notesMasters/notesMaster1.xml" Id="R5f87018c4f424c9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76945b0c624f92" /><Relationship Type="http://schemas.openxmlformats.org/officeDocument/2006/relationships/notesMaster" Target="/ppt/notesMasters/notesMaster1.xml" Id="R3648f86b28a444f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4e5b9ec573a423e" /><Relationship Type="http://schemas.openxmlformats.org/officeDocument/2006/relationships/notesMaster" Target="/ppt/notesMasters/notesMaster1.xml" Id="R9abf7d560a6644a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e287012c26e4c56" /><Relationship Type="http://schemas.openxmlformats.org/officeDocument/2006/relationships/notesMaster" Target="/ppt/notesMasters/notesMaster1.xml" Id="Raa41d1ca8dc2423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a7d4f3d2e8a4e06" /><Relationship Type="http://schemas.openxmlformats.org/officeDocument/2006/relationships/notesMaster" Target="/ppt/notesMasters/notesMaster1.xml" Id="Rc65da927ea73454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69306c1f6ed461b" /><Relationship Type="http://schemas.openxmlformats.org/officeDocument/2006/relationships/notesMaster" Target="/ppt/notesMasters/notesMaster1.xml" Id="Rae5632f00ead470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860838a216140aa" /><Relationship Type="http://schemas.openxmlformats.org/officeDocument/2006/relationships/notesMaster" Target="/ppt/notesMasters/notesMaster1.xml" Id="R15cde159bb4944e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d145ab966f494b" /><Relationship Type="http://schemas.openxmlformats.org/officeDocument/2006/relationships/notesMaster" Target="/ppt/notesMasters/notesMaster1.xml" Id="R4b6cd80f31ca4be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67cf5e442024e87" /><Relationship Type="http://schemas.openxmlformats.org/officeDocument/2006/relationships/notesMaster" Target="/ppt/notesMasters/notesMaster1.xml" Id="Rd698b9979e4e439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b6924ccce324ae2" /><Relationship Type="http://schemas.openxmlformats.org/officeDocument/2006/relationships/notesMaster" Target="/ppt/notesMasters/notesMaster1.xml" Id="R6251d9f2b42f44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fe7c12f5f164b9f" /><Relationship Type="http://schemas.openxmlformats.org/officeDocument/2006/relationships/notesMaster" Target="/ppt/notesMasters/notesMaster1.xml" Id="R0d166a3d4bc942c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9f68cbdd9604aa8" /><Relationship Type="http://schemas.openxmlformats.org/officeDocument/2006/relationships/notesMaster" Target="/ppt/notesMasters/notesMaster1.xml" Id="R76a4a7a00d9c48b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cb69f8a8f844c12" /><Relationship Type="http://schemas.openxmlformats.org/officeDocument/2006/relationships/notesMaster" Target="/ppt/notesMasters/notesMaster1.xml" Id="R9491b6ade38f4db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82ed118119846b6" /><Relationship Type="http://schemas.openxmlformats.org/officeDocument/2006/relationships/notesMaster" Target="/ppt/notesMasters/notesMaster1.xml" Id="Rb0b54a25103844c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cf6241e53bc4ef3" /><Relationship Type="http://schemas.openxmlformats.org/officeDocument/2006/relationships/notesMaster" Target="/ppt/notesMasters/notesMaster1.xml" Id="R39dcda4ce054476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67bc16958314112" /><Relationship Type="http://schemas.openxmlformats.org/officeDocument/2006/relationships/notesMaster" Target="/ppt/notesMasters/notesMaster1.xml" Id="R8b26eceba09e4f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e2d25c3084408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9c809192e114152" /><Relationship Type="http://schemas.openxmlformats.org/officeDocument/2006/relationships/slideLayout" Target="/ppt/slideLayouts/slideLayout2.xml" Id="R95f1632a25124d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f1632a25124d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af9144526d4843" /><Relationship Type="http://schemas.openxmlformats.org/officeDocument/2006/relationships/image" Target="/ppt/media/image.png" Id="R1f20955389234186" /><Relationship Type="http://schemas.openxmlformats.org/officeDocument/2006/relationships/image" Target="/ppt/media/image2.png" Id="Rb4b178611b8e4c18" /><Relationship Type="http://schemas.openxmlformats.org/officeDocument/2006/relationships/notesSlide" Target="/ppt/notesSlides/notesSlide1.xml" Id="Raa65d9ea726f43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ba85a41af64b88" /><Relationship Type="http://schemas.openxmlformats.org/officeDocument/2006/relationships/notesSlide" Target="/ppt/notesSlides/notesSlide2.xml" Id="Rcafcd967b59d4e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3b41315f4e4674" /><Relationship Type="http://schemas.openxmlformats.org/officeDocument/2006/relationships/notesSlide" Target="/ppt/notesSlides/notesSlide3.xml" Id="R2f8af2607db94f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082a092c554443" /><Relationship Type="http://schemas.openxmlformats.org/officeDocument/2006/relationships/image" Target="/ppt/media/image3.png" Id="R6394ca6d1857444f" /><Relationship Type="http://schemas.openxmlformats.org/officeDocument/2006/relationships/notesSlide" Target="/ppt/notesSlides/notesSlide4.xml" Id="R200aa41b8c1742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1b7ace9d034ff8" /><Relationship Type="http://schemas.openxmlformats.org/officeDocument/2006/relationships/image" Target="/ppt/media/image4.png" Id="Rb570485602824b6e" /><Relationship Type="http://schemas.openxmlformats.org/officeDocument/2006/relationships/image" Target="/ppt/media/image5.png" Id="Ra95c98eec79c4579" /><Relationship Type="http://schemas.openxmlformats.org/officeDocument/2006/relationships/image" Target="/ppt/media/image6.png" Id="Rbc41d1d52ea647e4" /><Relationship Type="http://schemas.openxmlformats.org/officeDocument/2006/relationships/notesSlide" Target="/ppt/notesSlides/notesSlide5.xml" Id="R7802c6f64deb43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3b0a586b364a07" /><Relationship Type="http://schemas.openxmlformats.org/officeDocument/2006/relationships/notesSlide" Target="/ppt/notesSlides/notesSlide6.xml" Id="R293d39e315a340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63d52962db4af2" /><Relationship Type="http://schemas.openxmlformats.org/officeDocument/2006/relationships/notesSlide" Target="/ppt/notesSlides/notesSlide7.xml" Id="R7712c3bb8a5249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ee0c9e143a404e" /><Relationship Type="http://schemas.openxmlformats.org/officeDocument/2006/relationships/image" Target="/ppt/media/image7.png" Id="Rae6a52d6267d44a1" /><Relationship Type="http://schemas.openxmlformats.org/officeDocument/2006/relationships/notesSlide" Target="/ppt/notesSlides/notesSlide8.xml" Id="Re463caedb2dc49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1443fb6e9545d2" /><Relationship Type="http://schemas.openxmlformats.org/officeDocument/2006/relationships/notesSlide" Target="/ppt/notesSlides/notesSlide9.xml" Id="Rafff486ebdd341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966ffdf59f4ba9" /><Relationship Type="http://schemas.openxmlformats.org/officeDocument/2006/relationships/image" Target="/ppt/media/image8.png" Id="Rd65d3200eb3c462a" /><Relationship Type="http://schemas.openxmlformats.org/officeDocument/2006/relationships/notesSlide" Target="/ppt/notesSlides/notesSlide10.xml" Id="R1728264d75b1485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31aa02f20f43da" /><Relationship Type="http://schemas.openxmlformats.org/officeDocument/2006/relationships/notesSlide" Target="/ppt/notesSlides/notesSlide11.xml" Id="R40a081eb68e248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8d2d66754249c3" /><Relationship Type="http://schemas.openxmlformats.org/officeDocument/2006/relationships/image" Target="/ppt/media/image9.png" Id="R7592d5bdbad24a2f" /><Relationship Type="http://schemas.openxmlformats.org/officeDocument/2006/relationships/notesSlide" Target="/ppt/notesSlides/notesSlide12.xml" Id="R16d899e35c4241f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f276c30e7b4c88" /><Relationship Type="http://schemas.openxmlformats.org/officeDocument/2006/relationships/image" Target="/ppt/media/image10.png" Id="R79395cd4f4a345ec" /><Relationship Type="http://schemas.openxmlformats.org/officeDocument/2006/relationships/notesSlide" Target="/ppt/notesSlides/notesSlide13.xml" Id="Re9a11e7b9b78455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91c270d4de47e2" /><Relationship Type="http://schemas.openxmlformats.org/officeDocument/2006/relationships/notesSlide" Target="/ppt/notesSlides/notesSlide14.xml" Id="Rc363b55c2fa3401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78b54184ca4f1d" /><Relationship Type="http://schemas.openxmlformats.org/officeDocument/2006/relationships/image" Target="/ppt/media/image11.png" Id="Rd1243ce4576344ef" /><Relationship Type="http://schemas.openxmlformats.org/officeDocument/2006/relationships/notesSlide" Target="/ppt/notesSlides/notesSlide15.xml" Id="Ra5e362f62e834d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d59c19adb04a5c" /><Relationship Type="http://schemas.openxmlformats.org/officeDocument/2006/relationships/image" Target="/ppt/media/image12.png" Id="R53b6a4051de34c66" /><Relationship Type="http://schemas.openxmlformats.org/officeDocument/2006/relationships/image" Target="/ppt/media/image13.png" Id="R91601b51a97e4059" /><Relationship Type="http://schemas.openxmlformats.org/officeDocument/2006/relationships/notesSlide" Target="/ppt/notesSlides/notesSlide16.xml" Id="R4c3546b2f70f4e0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d42606afc94212" /><Relationship Type="http://schemas.openxmlformats.org/officeDocument/2006/relationships/image" Target="/ppt/media/image14.png" Id="Rcfae773807c241ec" /><Relationship Type="http://schemas.openxmlformats.org/officeDocument/2006/relationships/notesSlide" Target="/ppt/notesSlides/notesSlide17.xml" Id="Rabe2e25a05cc44f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09b723035b489b" /><Relationship Type="http://schemas.openxmlformats.org/officeDocument/2006/relationships/notesSlide" Target="/ppt/notesSlides/notesSlide18.xml" Id="R7aad8d3945dd44a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22bb5c4cb44bd7" /><Relationship Type="http://schemas.openxmlformats.org/officeDocument/2006/relationships/notesSlide" Target="/ppt/notesSlides/notesSlide19.xml" Id="Rfed796ad567b435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27ddd87c864e36" /><Relationship Type="http://schemas.openxmlformats.org/officeDocument/2006/relationships/image" Target="/ppt/media/image15.png" Id="R9bb3205774fa4dcf" /><Relationship Type="http://schemas.openxmlformats.org/officeDocument/2006/relationships/notesSlide" Target="/ppt/notesSlides/notesSlide20.xml" Id="Rf0ec037654e14b8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9de5cbe9244807" /><Relationship Type="http://schemas.openxmlformats.org/officeDocument/2006/relationships/notesSlide" Target="/ppt/notesSlides/notesSlide21.xml" Id="R38ced6102f58420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9cb7f3416947cf" /><Relationship Type="http://schemas.openxmlformats.org/officeDocument/2006/relationships/notesSlide" Target="/ppt/notesSlides/notesSlide22.xml" Id="R8f0f546b7b374a1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20b4da6ad24241" /><Relationship Type="http://schemas.openxmlformats.org/officeDocument/2006/relationships/image" Target="/ppt/media/image16.png" Id="R1364ea213b0f4c23" /><Relationship Type="http://schemas.openxmlformats.org/officeDocument/2006/relationships/notesSlide" Target="/ppt/notesSlides/notesSlide23.xml" Id="R015d1b23437d425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60c025d7094989" /><Relationship Type="http://schemas.openxmlformats.org/officeDocument/2006/relationships/notesSlide" Target="/ppt/notesSlides/notesSlide24.xml" Id="Rfdd2044e5dc44cc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a63bdcd64d4cdf" /><Relationship Type="http://schemas.openxmlformats.org/officeDocument/2006/relationships/notesSlide" Target="/ppt/notesSlides/notesSlide25.xml" Id="R8b9db531905e419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cbc933a965467f" /><Relationship Type="http://schemas.openxmlformats.org/officeDocument/2006/relationships/image" Target="/ppt/media/image17.png" Id="Rf044b7472bc64e47" /><Relationship Type="http://schemas.openxmlformats.org/officeDocument/2006/relationships/notesSlide" Target="/ppt/notesSlides/notesSlide26.xml" Id="R9a2900088e2e4f53" /></Relationships>
</file>

<file path=ppt/slides/slide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ADC43254-25C4-4ED1-A4D2-D591B8E9F3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noChangeAspect="1"/>
          </p:cNvPicPr>
          <p:nvPr/>
        </p:nvPicPr>
        <p:blipFill>
          <a:blip r:embed="R1f20955389234186"/>
          <a:stretch/>
        </p:blipFill>
        <p:spPr>
          <a:xfrm>
            <a:off x="514350" y="409228"/>
            <a:ext cx="11144250" cy="2248594"/>
          </a:xfrm>
          <a:prstGeom prst="rect">
            <a:avLst/>
          </a:prstGeom>
        </p:spPr>
      </p:pic>
      <p:sp>
        <p:nvSpPr>
          <p:cNvPr id="4" name="">
            <a:extLst>
              <a:ext uri="{FF2B5EF4-FFF2-40B4-BE49-F238E27FC236}">
                <a16:creationId id="{6B6D3437-6E08-41ED-B9FD-8930A78E4FBE}"/>
              </a:ext>
            </a:extLst>
          </p:cNvPr>
          <p:cNvSpPr>
            <a:spLocks noGrp="1"/>
          </p:cNvSpPr>
          <p:nvPr/>
        </p:nvSpPr>
        <p:spPr>
          <a:xfrm>
            <a:off x="0" y="2990850"/>
            <a:ext cx="12192000" cy="3867150"/>
          </a:xfrm>
          <a:prstGeom prst="rect">
            <a:avLst/>
          </a:prstGeom>
          <a:solidFill>
            <a:srgbClr val="225E9B"/>
          </a:solidFill>
          <a:ln w="9525">
            <a:solidFill>
              <a:srgbClr val="225E9B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a16:creationId id="{496480CB-086A-47D9-AFFA-5626F4E1EBFA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476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FE3F3"/>
                </a:solidFill>
                <a:latin typeface="Aptos"/>
                <a:ea typeface="Aptos"/>
                <a:cs typeface="Aptos"/>
              </a:rPr>
              <a:t>DCC 2026 Paris workshop</a:t>
            </a:r>
          </a:p>
        </p:txBody>
      </p:sp>
      <p:sp>
        <p:nvSpPr>
          <p:cNvPr id="6" name="">
            <a:extLst>
              <a:ext uri="{FF2B5EF4-FFF2-40B4-BE49-F238E27FC236}">
                <a16:creationId id="{C769EE43-2DEC-41FA-948C-B79854741BE6}"/>
              </a:ext>
            </a:extLst>
          </p:cNvPr>
          <p:cNvSpPr>
            <a:spLocks noGrp="1"/>
          </p:cNvSpPr>
          <p:nvPr/>
        </p:nvSpPr>
        <p:spPr>
          <a:xfrm>
            <a:off x="742950" y="379095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Benchmarking AI for Engineering Design</a:t>
            </a:r>
          </a:p>
        </p:txBody>
      </p:sp>
      <p:sp>
        <p:nvSpPr>
          <p:cNvPr id="7" name="">
            <a:extLst>
              <a:ext uri="{FF2B5EF4-FFF2-40B4-BE49-F238E27FC236}">
                <a16:creationId id="{5F8874A9-9027-4D0F-81B1-79ABC99835A8}"/>
              </a:ext>
            </a:extLst>
          </p:cNvPr>
          <p:cNvSpPr>
            <a:spLocks noGrp="1"/>
          </p:cNvSpPr>
          <p:nvPr/>
        </p:nvSpPr>
        <p:spPr>
          <a:xfrm>
            <a:off x="781050" y="5124450"/>
            <a:ext cx="8001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A hands-on path from design-problem framing to generated-design evaluation</a:t>
            </a:r>
          </a:p>
        </p:txBody>
      </p:sp>
      <p:sp>
        <p:nvSpPr>
          <p:cNvPr id="8" name="">
            <a:extLst>
              <a:ext uri="{FF2B5EF4-FFF2-40B4-BE49-F238E27FC236}">
                <a16:creationId id="{63AD9B23-982F-40AF-ADB0-0204D992B53D}"/>
              </a:ext>
            </a:extLst>
          </p:cNvPr>
          <p:cNvSpPr>
            <a:spLocks noGrp="1"/>
          </p:cNvSpPr>
          <p:nvPr/>
        </p:nvSpPr>
        <p:spPr>
          <a:xfrm>
            <a:off x="781050" y="5791200"/>
            <a:ext cx="5905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3FA"/>
                </a:solidFill>
                <a:latin typeface="Aptos"/>
                <a:ea typeface="Aptos"/>
                <a:cs typeface="Aptos"/>
              </a:rPr>
              <a:t>Matthew Keeler, Soheyl Massoudi, Mark Fuge</a:t>
            </a:r>
          </a:p>
        </p:txBody>
      </p:sp>
      <p:sp>
        <p:nvSpPr>
          <p:cNvPr id="9" name="">
            <a:extLst>
              <a:ext uri="{FF2B5EF4-FFF2-40B4-BE49-F238E27FC236}">
                <a16:creationId id="{0FD2228E-B218-4F66-847A-478D0A6F415E}"/>
              </a:ext>
            </a:extLst>
          </p:cNvPr>
          <p:cNvSpPr>
            <a:spLocks noGrp="1"/>
          </p:cNvSpPr>
          <p:nvPr/>
        </p:nvSpPr>
        <p:spPr>
          <a:xfrm>
            <a:off x="781050" y="6076950"/>
            <a:ext cx="4095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Participant deck, simple notebook track</a:t>
            </a: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b4b178611b8e4c18"/>
          <a:stretch/>
        </p:blipFill>
        <p:spPr>
          <a:xfrm>
            <a:off x="9297847" y="5657850"/>
            <a:ext cx="1825905" cy="666750"/>
          </a:xfrm>
          <a:prstGeom prst="rect">
            <a:avLst/>
          </a:prstGeom>
        </p:spPr>
      </p:pic>
    </p:spTree>
    <p:extLst>
      <p:ext uri="{BB962C8B-B14F-4D97-AF65-F5344CB8AC3E}">
        <p14:creationId val="1556116103"/>
      </p:ext>
    </p:extLst>
  </p:cSld>
</p:sld>
</file>

<file path=ppt/slides/slide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90468E9B-532D-430F-AB5E-9BE896B2F8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7C5E32A6-DA19-45EF-94E8-BD7995D1E8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665F37D5-2572-4BBC-8E24-C7F48FBF14F8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5" name="">
            <a:extLst>
              <a:ext uri="{FF2B5EF4-FFF2-40B4-BE49-F238E27FC236}">
                <a16:creationId id="{02C2E772-6DF0-442B-AD8E-1E528AB89288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53CB157E-ED93-4968-A096-8D736EE14327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Why this workshop exists</a:t>
            </a:r>
          </a:p>
        </p:txBody>
      </p:sp>
      <p:sp>
        <p:nvSpPr>
          <p:cNvPr id="7" name="">
            <a:extLst>
              <a:ext uri="{FF2B5EF4-FFF2-40B4-BE49-F238E27FC236}">
                <a16:creationId id="{C2FB72CC-8C37-4B75-A2E7-7868BC4920B4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1219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Engineering design ML cannot become cumulative if every paper quietly changes the problem.</a:t>
            </a:r>
          </a:p>
        </p:txBody>
      </p:sp>
      <p:sp>
        <p:nvSpPr>
          <p:cNvPr id="8" name="">
            <a:extLst>
              <a:ext uri="{FF2B5EF4-FFF2-40B4-BE49-F238E27FC236}">
                <a16:creationId id="{243B8D7D-87D0-4154-B9E2-7F0F8C4733B1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9334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A model comparison is only meaningful when the design space, conditions, constraints, simulator, baseline, and metrics are visible enough for another lab to rerun.</a:t>
            </a:r>
          </a:p>
        </p:txBody>
      </p:sp>
      <p:sp>
        <p:nvSpPr>
          <p:cNvPr id="9" name="">
            <a:extLst>
              <a:ext uri="{FF2B5EF4-FFF2-40B4-BE49-F238E27FC236}">
                <a16:creationId id="{16847490-10DE-45EA-B290-2EE1F23320B2}"/>
              </a:ext>
            </a:extLst>
          </p:cNvPr>
          <p:cNvSpPr>
            <a:spLocks noGrp="1"/>
          </p:cNvSpPr>
          <p:nvPr/>
        </p:nvSpPr>
        <p:spPr>
          <a:xfrm>
            <a:off x="723900" y="2990850"/>
            <a:ext cx="314325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E4730280-DE4F-4E5A-9378-B0ED36460DA6}"/>
              </a:ext>
            </a:extLst>
          </p:cNvPr>
          <p:cNvSpPr>
            <a:spLocks noGrp="1"/>
          </p:cNvSpPr>
          <p:nvPr/>
        </p:nvSpPr>
        <p:spPr>
          <a:xfrm>
            <a:off x="952500" y="3276600"/>
            <a:ext cx="49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C84837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C8483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">
            <a:extLst>
              <a:ext uri="{FF2B5EF4-FFF2-40B4-BE49-F238E27FC236}">
                <a16:creationId id="{729D10D1-98B9-48CF-AA7A-DA4CBDD25382}"/>
              </a:ext>
            </a:extLst>
          </p:cNvPr>
          <p:cNvSpPr>
            <a:spLocks noGrp="1"/>
          </p:cNvSpPr>
          <p:nvPr/>
        </p:nvSpPr>
        <p:spPr>
          <a:xfrm>
            <a:off x="1543050" y="3314700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8483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4837"/>
                </a:solidFill>
                <a:latin typeface="Aptos"/>
                <a:ea typeface="Aptos"/>
                <a:cs typeface="Aptos"/>
              </a:rPr>
              <a:t>Hidden setup choices</a:t>
            </a:r>
          </a:p>
        </p:txBody>
      </p:sp>
      <p:sp>
        <p:nvSpPr>
          <p:cNvPr id="12" name="">
            <a:extLst>
              <a:ext uri="{FF2B5EF4-FFF2-40B4-BE49-F238E27FC236}">
                <a16:creationId id="{20ACD323-0134-40F1-801B-2EC024BFB4B7}"/>
              </a:ext>
            </a:extLst>
          </p:cNvPr>
          <p:cNvSpPr>
            <a:spLocks noGrp="1"/>
          </p:cNvSpPr>
          <p:nvPr/>
        </p:nvSpPr>
        <p:spPr>
          <a:xfrm>
            <a:off x="971550" y="3886200"/>
            <a:ext cx="26479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Two methods may appear comparable while using different constraints, solvers, tolerances, or condition distributions.</a:t>
            </a:r>
          </a:p>
        </p:txBody>
      </p:sp>
      <p:sp>
        <p:nvSpPr>
          <p:cNvPr id="13" name="">
            <a:extLst>
              <a:ext uri="{FF2B5EF4-FFF2-40B4-BE49-F238E27FC236}">
                <a16:creationId id="{5E831CD8-6E7A-4CAF-B82E-4693B8ED4252}"/>
              </a:ext>
            </a:extLst>
          </p:cNvPr>
          <p:cNvSpPr>
            <a:spLocks noGrp="1"/>
          </p:cNvSpPr>
          <p:nvPr/>
        </p:nvSpPr>
        <p:spPr>
          <a:xfrm>
            <a:off x="4400550" y="2990850"/>
            <a:ext cx="314325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3836FFAB-CC07-4D72-B4CD-C5B4CFCCAA35}"/>
              </a:ext>
            </a:extLst>
          </p:cNvPr>
          <p:cNvSpPr>
            <a:spLocks noGrp="1"/>
          </p:cNvSpPr>
          <p:nvPr/>
        </p:nvSpPr>
        <p:spPr>
          <a:xfrm>
            <a:off x="4629150" y="3276600"/>
            <a:ext cx="49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C47B2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C47B2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id="{C1634FDF-A507-4461-8C6D-F6F4063B0796}"/>
              </a:ext>
            </a:extLst>
          </p:cNvPr>
          <p:cNvSpPr>
            <a:spLocks noGrp="1"/>
          </p:cNvSpPr>
          <p:nvPr/>
        </p:nvSpPr>
        <p:spPr>
          <a:xfrm>
            <a:off x="5219700" y="3314700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47B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47B20"/>
                </a:solidFill>
                <a:latin typeface="Aptos"/>
                <a:ea typeface="Aptos"/>
                <a:cs typeface="Aptos"/>
              </a:rPr>
              <a:t>Plausible-looking failures</a:t>
            </a:r>
          </a:p>
        </p:txBody>
      </p:sp>
      <p:sp>
        <p:nvSpPr>
          <p:cNvPr id="16" name="">
            <a:extLst>
              <a:ext uri="{FF2B5EF4-FFF2-40B4-BE49-F238E27FC236}">
                <a16:creationId id="{96FBC968-A358-4A19-B4D6-1744B3AF9A48}"/>
              </a:ext>
            </a:extLst>
          </p:cNvPr>
          <p:cNvSpPr>
            <a:spLocks noGrp="1"/>
          </p:cNvSpPr>
          <p:nvPr/>
        </p:nvSpPr>
        <p:spPr>
          <a:xfrm>
            <a:off x="4648200" y="3886200"/>
            <a:ext cx="26479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Generated geometries can look convincing to the eye and still violate rules or lose after simulation.</a:t>
            </a:r>
          </a:p>
        </p:txBody>
      </p:sp>
      <p:sp>
        <p:nvSpPr>
          <p:cNvPr id="17" name="">
            <a:extLst>
              <a:ext uri="{FF2B5EF4-FFF2-40B4-BE49-F238E27FC236}">
                <a16:creationId id="{8198B60A-F24B-4428-95A3-A327F38F8BE4}"/>
              </a:ext>
            </a:extLst>
          </p:cNvPr>
          <p:cNvSpPr>
            <a:spLocks noGrp="1"/>
          </p:cNvSpPr>
          <p:nvPr/>
        </p:nvSpPr>
        <p:spPr>
          <a:xfrm>
            <a:off x="8077200" y="2990850"/>
            <a:ext cx="3143250" cy="179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59EAEA17-6E5C-4B66-A82C-7E9E74ACFB24}"/>
              </a:ext>
            </a:extLst>
          </p:cNvPr>
          <p:cNvSpPr>
            <a:spLocks noGrp="1"/>
          </p:cNvSpPr>
          <p:nvPr/>
        </p:nvSpPr>
        <p:spPr>
          <a:xfrm>
            <a:off x="8305800" y="3276600"/>
            <a:ext cx="49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>
              <a:ext uri="{FF2B5EF4-FFF2-40B4-BE49-F238E27FC236}">
                <a16:creationId id="{37A65B4B-0AD9-4DC8-A035-3DD8266E9393}"/>
              </a:ext>
            </a:extLst>
          </p:cNvPr>
          <p:cNvSpPr>
            <a:spLocks noGrp="1"/>
          </p:cNvSpPr>
          <p:nvPr/>
        </p:nvSpPr>
        <p:spPr>
          <a:xfrm>
            <a:off x="8896350" y="3314700"/>
            <a:ext cx="19621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Hard-to-reuse results</a:t>
            </a:r>
          </a:p>
        </p:txBody>
      </p:sp>
      <p:sp>
        <p:nvSpPr>
          <p:cNvPr id="20" name="">
            <a:extLst>
              <a:ext uri="{FF2B5EF4-FFF2-40B4-BE49-F238E27FC236}">
                <a16:creationId id="{73A6428E-A8F5-49DA-B98D-623A626D4E34}"/>
              </a:ext>
            </a:extLst>
          </p:cNvPr>
          <p:cNvSpPr>
            <a:spLocks noGrp="1"/>
          </p:cNvSpPr>
          <p:nvPr/>
        </p:nvSpPr>
        <p:spPr>
          <a:xfrm>
            <a:off x="8324850" y="3886200"/>
            <a:ext cx="264795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If the task contract is implicit, another group cannot know whether they improved the method or changed the problem.</a:t>
            </a:r>
          </a:p>
        </p:txBody>
      </p:sp>
      <p:sp>
        <p:nvSpPr>
          <p:cNvPr id="21" name="">
            <a:extLst>
              <a:ext uri="{FF2B5EF4-FFF2-40B4-BE49-F238E27FC236}">
                <a16:creationId id="{6A2EB2AB-2609-43A7-8957-00AA14420C10}"/>
              </a:ext>
            </a:extLst>
          </p:cNvPr>
          <p:cNvSpPr>
            <a:spLocks noGrp="1"/>
          </p:cNvSpPr>
          <p:nvPr/>
        </p:nvSpPr>
        <p:spPr>
          <a:xfrm>
            <a:off x="1657350" y="5410200"/>
            <a:ext cx="8877300" cy="552450"/>
          </a:xfrm>
          <a:prstGeom prst="rect">
            <a:avLst/>
          </a:prstGeom>
          <a:solidFill>
            <a:srgbClr val="225E9B"/>
          </a:solidFill>
          <a:ln w="9525">
            <a:solidFill>
              <a:srgbClr val="225E9B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a16:creationId id="{8B3999AF-B9E0-4D29-AC0D-2B3480BB1642}"/>
              </a:ext>
            </a:extLst>
          </p:cNvPr>
          <p:cNvSpPr>
            <a:spLocks noGrp="1"/>
          </p:cNvSpPr>
          <p:nvPr/>
        </p:nvSpPr>
        <p:spPr>
          <a:xfrm>
            <a:off x="2057400" y="5581650"/>
            <a:ext cx="807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workshop gives you a practical language for making these choices explicit.</a:t>
            </a:r>
          </a:p>
        </p:txBody>
      </p:sp>
    </p:spTree>
    <p:extLst>
      <p:ext uri="{BB962C8B-B14F-4D97-AF65-F5344CB8AC3E}">
        <p14:creationId val="256626384"/>
      </p:ext>
    </p:extLst>
  </p:cSld>
</p:sld>
</file>

<file path=ppt/slides/slide3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B111B3BE-C285-4978-8736-F519E3A736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DDA21D2C-4FD4-4FE1-900C-28EB9C4277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B2BD7869-96EA-4B8A-AC1D-E4A50FDE7241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5" name="">
            <a:extLst>
              <a:ext uri="{FF2B5EF4-FFF2-40B4-BE49-F238E27FC236}">
                <a16:creationId id="{3CD3D256-D7A0-4175-8EA2-B01481DA6A94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F3B300E8-DBC7-4D40-B26C-E3EC2971ED3F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What you should leave believing</a:t>
            </a:r>
          </a:p>
        </p:txBody>
      </p:sp>
      <p:sp>
        <p:nvSpPr>
          <p:cNvPr id="7" name="">
            <a:extLst>
              <a:ext uri="{FF2B5EF4-FFF2-40B4-BE49-F238E27FC236}">
                <a16:creationId id="{B78CFB22-404A-4B3A-A69D-E504A7E31225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1028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A benchmark is not just a leaderboard. It is a way to make design claims reproducible.</a:t>
            </a:r>
          </a:p>
        </p:txBody>
      </p:sp>
      <p:sp>
        <p:nvSpPr>
          <p:cNvPr id="8" name="">
            <a:extLst>
              <a:ext uri="{FF2B5EF4-FFF2-40B4-BE49-F238E27FC236}">
                <a16:creationId id="{CE3668D0-BFF8-4E92-87F8-7021AE189D0D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98107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The red line of the workshop is simple: make the engineering task explicit, then use the same executable contract to train, evaluate, diagnose, and transfer ideas to your own domain.</a:t>
            </a:r>
          </a:p>
        </p:txBody>
      </p:sp>
      <p:sp>
        <p:nvSpPr>
          <p:cNvPr id="9" name="">
            <a:extLst>
              <a:ext uri="{FF2B5EF4-FFF2-40B4-BE49-F238E27FC236}">
                <a16:creationId id="{3456DEA6-A5C2-4FD8-B866-62655B6ECDB5}"/>
              </a:ext>
            </a:extLst>
          </p:cNvPr>
          <p:cNvSpPr>
            <a:spLocks noGrp="1"/>
          </p:cNvSpPr>
          <p:nvPr/>
        </p:nvSpPr>
        <p:spPr>
          <a:xfrm>
            <a:off x="1200150" y="2914650"/>
            <a:ext cx="952500" cy="5524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4E296464-426E-4183-A2FB-12CF9F00F42B}"/>
              </a:ext>
            </a:extLst>
          </p:cNvPr>
          <p:cNvSpPr>
            <a:spLocks noGrp="1"/>
          </p:cNvSpPr>
          <p:nvPr/>
        </p:nvSpPr>
        <p:spPr>
          <a:xfrm>
            <a:off x="1200150" y="3028950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>
              <a:ext uri="{FF2B5EF4-FFF2-40B4-BE49-F238E27FC236}">
                <a16:creationId id="{47E67AF6-41DF-455F-81B8-4418437909C4}"/>
              </a:ext>
            </a:extLst>
          </p:cNvPr>
          <p:cNvSpPr>
            <a:spLocks noGrp="1"/>
          </p:cNvSpPr>
          <p:nvPr/>
        </p:nvSpPr>
        <p:spPr>
          <a:xfrm>
            <a:off x="2495550" y="2933700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Make the task explicit</a:t>
            </a:r>
          </a:p>
        </p:txBody>
      </p:sp>
      <p:sp>
        <p:nvSpPr>
          <p:cNvPr id="12" name="">
            <a:extLst>
              <a:ext uri="{FF2B5EF4-FFF2-40B4-BE49-F238E27FC236}">
                <a16:creationId id="{9F2A3FE8-B007-420C-9435-BB9B93F4D15B}"/>
              </a:ext>
            </a:extLst>
          </p:cNvPr>
          <p:cNvSpPr>
            <a:spLocks noGrp="1"/>
          </p:cNvSpPr>
          <p:nvPr/>
        </p:nvSpPr>
        <p:spPr>
          <a:xfrm>
            <a:off x="2495550" y="3257550"/>
            <a:ext cx="723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Design space, conditions, objectives, constraints, simulator, and baseline live in one interface.</a:t>
            </a:r>
          </a:p>
        </p:txBody>
      </p:sp>
      <p:sp>
        <p:nvSpPr>
          <p:cNvPr id="13" name="">
            <a:extLst>
              <a:ext uri="{FF2B5EF4-FFF2-40B4-BE49-F238E27FC236}">
                <a16:creationId id="{AF5B88AC-91E7-4904-BD4D-AC86EDD6D5EF}"/>
              </a:ext>
            </a:extLst>
          </p:cNvPr>
          <p:cNvSpPr>
            <a:spLocks noGrp="1"/>
          </p:cNvSpPr>
          <p:nvPr/>
        </p:nvSpPr>
        <p:spPr>
          <a:xfrm>
            <a:off x="1200150" y="3829050"/>
            <a:ext cx="9525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B4D7BE0E-1C9D-4500-8569-95330948716E}"/>
              </a:ext>
            </a:extLst>
          </p:cNvPr>
          <p:cNvSpPr>
            <a:spLocks noGrp="1"/>
          </p:cNvSpPr>
          <p:nvPr/>
        </p:nvSpPr>
        <p:spPr>
          <a:xfrm>
            <a:off x="1200150" y="3943350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id="{C5DA2A54-B009-431F-AC34-CB8FDC0345FE}"/>
              </a:ext>
            </a:extLst>
          </p:cNvPr>
          <p:cNvSpPr>
            <a:spLocks noGrp="1"/>
          </p:cNvSpPr>
          <p:nvPr/>
        </p:nvSpPr>
        <p:spPr>
          <a:xfrm>
            <a:off x="2495550" y="3848100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Diagnose model behavior</a:t>
            </a:r>
          </a:p>
        </p:txBody>
      </p:sp>
      <p:sp>
        <p:nvSpPr>
          <p:cNvPr id="16" name="">
            <a:extLst>
              <a:ext uri="{FF2B5EF4-FFF2-40B4-BE49-F238E27FC236}">
                <a16:creationId id="{FF51AFB7-0CDE-40C6-AE66-E07C92ED7BB5}"/>
              </a:ext>
            </a:extLst>
          </p:cNvPr>
          <p:cNvSpPr>
            <a:spLocks noGrp="1"/>
          </p:cNvSpPr>
          <p:nvPr/>
        </p:nvSpPr>
        <p:spPr>
          <a:xfrm>
            <a:off x="2495550" y="4171950"/>
            <a:ext cx="723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Evaluation tells you whether a generator is feasible, useful, diverse, and helpful for optimization.</a:t>
            </a:r>
          </a:p>
        </p:txBody>
      </p:sp>
      <p:sp>
        <p:nvSpPr>
          <p:cNvPr id="17" name="">
            <a:extLst>
              <a:ext uri="{FF2B5EF4-FFF2-40B4-BE49-F238E27FC236}">
                <a16:creationId id="{7FEB4DF6-3FE5-4CB8-80C3-6CCA07A88500}"/>
              </a:ext>
            </a:extLst>
          </p:cNvPr>
          <p:cNvSpPr>
            <a:spLocks noGrp="1"/>
          </p:cNvSpPr>
          <p:nvPr/>
        </p:nvSpPr>
        <p:spPr>
          <a:xfrm>
            <a:off x="1200150" y="4743450"/>
            <a:ext cx="952500" cy="5524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387A22BC-4BD0-425C-B60B-2669654906D3}"/>
              </a:ext>
            </a:extLst>
          </p:cNvPr>
          <p:cNvSpPr>
            <a:spLocks noGrp="1"/>
          </p:cNvSpPr>
          <p:nvPr/>
        </p:nvSpPr>
        <p:spPr>
          <a:xfrm>
            <a:off x="1200150" y="4857750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C47B2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C47B2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>
              <a:ext uri="{FF2B5EF4-FFF2-40B4-BE49-F238E27FC236}">
                <a16:creationId id="{61B68516-26A6-4099-A209-C05EAFCEB717}"/>
              </a:ext>
            </a:extLst>
          </p:cNvPr>
          <p:cNvSpPr>
            <a:spLocks noGrp="1"/>
          </p:cNvSpPr>
          <p:nvPr/>
        </p:nvSpPr>
        <p:spPr>
          <a:xfrm>
            <a:off x="2495550" y="4762500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C47B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47B20"/>
                </a:solidFill>
                <a:latin typeface="Aptos"/>
                <a:ea typeface="Aptos"/>
                <a:cs typeface="Aptos"/>
              </a:rPr>
              <a:t>Carry it back to your lab</a:t>
            </a:r>
          </a:p>
        </p:txBody>
      </p:sp>
      <p:sp>
        <p:nvSpPr>
          <p:cNvPr id="20" name="">
            <a:extLst>
              <a:ext uri="{FF2B5EF4-FFF2-40B4-BE49-F238E27FC236}">
                <a16:creationId id="{26BE5744-A643-4792-AD73-079AA8C8FA7F}"/>
              </a:ext>
            </a:extLst>
          </p:cNvPr>
          <p:cNvSpPr>
            <a:spLocks noGrp="1"/>
          </p:cNvSpPr>
          <p:nvPr/>
        </p:nvSpPr>
        <p:spPr>
          <a:xfrm>
            <a:off x="2495550" y="5086350"/>
            <a:ext cx="7239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The same pattern lets you sketch a benchmark for your own engineering domain.</a:t>
            </a:r>
          </a:p>
        </p:txBody>
      </p:sp>
      <p:sp>
        <p:nvSpPr>
          <p:cNvPr id="21" name="">
            <a:extLst>
              <a:ext uri="{FF2B5EF4-FFF2-40B4-BE49-F238E27FC236}">
                <a16:creationId id="{E739B713-C06E-42ED-9A0A-7034892A6110}"/>
              </a:ext>
            </a:extLst>
          </p:cNvPr>
          <p:cNvSpPr>
            <a:spLocks noGrp="1"/>
          </p:cNvSpPr>
          <p:nvPr/>
        </p:nvSpPr>
        <p:spPr>
          <a:xfrm>
            <a:off x="1409700" y="5848350"/>
            <a:ext cx="93726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By the end, you should be able to ask: what exactly was benchmarked, and can I reuse it?</a:t>
            </a:r>
          </a:p>
        </p:txBody>
      </p:sp>
    </p:spTree>
    <p:extLst>
      <p:ext uri="{BB962C8B-B14F-4D97-AF65-F5344CB8AC3E}">
        <p14:creationId val="1715442026"/>
      </p:ext>
    </p:extLst>
  </p:cSld>
</p:sld>
</file>

<file path=ppt/slides/slide4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434FA4BF-1F2E-4F23-BF9D-3128770AA5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B4F8F0C6-D4A2-4F60-A32C-9939EC759C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6E2C4D12-C2DE-457B-8E60-7C8839FED400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Workshop path</a:t>
            </a:r>
          </a:p>
        </p:txBody>
      </p:sp>
      <p:sp>
        <p:nvSpPr>
          <p:cNvPr id="5" name="">
            <a:extLst>
              <a:ext uri="{FF2B5EF4-FFF2-40B4-BE49-F238E27FC236}">
                <a16:creationId id="{44E5277F-C6B6-4E4A-AA4A-A890EBA40148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6639EBAC-1B7D-42FC-83C8-9B963B0D5677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What you will do today</a:t>
            </a:r>
          </a:p>
        </p:txBody>
      </p:sp>
      <p:sp>
        <p:nvSpPr>
          <p:cNvPr id="7" name="">
            <a:extLst>
              <a:ext uri="{FF2B5EF4-FFF2-40B4-BE49-F238E27FC236}">
                <a16:creationId id="{B0F3169B-352E-40DB-96BA-142357E90DE0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1028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You will turn that motivation into four simple notebooks.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6394ca6d1857444f"/>
          <a:stretch/>
        </p:blipFill>
        <p:spPr>
          <a:xfrm>
            <a:off x="1381821" y="2076450"/>
            <a:ext cx="9428358" cy="2876550"/>
          </a:xfrm>
          <a:prstGeom prst="rect">
            <a:avLst/>
          </a:prstGeom>
        </p:spPr>
      </p:pic>
      <p:sp>
        <p:nvSpPr>
          <p:cNvPr id="9" name="">
            <a:extLst>
              <a:ext uri="{FF2B5EF4-FFF2-40B4-BE49-F238E27FC236}">
                <a16:creationId id="{E63A761A-17A0-43F1-8471-D0AB09416C68}"/>
              </a:ext>
            </a:extLst>
          </p:cNvPr>
          <p:cNvSpPr>
            <a:spLocks noGrp="1"/>
          </p:cNvSpPr>
          <p:nvPr/>
        </p:nvSpPr>
        <p:spPr>
          <a:xfrm>
            <a:off x="2571750" y="5619750"/>
            <a:ext cx="7048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The simple notebook track is the main participant path.</a:t>
            </a:r>
          </a:p>
        </p:txBody>
      </p:sp>
    </p:spTree>
    <p:extLst>
      <p:ext uri="{BB962C8B-B14F-4D97-AF65-F5344CB8AC3E}">
        <p14:creationId val="363595513"/>
      </p:ext>
    </p:extLst>
  </p:cSld>
</p:sld>
</file>

<file path=ppt/slides/slide5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D532F0E4-6127-42FF-9104-8102063FFF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333F0E6D-189C-4A2D-99EF-D7DADE67D5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D13C6E18-8600-40B0-89B0-DCC43F17DED2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Why benchmark?</a:t>
            </a:r>
          </a:p>
        </p:txBody>
      </p:sp>
      <p:sp>
        <p:nvSpPr>
          <p:cNvPr id="5" name="">
            <a:extLst>
              <a:ext uri="{FF2B5EF4-FFF2-40B4-BE49-F238E27FC236}">
                <a16:creationId id="{F1262040-D1CE-462D-8BB4-1E3B5F1B062F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DB28FA7B-E31B-495B-8DD2-8C7C3F61BF46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Why benchmark before modeling?</a:t>
            </a:r>
          </a:p>
        </p:txBody>
      </p:sp>
      <p:sp>
        <p:nvSpPr>
          <p:cNvPr id="7" name="">
            <a:extLst>
              <a:ext uri="{FF2B5EF4-FFF2-40B4-BE49-F238E27FC236}">
                <a16:creationId id="{A8E0E98E-B065-4F3C-95C1-3D148CCF7C96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Before asking which AI method wins, make sure everyone is solving the same design problem.</a:t>
            </a:r>
          </a:p>
        </p:txBody>
      </p:sp>
      <p:sp>
        <p:nvSpPr>
          <p:cNvPr id="8" name="">
            <a:extLst>
              <a:ext uri="{FF2B5EF4-FFF2-40B4-BE49-F238E27FC236}">
                <a16:creationId id="{34A1D411-A338-459D-94CB-DBC0C19BC76F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31432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pic>
        <p:nvPicPr>
          <p:cNvPr id="9" name=""/>
          <p:cNvPicPr>
            <a:picLocks noChangeAspect="1"/>
          </p:cNvPicPr>
          <p:nvPr/>
        </p:nvPicPr>
        <p:blipFill>
          <a:blip r:embed="Rb570485602824b6e"/>
          <a:stretch/>
        </p:blipFill>
        <p:spPr>
          <a:xfrm>
            <a:off x="1520825" y="2305050"/>
            <a:ext cx="1473200" cy="1104900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a16:creationId id="{902AD462-629F-4C61-BB70-B4CF1C462A92}"/>
              </a:ext>
            </a:extLst>
          </p:cNvPr>
          <p:cNvSpPr>
            <a:spLocks noGrp="1"/>
          </p:cNvSpPr>
          <p:nvPr/>
        </p:nvSpPr>
        <p:spPr>
          <a:xfrm>
            <a:off x="933450" y="3600450"/>
            <a:ext cx="26479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Same-looking tasks</a:t>
            </a:r>
          </a:p>
        </p:txBody>
      </p:sp>
      <p:sp>
        <p:nvSpPr>
          <p:cNvPr id="11" name="">
            <a:extLst>
              <a:ext uri="{FF2B5EF4-FFF2-40B4-BE49-F238E27FC236}">
                <a16:creationId id="{2A9CEEF5-EE4A-4877-B2EA-96F474F468C8}"/>
              </a:ext>
            </a:extLst>
          </p:cNvPr>
          <p:cNvSpPr>
            <a:spLocks noGrp="1"/>
          </p:cNvSpPr>
          <p:nvPr/>
        </p:nvSpPr>
        <p:spPr>
          <a:xfrm>
            <a:off x="933450" y="3981450"/>
            <a:ext cx="2647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Different papers may change conditions, simulators, or constraints without making the change visible.</a:t>
            </a:r>
          </a:p>
        </p:txBody>
      </p:sp>
      <p:sp>
        <p:nvSpPr>
          <p:cNvPr id="12" name="">
            <a:extLst>
              <a:ext uri="{FF2B5EF4-FFF2-40B4-BE49-F238E27FC236}">
                <a16:creationId id="{721D0E8D-CFA5-49D6-BC03-3E58F8375955}"/>
              </a:ext>
            </a:extLst>
          </p:cNvPr>
          <p:cNvSpPr>
            <a:spLocks noGrp="1"/>
          </p:cNvSpPr>
          <p:nvPr/>
        </p:nvSpPr>
        <p:spPr>
          <a:xfrm>
            <a:off x="4438650" y="2095500"/>
            <a:ext cx="31432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a95c98eec79c4579"/>
          <a:stretch/>
        </p:blipFill>
        <p:spPr>
          <a:xfrm>
            <a:off x="4905375" y="2305050"/>
            <a:ext cx="2209800" cy="1104900"/>
          </a:xfrm>
          <a:prstGeom prst="rect">
            <a:avLst/>
          </a:prstGeom>
        </p:spPr>
      </p:pic>
      <p:sp>
        <p:nvSpPr>
          <p:cNvPr id="14" name="">
            <a:extLst>
              <a:ext uri="{FF2B5EF4-FFF2-40B4-BE49-F238E27FC236}">
                <a16:creationId id="{A4BD0972-B653-40AD-A4FA-E188FF447A46}"/>
              </a:ext>
            </a:extLst>
          </p:cNvPr>
          <p:cNvSpPr>
            <a:spLocks noGrp="1"/>
          </p:cNvSpPr>
          <p:nvPr/>
        </p:nvSpPr>
        <p:spPr>
          <a:xfrm>
            <a:off x="4686300" y="3600450"/>
            <a:ext cx="26479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8483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4837"/>
                </a:solidFill>
                <a:latin typeface="Aptos"/>
                <a:ea typeface="Aptos"/>
                <a:cs typeface="Aptos"/>
              </a:rPr>
              <a:t>Same-looking designs</a:t>
            </a:r>
          </a:p>
        </p:txBody>
      </p:sp>
      <p:sp>
        <p:nvSpPr>
          <p:cNvPr id="15" name="">
            <a:extLst>
              <a:ext uri="{FF2B5EF4-FFF2-40B4-BE49-F238E27FC236}">
                <a16:creationId id="{E1CDBAF1-B477-435F-8A84-44DF513C0839}"/>
              </a:ext>
            </a:extLst>
          </p:cNvPr>
          <p:cNvSpPr>
            <a:spLocks noGrp="1"/>
          </p:cNvSpPr>
          <p:nvPr/>
        </p:nvSpPr>
        <p:spPr>
          <a:xfrm>
            <a:off x="4686300" y="3981450"/>
            <a:ext cx="2647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A generated design can look reasonable while breaking engineering rules.</a:t>
            </a:r>
          </a:p>
        </p:txBody>
      </p:sp>
      <p:sp>
        <p:nvSpPr>
          <p:cNvPr id="16" name="">
            <a:extLst>
              <a:ext uri="{FF2B5EF4-FFF2-40B4-BE49-F238E27FC236}">
                <a16:creationId id="{27441911-3D79-472E-BE81-B4AFD7824747}"/>
              </a:ext>
            </a:extLst>
          </p:cNvPr>
          <p:cNvSpPr>
            <a:spLocks noGrp="1"/>
          </p:cNvSpPr>
          <p:nvPr/>
        </p:nvSpPr>
        <p:spPr>
          <a:xfrm>
            <a:off x="8191500" y="2095500"/>
            <a:ext cx="31432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pic>
        <p:nvPicPr>
          <p:cNvPr id="17" name=""/>
          <p:cNvPicPr>
            <a:picLocks noChangeAspect="1"/>
          </p:cNvPicPr>
          <p:nvPr/>
        </p:nvPicPr>
        <p:blipFill>
          <a:blip r:embed="Rbc41d1d52ea647e4"/>
          <a:stretch/>
        </p:blipFill>
        <p:spPr>
          <a:xfrm>
            <a:off x="9187876" y="2305050"/>
            <a:ext cx="1150497" cy="1104900"/>
          </a:xfrm>
          <a:prstGeom prst="rect">
            <a:avLst/>
          </a:prstGeom>
        </p:spPr>
      </p:pic>
      <p:sp>
        <p:nvSpPr>
          <p:cNvPr id="18" name="">
            <a:extLst>
              <a:ext uri="{FF2B5EF4-FFF2-40B4-BE49-F238E27FC236}">
                <a16:creationId id="{1CD8A3DA-9394-4AEE-8CC5-B23A835CD8AE}"/>
              </a:ext>
            </a:extLst>
          </p:cNvPr>
          <p:cNvSpPr>
            <a:spLocks noGrp="1"/>
          </p:cNvSpPr>
          <p:nvPr/>
        </p:nvSpPr>
        <p:spPr>
          <a:xfrm>
            <a:off x="8439150" y="3600450"/>
            <a:ext cx="26479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7B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7B20"/>
                </a:solidFill>
                <a:latin typeface="Aptos"/>
                <a:ea typeface="Aptos"/>
                <a:cs typeface="Aptos"/>
              </a:rPr>
              <a:t>Same-looking scores</a:t>
            </a:r>
          </a:p>
        </p:txBody>
      </p:sp>
      <p:sp>
        <p:nvSpPr>
          <p:cNvPr id="19" name="">
            <a:extLst>
              <a:ext uri="{FF2B5EF4-FFF2-40B4-BE49-F238E27FC236}">
                <a16:creationId id="{1314593C-E8DF-4572-90A2-706F03F29499}"/>
              </a:ext>
            </a:extLst>
          </p:cNvPr>
          <p:cNvSpPr>
            <a:spLocks noGrp="1"/>
          </p:cNvSpPr>
          <p:nvPr/>
        </p:nvSpPr>
        <p:spPr>
          <a:xfrm>
            <a:off x="8439150" y="3981450"/>
            <a:ext cx="2647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A single objective value can hide feasibility, diversity, and usefulness for optimization.</a:t>
            </a:r>
          </a:p>
        </p:txBody>
      </p:sp>
      <p:sp>
        <p:nvSpPr>
          <p:cNvPr id="20" name="">
            <a:extLst>
              <a:ext uri="{FF2B5EF4-FFF2-40B4-BE49-F238E27FC236}">
                <a16:creationId id="{2F9AF78C-3E6D-4C03-B119-9521F62FE555}"/>
              </a:ext>
            </a:extLst>
          </p:cNvPr>
          <p:cNvSpPr>
            <a:spLocks noGrp="1"/>
          </p:cNvSpPr>
          <p:nvPr/>
        </p:nvSpPr>
        <p:spPr>
          <a:xfrm>
            <a:off x="2571750" y="5429250"/>
            <a:ext cx="7048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Today, you will make those hidden choices explicit.</a:t>
            </a:r>
          </a:p>
        </p:txBody>
      </p:sp>
    </p:spTree>
    <p:extLst>
      <p:ext uri="{BB962C8B-B14F-4D97-AF65-F5344CB8AC3E}">
        <p14:creationId val="1974489099"/>
      </p:ext>
    </p:extLst>
  </p:cSld>
</p:sld>
</file>

<file path=ppt/slides/slide6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691FFE39-5D00-4B6B-BD7B-0D30A7EFEE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7221DB6F-17ED-416E-9B20-B1561784CB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0B90C19E-AF4B-4F46-AC53-66D389BDA7CF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Benchmark mental model</a:t>
            </a:r>
          </a:p>
        </p:txBody>
      </p:sp>
      <p:sp>
        <p:nvSpPr>
          <p:cNvPr id="5" name="">
            <a:extLst>
              <a:ext uri="{FF2B5EF4-FFF2-40B4-BE49-F238E27FC236}">
                <a16:creationId id="{279BC6EC-0DF3-453F-93B5-B0C3A9F9B757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4A14AA0B-3BC5-45DE-8D7E-9C1DF9E10263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Benchmark mental model</a:t>
            </a:r>
          </a:p>
        </p:txBody>
      </p:sp>
      <p:sp>
        <p:nvSpPr>
          <p:cNvPr id="7" name="">
            <a:extLst>
              <a:ext uri="{FF2B5EF4-FFF2-40B4-BE49-F238E27FC236}">
                <a16:creationId id="{83FF98BC-3AE6-487D-ABC3-1CFA65EDD7C5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A benchmark records the design task, not only the dataset.</a:t>
            </a:r>
          </a:p>
        </p:txBody>
      </p:sp>
      <p:sp>
        <p:nvSpPr>
          <p:cNvPr id="8" name="">
            <a:extLst>
              <a:ext uri="{FF2B5EF4-FFF2-40B4-BE49-F238E27FC236}">
                <a16:creationId id="{A492B106-8248-4D26-98CA-4A1EC4315044}"/>
              </a:ext>
            </a:extLst>
          </p:cNvPr>
          <p:cNvSpPr>
            <a:spLocks noGrp="1"/>
          </p:cNvSpPr>
          <p:nvPr/>
        </p:nvSpPr>
        <p:spPr>
          <a:xfrm>
            <a:off x="1123950" y="224790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AD8A6589-7214-46CB-B61C-4E9ECFA49E1D}"/>
              </a:ext>
            </a:extLst>
          </p:cNvPr>
          <p:cNvSpPr>
            <a:spLocks noGrp="1"/>
          </p:cNvSpPr>
          <p:nvPr/>
        </p:nvSpPr>
        <p:spPr>
          <a:xfrm>
            <a:off x="1238250" y="2352675"/>
            <a:ext cx="1771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design space</a:t>
            </a:r>
          </a:p>
        </p:txBody>
      </p:sp>
      <p:sp>
        <p:nvSpPr>
          <p:cNvPr id="10" name="">
            <a:extLst>
              <a:ext uri="{FF2B5EF4-FFF2-40B4-BE49-F238E27FC236}">
                <a16:creationId id="{38BF1DA0-DCE8-405A-A5B7-B4BB9DF589F8}"/>
              </a:ext>
            </a:extLst>
          </p:cNvPr>
          <p:cNvSpPr>
            <a:spLocks noGrp="1"/>
          </p:cNvSpPr>
          <p:nvPr/>
        </p:nvSpPr>
        <p:spPr>
          <a:xfrm>
            <a:off x="3600450" y="224790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a16:creationId id="{99628EBB-8C4F-4F47-95C5-2A6C967CB546}"/>
              </a:ext>
            </a:extLst>
          </p:cNvPr>
          <p:cNvSpPr>
            <a:spLocks noGrp="1"/>
          </p:cNvSpPr>
          <p:nvPr/>
        </p:nvSpPr>
        <p:spPr>
          <a:xfrm>
            <a:off x="3714750" y="2352675"/>
            <a:ext cx="1771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conditions</a:t>
            </a:r>
          </a:p>
        </p:txBody>
      </p:sp>
      <p:sp>
        <p:nvSpPr>
          <p:cNvPr id="12" name="">
            <a:extLst>
              <a:ext uri="{FF2B5EF4-FFF2-40B4-BE49-F238E27FC236}">
                <a16:creationId id="{EAC7B09D-F561-455A-AF45-7B5BB908D624}"/>
              </a:ext>
            </a:extLst>
          </p:cNvPr>
          <p:cNvSpPr>
            <a:spLocks noGrp="1"/>
          </p:cNvSpPr>
          <p:nvPr/>
        </p:nvSpPr>
        <p:spPr>
          <a:xfrm>
            <a:off x="6076950" y="224790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B7DED580-2769-432B-B40F-5C70A82CFB6C}"/>
              </a:ext>
            </a:extLst>
          </p:cNvPr>
          <p:cNvSpPr>
            <a:spLocks noGrp="1"/>
          </p:cNvSpPr>
          <p:nvPr/>
        </p:nvSpPr>
        <p:spPr>
          <a:xfrm>
            <a:off x="6191250" y="2352675"/>
            <a:ext cx="1771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objective</a:t>
            </a:r>
          </a:p>
        </p:txBody>
      </p:sp>
      <p:sp>
        <p:nvSpPr>
          <p:cNvPr id="14" name="">
            <a:extLst>
              <a:ext uri="{FF2B5EF4-FFF2-40B4-BE49-F238E27FC236}">
                <a16:creationId id="{C1CD0076-977A-437A-A077-8E82575AF473}"/>
              </a:ext>
            </a:extLst>
          </p:cNvPr>
          <p:cNvSpPr>
            <a:spLocks noGrp="1"/>
          </p:cNvSpPr>
          <p:nvPr/>
        </p:nvSpPr>
        <p:spPr>
          <a:xfrm>
            <a:off x="8553450" y="224790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A42EB922-CED6-4B4C-98C1-11C2DCCC64D7}"/>
              </a:ext>
            </a:extLst>
          </p:cNvPr>
          <p:cNvSpPr>
            <a:spLocks noGrp="1"/>
          </p:cNvSpPr>
          <p:nvPr/>
        </p:nvSpPr>
        <p:spPr>
          <a:xfrm>
            <a:off x="8667750" y="2352675"/>
            <a:ext cx="1771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constraints</a:t>
            </a:r>
          </a:p>
        </p:txBody>
      </p:sp>
      <p:sp>
        <p:nvSpPr>
          <p:cNvPr id="16" name="">
            <a:extLst>
              <a:ext uri="{FF2B5EF4-FFF2-40B4-BE49-F238E27FC236}">
                <a16:creationId id="{4A6C89C7-ED8C-4EBD-BC8E-2FE5523942B5}"/>
              </a:ext>
            </a:extLst>
          </p:cNvPr>
          <p:cNvSpPr>
            <a:spLocks noGrp="1"/>
          </p:cNvSpPr>
          <p:nvPr/>
        </p:nvSpPr>
        <p:spPr>
          <a:xfrm>
            <a:off x="1123950" y="3276600"/>
            <a:ext cx="2000250" cy="4000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a16:creationId id="{4661829B-346F-45BD-8F7E-1FCAF63E4E1B}"/>
              </a:ext>
            </a:extLst>
          </p:cNvPr>
          <p:cNvSpPr>
            <a:spLocks noGrp="1"/>
          </p:cNvSpPr>
          <p:nvPr/>
        </p:nvSpPr>
        <p:spPr>
          <a:xfrm>
            <a:off x="1238250" y="3381375"/>
            <a:ext cx="1771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8" name="">
            <a:extLst>
              <a:ext uri="{FF2B5EF4-FFF2-40B4-BE49-F238E27FC236}">
                <a16:creationId id="{5C3E4302-1723-44D4-AE7E-032460301366}"/>
              </a:ext>
            </a:extLst>
          </p:cNvPr>
          <p:cNvSpPr>
            <a:spLocks noGrp="1"/>
          </p:cNvSpPr>
          <p:nvPr/>
        </p:nvSpPr>
        <p:spPr>
          <a:xfrm>
            <a:off x="3600450" y="3276600"/>
            <a:ext cx="2000250" cy="4000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a16:creationId id="{3C983ACC-B88A-4442-96AE-B9BB19F0E494}"/>
              </a:ext>
            </a:extLst>
          </p:cNvPr>
          <p:cNvSpPr>
            <a:spLocks noGrp="1"/>
          </p:cNvSpPr>
          <p:nvPr/>
        </p:nvSpPr>
        <p:spPr>
          <a:xfrm>
            <a:off x="3714750" y="3381375"/>
            <a:ext cx="1771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  <p:sp>
        <p:nvSpPr>
          <p:cNvPr id="20" name="">
            <a:extLst>
              <a:ext uri="{FF2B5EF4-FFF2-40B4-BE49-F238E27FC236}">
                <a16:creationId id="{82EA14EB-AD9F-4A43-BF49-19CE07367394}"/>
              </a:ext>
            </a:extLst>
          </p:cNvPr>
          <p:cNvSpPr>
            <a:spLocks noGrp="1"/>
          </p:cNvSpPr>
          <p:nvPr/>
        </p:nvSpPr>
        <p:spPr>
          <a:xfrm>
            <a:off x="6076950" y="3276600"/>
            <a:ext cx="2000250" cy="4000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a16:creationId id="{BE6F05F5-4A6C-4D23-B041-2295CDB620CA}"/>
              </a:ext>
            </a:extLst>
          </p:cNvPr>
          <p:cNvSpPr>
            <a:spLocks noGrp="1"/>
          </p:cNvSpPr>
          <p:nvPr/>
        </p:nvSpPr>
        <p:spPr>
          <a:xfrm>
            <a:off x="6191250" y="3381375"/>
            <a:ext cx="1771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simulate</a:t>
            </a:r>
          </a:p>
        </p:txBody>
      </p:sp>
      <p:sp>
        <p:nvSpPr>
          <p:cNvPr id="22" name="">
            <a:extLst>
              <a:ext uri="{FF2B5EF4-FFF2-40B4-BE49-F238E27FC236}">
                <a16:creationId id="{170B0AEE-38F5-413E-AA4D-C0FBF9C1703C}"/>
              </a:ext>
            </a:extLst>
          </p:cNvPr>
          <p:cNvSpPr>
            <a:spLocks noGrp="1"/>
          </p:cNvSpPr>
          <p:nvPr/>
        </p:nvSpPr>
        <p:spPr>
          <a:xfrm>
            <a:off x="8553450" y="3276600"/>
            <a:ext cx="2000250" cy="4000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a16:creationId id="{05699C8A-E4F0-4732-B6DF-FBA499CB3708}"/>
              </a:ext>
            </a:extLst>
          </p:cNvPr>
          <p:cNvSpPr>
            <a:spLocks noGrp="1"/>
          </p:cNvSpPr>
          <p:nvPr/>
        </p:nvSpPr>
        <p:spPr>
          <a:xfrm>
            <a:off x="8667750" y="3381375"/>
            <a:ext cx="1771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optimize</a:t>
            </a:r>
          </a:p>
        </p:txBody>
      </p:sp>
      <p:sp>
        <p:nvSpPr>
          <p:cNvPr id="24" name="">
            <a:extLst>
              <a:ext uri="{FF2B5EF4-FFF2-40B4-BE49-F238E27FC236}">
                <a16:creationId id="{75BB9ECE-B19A-469D-83C7-4B4BD160929B}"/>
              </a:ext>
            </a:extLst>
          </p:cNvPr>
          <p:cNvSpPr>
            <a:spLocks noGrp="1"/>
          </p:cNvSpPr>
          <p:nvPr/>
        </p:nvSpPr>
        <p:spPr>
          <a:xfrm>
            <a:off x="2190750" y="4953000"/>
            <a:ext cx="7810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If one of these pieces changes, the benchmark result may change too.</a:t>
            </a:r>
          </a:p>
        </p:txBody>
      </p:sp>
    </p:spTree>
    <p:extLst>
      <p:ext uri="{BB962C8B-B14F-4D97-AF65-F5344CB8AC3E}">
        <p14:creationId val="521103101"/>
      </p:ext>
    </p:extLst>
  </p:cSld>
</p:sld>
</file>

<file path=ppt/slides/slide7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966EC895-6D4E-4F4B-9B0F-AB54141D3B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2A0EAA35-8BC6-404B-BA06-E90C2DEA5897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FE3F3"/>
                </a:solidFill>
                <a:latin typeface="Aptos"/>
                <a:ea typeface="Aptos"/>
                <a:cs typeface="Aptos"/>
              </a:rPr>
              <a:t>Notebook 00</a:t>
            </a:r>
          </a:p>
        </p:txBody>
      </p:sp>
      <p:sp>
        <p:nvSpPr>
          <p:cNvPr id="4" name="">
            <a:extLst>
              <a:ext uri="{FF2B5EF4-FFF2-40B4-BE49-F238E27FC236}">
                <a16:creationId id="{B6C162B9-3121-4157-BC55-11783C741C0B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FE3F3"/>
                </a:solidFill>
                <a:latin typeface="Aptos"/>
                <a:ea typeface="Aptos"/>
                <a:cs typeface="Aptos"/>
              </a:rPr>
              <a:t>00_framing_your_design_problem.ipynb</a:t>
            </a:r>
          </a:p>
        </p:txBody>
      </p:sp>
      <p:sp>
        <p:nvSpPr>
          <p:cNvPr id="5" name="">
            <a:extLst>
              <a:ext uri="{FF2B5EF4-FFF2-40B4-BE49-F238E27FC236}">
                <a16:creationId id="{6C60E814-8E0C-41D7-843B-9DDB1DBFA6A4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723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Frame your design problem before touching a model.</a:t>
            </a:r>
          </a:p>
        </p:txBody>
      </p:sp>
      <p:sp>
        <p:nvSpPr>
          <p:cNvPr id="6" name="">
            <a:extLst>
              <a:ext uri="{FF2B5EF4-FFF2-40B4-BE49-F238E27FC236}">
                <a16:creationId id="{4D3489F6-A2BD-43A9-8E23-D44E797FD2AE}"/>
              </a:ext>
            </a:extLst>
          </p:cNvPr>
          <p:cNvSpPr>
            <a:spLocks noGrp="1"/>
          </p:cNvSpPr>
          <p:nvPr/>
        </p:nvSpPr>
        <p:spPr>
          <a:xfrm>
            <a:off x="723900" y="2990850"/>
            <a:ext cx="6905625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You will identify what is designed, what conditions change, what counts as better, and what makes a candidate invalid.</a:t>
            </a:r>
          </a:p>
        </p:txBody>
      </p:sp>
      <p:sp>
        <p:nvSpPr>
          <p:cNvPr id="7" name="">
            <a:extLst>
              <a:ext uri="{FF2B5EF4-FFF2-40B4-BE49-F238E27FC236}">
                <a16:creationId id="{2E313A22-2AD6-47B0-B79E-75D13A300944}"/>
              </a:ext>
            </a:extLst>
          </p:cNvPr>
          <p:cNvSpPr>
            <a:spLocks noGrp="1"/>
          </p:cNvSpPr>
          <p:nvPr/>
        </p:nvSpPr>
        <p:spPr>
          <a:xfrm>
            <a:off x="8191500" y="990600"/>
            <a:ext cx="3124200" cy="4438650"/>
          </a:xfrm>
          <a:prstGeom prst="rect">
            <a:avLst/>
          </a:prstGeom>
          <a:solidFill>
            <a:srgbClr val="FFFFFF">
              <a:alpha val="8235"/>
            </a:srgbClr>
          </a:solidFill>
          <a:ln w="9525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a16:creationId id="{AAB5A77E-F50A-451B-9B5B-7494F465BD10}"/>
              </a:ext>
            </a:extLst>
          </p:cNvPr>
          <p:cNvSpPr>
            <a:spLocks noGrp="1"/>
          </p:cNvSpPr>
          <p:nvPr/>
        </p:nvSpPr>
        <p:spPr>
          <a:xfrm>
            <a:off x="8515350" y="1333500"/>
            <a:ext cx="2476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You should leave with</a:t>
            </a:r>
          </a:p>
        </p:txBody>
      </p:sp>
      <p:sp>
        <p:nvSpPr>
          <p:cNvPr id="9" name="">
            <a:extLst>
              <a:ext uri="{FF2B5EF4-FFF2-40B4-BE49-F238E27FC236}">
                <a16:creationId id="{18B56800-2EE8-430B-AC1A-BEDD0D6D3290}"/>
              </a:ext>
            </a:extLst>
          </p:cNvPr>
          <p:cNvSpPr>
            <a:spLocks noGrp="1"/>
          </p:cNvSpPr>
          <p:nvPr/>
        </p:nvSpPr>
        <p:spPr>
          <a:xfrm>
            <a:off x="8534400" y="18478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055B5C06-5D63-485E-A070-7667609C3645}"/>
              </a:ext>
            </a:extLst>
          </p:cNvPr>
          <p:cNvSpPr>
            <a:spLocks noGrp="1"/>
          </p:cNvSpPr>
          <p:nvPr/>
        </p:nvSpPr>
        <p:spPr>
          <a:xfrm>
            <a:off x="8782050" y="1752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problem object</a:t>
            </a:r>
          </a:p>
        </p:txBody>
      </p:sp>
      <p:sp>
        <p:nvSpPr>
          <p:cNvPr id="11" name="">
            <a:extLst>
              <a:ext uri="{FF2B5EF4-FFF2-40B4-BE49-F238E27FC236}">
                <a16:creationId id="{2DC3D38B-ADDA-4CAF-941C-E66BA7A7D43C}"/>
              </a:ext>
            </a:extLst>
          </p:cNvPr>
          <p:cNvSpPr>
            <a:spLocks noGrp="1"/>
          </p:cNvSpPr>
          <p:nvPr/>
        </p:nvSpPr>
        <p:spPr>
          <a:xfrm>
            <a:off x="8534400" y="23050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5E3F8F3D-CB73-496A-AD0D-4AD0B999303E}"/>
              </a:ext>
            </a:extLst>
          </p:cNvPr>
          <p:cNvSpPr>
            <a:spLocks noGrp="1"/>
          </p:cNvSpPr>
          <p:nvPr/>
        </p:nvSpPr>
        <p:spPr>
          <a:xfrm>
            <a:off x="8782050" y="22098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dataset sample</a:t>
            </a:r>
          </a:p>
        </p:txBody>
      </p:sp>
      <p:sp>
        <p:nvSpPr>
          <p:cNvPr id="13" name="">
            <a:extLst>
              <a:ext uri="{FF2B5EF4-FFF2-40B4-BE49-F238E27FC236}">
                <a16:creationId id="{C3598FF0-BA45-4A52-AC71-E55E3A3BC63A}"/>
              </a:ext>
            </a:extLst>
          </p:cNvPr>
          <p:cNvSpPr>
            <a:spLocks noGrp="1"/>
          </p:cNvSpPr>
          <p:nvPr/>
        </p:nvSpPr>
        <p:spPr>
          <a:xfrm>
            <a:off x="8534400" y="27622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C0090CDE-F58C-4E07-96BD-9891F554FC03}"/>
              </a:ext>
            </a:extLst>
          </p:cNvPr>
          <p:cNvSpPr>
            <a:spLocks noGrp="1"/>
          </p:cNvSpPr>
          <p:nvPr/>
        </p:nvSpPr>
        <p:spPr>
          <a:xfrm>
            <a:off x="8782050" y="26670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rendered design</a:t>
            </a:r>
          </a:p>
        </p:txBody>
      </p:sp>
      <p:sp>
        <p:nvSpPr>
          <p:cNvPr id="15" name="">
            <a:extLst>
              <a:ext uri="{FF2B5EF4-FFF2-40B4-BE49-F238E27FC236}">
                <a16:creationId id="{058CB51D-E9AB-41BA-BD39-225017CEA6DB}"/>
              </a:ext>
            </a:extLst>
          </p:cNvPr>
          <p:cNvSpPr>
            <a:spLocks noGrp="1"/>
          </p:cNvSpPr>
          <p:nvPr/>
        </p:nvSpPr>
        <p:spPr>
          <a:xfrm>
            <a:off x="8534400" y="32194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a16:creationId id="{BC8C6128-E71F-44C6-8148-679A41679DB4}"/>
              </a:ext>
            </a:extLst>
          </p:cNvPr>
          <p:cNvSpPr>
            <a:spLocks noGrp="1"/>
          </p:cNvSpPr>
          <p:nvPr/>
        </p:nvSpPr>
        <p:spPr>
          <a:xfrm>
            <a:off x="8782050" y="31242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constraint check</a:t>
            </a:r>
          </a:p>
        </p:txBody>
      </p:sp>
    </p:spTree>
    <p:extLst>
      <p:ext uri="{BB962C8B-B14F-4D97-AF65-F5344CB8AC3E}">
        <p14:creationId val="828652471"/>
      </p:ext>
    </p:extLst>
  </p:cSld>
</p:sld>
</file>

<file path=ppt/slides/slide8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0A988EDB-E732-45ED-B61B-D5F73550E0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F0BD275D-36C5-40F4-835F-9632B64FC4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8ED97ABE-BDBA-4514-9A53-0876F3FD37A4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00</a:t>
            </a:r>
          </a:p>
        </p:txBody>
      </p:sp>
      <p:sp>
        <p:nvSpPr>
          <p:cNvPr id="5" name="">
            <a:extLst>
              <a:ext uri="{FF2B5EF4-FFF2-40B4-BE49-F238E27FC236}">
                <a16:creationId id="{18CD78CE-5B1A-46B3-A0CA-F601858D8673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710B3836-5060-4B6B-BEC6-0753FB36C8A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Notebook 00 anchor</a:t>
            </a:r>
          </a:p>
        </p:txBody>
      </p:sp>
      <p:sp>
        <p:nvSpPr>
          <p:cNvPr id="7" name="">
            <a:extLst>
              <a:ext uri="{FF2B5EF4-FFF2-40B4-BE49-F238E27FC236}">
                <a16:creationId id="{501F9CA7-F2B0-44A7-B681-BFE387867219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The first concrete task is Beams2D: place material so a loaded beam is stiff.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ae6a52d6267d44a1"/>
          <a:stretch/>
        </p:blipFill>
        <p:spPr>
          <a:xfrm>
            <a:off x="704850" y="2247900"/>
            <a:ext cx="5334000" cy="2667000"/>
          </a:xfrm>
          <a:prstGeom prst="rect">
            <a:avLst/>
          </a:prstGeom>
        </p:spPr>
      </p:pic>
      <p:sp>
        <p:nvSpPr>
          <p:cNvPr id="9" name="">
            <a:extLst>
              <a:ext uri="{FF2B5EF4-FFF2-40B4-BE49-F238E27FC236}">
                <a16:creationId id="{632C81D7-CAB2-4CC2-97BF-CACF8BB4449A}"/>
              </a:ext>
            </a:extLst>
          </p:cNvPr>
          <p:cNvSpPr>
            <a:spLocks noGrp="1"/>
          </p:cNvSpPr>
          <p:nvPr/>
        </p:nvSpPr>
        <p:spPr>
          <a:xfrm>
            <a:off x="6858000" y="2095500"/>
            <a:ext cx="3714750" cy="60960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072A02A1-0002-463C-B313-B6AC4A5169A2}"/>
              </a:ext>
            </a:extLst>
          </p:cNvPr>
          <p:cNvSpPr>
            <a:spLocks noGrp="1"/>
          </p:cNvSpPr>
          <p:nvPr/>
        </p:nvSpPr>
        <p:spPr>
          <a:xfrm>
            <a:off x="7048500" y="2266950"/>
            <a:ext cx="3333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Design</a:t>
            </a:r>
          </a:p>
        </p:txBody>
      </p:sp>
      <p:sp>
        <p:nvSpPr>
          <p:cNvPr id="11" name="">
            <a:extLst>
              <a:ext uri="{FF2B5EF4-FFF2-40B4-BE49-F238E27FC236}">
                <a16:creationId id="{F79A33E7-B977-4E68-8598-B2D4A2BAFA48}"/>
              </a:ext>
            </a:extLst>
          </p:cNvPr>
          <p:cNvSpPr>
            <a:spLocks noGrp="1"/>
          </p:cNvSpPr>
          <p:nvPr/>
        </p:nvSpPr>
        <p:spPr>
          <a:xfrm>
            <a:off x="7048500" y="2628900"/>
            <a:ext cx="3333750" cy="-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a material density field</a:t>
            </a:r>
          </a:p>
        </p:txBody>
      </p:sp>
      <p:sp>
        <p:nvSpPr>
          <p:cNvPr id="12" name="">
            <a:extLst>
              <a:ext uri="{FF2B5EF4-FFF2-40B4-BE49-F238E27FC236}">
                <a16:creationId id="{A3422C1A-11EC-4A81-BFE7-259B139291AF}"/>
              </a:ext>
            </a:extLst>
          </p:cNvPr>
          <p:cNvSpPr>
            <a:spLocks noGrp="1"/>
          </p:cNvSpPr>
          <p:nvPr/>
        </p:nvSpPr>
        <p:spPr>
          <a:xfrm>
            <a:off x="6858000" y="2876550"/>
            <a:ext cx="3714750" cy="60960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4A402417-7BCD-40D7-99F7-F647BE2A5D90}"/>
              </a:ext>
            </a:extLst>
          </p:cNvPr>
          <p:cNvSpPr>
            <a:spLocks noGrp="1"/>
          </p:cNvSpPr>
          <p:nvPr/>
        </p:nvSpPr>
        <p:spPr>
          <a:xfrm>
            <a:off x="7048500" y="3048000"/>
            <a:ext cx="3333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Conditions</a:t>
            </a:r>
          </a:p>
        </p:txBody>
      </p:sp>
      <p:sp>
        <p:nvSpPr>
          <p:cNvPr id="14" name="">
            <a:extLst>
              <a:ext uri="{FF2B5EF4-FFF2-40B4-BE49-F238E27FC236}">
                <a16:creationId id="{5E0E5630-F17F-4FCC-ADB2-65C629B171AE}"/>
              </a:ext>
            </a:extLst>
          </p:cNvPr>
          <p:cNvSpPr>
            <a:spLocks noGrp="1"/>
          </p:cNvSpPr>
          <p:nvPr/>
        </p:nvSpPr>
        <p:spPr>
          <a:xfrm>
            <a:off x="7048500" y="3409950"/>
            <a:ext cx="3333750" cy="-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volume fraction, load position, filter radius</a:t>
            </a:r>
          </a:p>
        </p:txBody>
      </p:sp>
      <p:sp>
        <p:nvSpPr>
          <p:cNvPr id="15" name="">
            <a:extLst>
              <a:ext uri="{FF2B5EF4-FFF2-40B4-BE49-F238E27FC236}">
                <a16:creationId id="{C94A75FE-7122-4513-A413-FCBB3148A08D}"/>
              </a:ext>
            </a:extLst>
          </p:cNvPr>
          <p:cNvSpPr>
            <a:spLocks noGrp="1"/>
          </p:cNvSpPr>
          <p:nvPr/>
        </p:nvSpPr>
        <p:spPr>
          <a:xfrm>
            <a:off x="6858000" y="3657600"/>
            <a:ext cx="3714750" cy="60960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a16:creationId id="{F859892A-735A-467F-9350-93FE8F8B4D7B}"/>
              </a:ext>
            </a:extLst>
          </p:cNvPr>
          <p:cNvSpPr>
            <a:spLocks noGrp="1"/>
          </p:cNvSpPr>
          <p:nvPr/>
        </p:nvSpPr>
        <p:spPr>
          <a:xfrm>
            <a:off x="7048500" y="3829050"/>
            <a:ext cx="3333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Objective</a:t>
            </a:r>
          </a:p>
        </p:txBody>
      </p:sp>
      <p:sp>
        <p:nvSpPr>
          <p:cNvPr id="17" name="">
            <a:extLst>
              <a:ext uri="{FF2B5EF4-FFF2-40B4-BE49-F238E27FC236}">
                <a16:creationId id="{060B1C95-437F-410E-9965-EB58405C7A12}"/>
              </a:ext>
            </a:extLst>
          </p:cNvPr>
          <p:cNvSpPr>
            <a:spLocks noGrp="1"/>
          </p:cNvSpPr>
          <p:nvPr/>
        </p:nvSpPr>
        <p:spPr>
          <a:xfrm>
            <a:off x="7048500" y="4191000"/>
            <a:ext cx="3333750" cy="-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minimize compliance</a:t>
            </a:r>
          </a:p>
        </p:txBody>
      </p:sp>
      <p:sp>
        <p:nvSpPr>
          <p:cNvPr id="18" name="">
            <a:extLst>
              <a:ext uri="{FF2B5EF4-FFF2-40B4-BE49-F238E27FC236}">
                <a16:creationId id="{8C2F3D1C-6BFF-4A84-9826-2CB892DFA183}"/>
              </a:ext>
            </a:extLst>
          </p:cNvPr>
          <p:cNvSpPr>
            <a:spLocks noGrp="1"/>
          </p:cNvSpPr>
          <p:nvPr/>
        </p:nvSpPr>
        <p:spPr>
          <a:xfrm>
            <a:off x="6858000" y="4438650"/>
            <a:ext cx="3714750" cy="60960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a16:creationId id="{2F21B07A-FE13-4532-A273-1C3C4FBCF8AC}"/>
              </a:ext>
            </a:extLst>
          </p:cNvPr>
          <p:cNvSpPr>
            <a:spLocks noGrp="1"/>
          </p:cNvSpPr>
          <p:nvPr/>
        </p:nvSpPr>
        <p:spPr>
          <a:xfrm>
            <a:off x="7048500" y="4610100"/>
            <a:ext cx="3333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Validity</a:t>
            </a:r>
          </a:p>
        </p:txBody>
      </p:sp>
      <p:sp>
        <p:nvSpPr>
          <p:cNvPr id="20" name="">
            <a:extLst>
              <a:ext uri="{FF2B5EF4-FFF2-40B4-BE49-F238E27FC236}">
                <a16:creationId id="{16BE6976-5F21-4D31-B13A-D17B539701D7}"/>
              </a:ext>
            </a:extLst>
          </p:cNvPr>
          <p:cNvSpPr>
            <a:spLocks noGrp="1"/>
          </p:cNvSpPr>
          <p:nvPr/>
        </p:nvSpPr>
        <p:spPr>
          <a:xfrm>
            <a:off x="7048500" y="4972050"/>
            <a:ext cx="3333750" cy="-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material and geometry rules</a:t>
            </a:r>
          </a:p>
        </p:txBody>
      </p:sp>
    </p:spTree>
    <p:extLst>
      <p:ext uri="{BB962C8B-B14F-4D97-AF65-F5344CB8AC3E}">
        <p14:creationId val="572729624"/>
      </p:ext>
    </p:extLst>
  </p:cSld>
</p:sld>
</file>

<file path=ppt/slides/slide9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38640563-8EFF-4CDD-AAB1-799AD9EF26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D03F8DC2-8A6E-43FF-B79A-DF445E80EC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34EEE733-EB3E-42D8-91EA-934B0B91A973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00</a:t>
            </a:r>
          </a:p>
        </p:txBody>
      </p:sp>
      <p:sp>
        <p:nvSpPr>
          <p:cNvPr id="5" name="">
            <a:extLst>
              <a:ext uri="{FF2B5EF4-FFF2-40B4-BE49-F238E27FC236}">
                <a16:creationId id="{B442F084-DB4D-4B61-B3D0-6FC5285D5580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E5342BA9-E56F-4403-8B9E-1C9317A7CA77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What the API gives you</a:t>
            </a:r>
          </a:p>
        </p:txBody>
      </p:sp>
      <p:sp>
        <p:nvSpPr>
          <p:cNvPr id="7" name="">
            <a:extLst>
              <a:ext uri="{FF2B5EF4-FFF2-40B4-BE49-F238E27FC236}">
                <a16:creationId id="{6FA2C98D-DD94-47DA-BFDA-D56D387186EE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EngiBench turns design-problem questions into Python calls.</a:t>
            </a:r>
          </a:p>
        </p:txBody>
      </p:sp>
      <p:sp>
        <p:nvSpPr>
          <p:cNvPr id="8" name="">
            <a:extLst>
              <a:ext uri="{FF2B5EF4-FFF2-40B4-BE49-F238E27FC236}">
                <a16:creationId id="{17260799-A869-424C-8B4F-98787F6D766F}"/>
              </a:ext>
            </a:extLst>
          </p:cNvPr>
          <p:cNvSpPr>
            <a:spLocks noGrp="1"/>
          </p:cNvSpPr>
          <p:nvPr/>
        </p:nvSpPr>
        <p:spPr>
          <a:xfrm>
            <a:off x="781050" y="2019300"/>
            <a:ext cx="7239000" cy="3333750"/>
          </a:xfrm>
          <a:prstGeom prst="rect">
            <a:avLst/>
          </a:prstGeom>
          <a:solidFill>
            <a:srgbClr val="102033"/>
          </a:solidFill>
          <a:ln w="9525">
            <a:solidFill>
              <a:srgbClr val="102033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003395A0-E0A1-4310-BCC2-270A18278656}"/>
              </a:ext>
            </a:extLst>
          </p:cNvPr>
          <p:cNvSpPr>
            <a:spLocks noGrp="1"/>
          </p:cNvSpPr>
          <p:nvPr/>
        </p:nvSpPr>
        <p:spPr>
          <a:xfrm>
            <a:off x="1066800" y="2266950"/>
            <a:ext cx="6667500" cy="2724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 = BUILTIN_PROBLEMS['beams2d'](seed=7)</a:t>
            </a:r>
          </a:p>
          <a:p>
            <a:r>
              <a:t/>
            </a:r>
          </a:p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problem.design_space</a:t>
            </a:r>
          </a:p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problem.conditions_keys</a:t>
            </a:r>
          </a:p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problem.objectives</a:t>
            </a:r>
          </a:p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problem.dataset</a:t>
            </a:r>
          </a:p>
          <a:p>
            <a:r>
              <a:t/>
            </a:r>
          </a:p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problem.check_constraints(design, config)</a:t>
            </a:r>
          </a:p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problem.simulate(design, config)</a:t>
            </a:r>
          </a:p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problem.optimize(starting_point, config)</a:t>
            </a:r>
          </a:p>
          <a:p>
            <a:pPr algn="l">
              <a:def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7EEF7"/>
                </a:solidFill>
                <a:latin typeface="Aptos Mono"/>
                <a:ea typeface="Aptos Mono"/>
                <a:cs typeface="Aptos Mono"/>
              </a:rPr>
              <a:t>problem.render(design)</a:t>
            </a:r>
          </a:p>
        </p:txBody>
      </p:sp>
      <p:sp>
        <p:nvSpPr>
          <p:cNvPr id="10" name="">
            <a:extLst>
              <a:ext uri="{FF2B5EF4-FFF2-40B4-BE49-F238E27FC236}">
                <a16:creationId id="{ED8E14AC-6258-489F-B65D-C1DF710518A5}"/>
              </a:ext>
            </a:extLst>
          </p:cNvPr>
          <p:cNvSpPr>
            <a:spLocks noGrp="1"/>
          </p:cNvSpPr>
          <p:nvPr/>
        </p:nvSpPr>
        <p:spPr>
          <a:xfrm>
            <a:off x="8591550" y="2190750"/>
            <a:ext cx="2381250" cy="4000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a16:creationId id="{5D52B6C0-D7AA-43DA-968E-8BEAE7498E17}"/>
              </a:ext>
            </a:extLst>
          </p:cNvPr>
          <p:cNvSpPr>
            <a:spLocks noGrp="1"/>
          </p:cNvSpPr>
          <p:nvPr/>
        </p:nvSpPr>
        <p:spPr>
          <a:xfrm>
            <a:off x="8705850" y="2295525"/>
            <a:ext cx="2152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What can I design?</a:t>
            </a:r>
          </a:p>
        </p:txBody>
      </p:sp>
      <p:sp>
        <p:nvSpPr>
          <p:cNvPr id="12" name="">
            <a:extLst>
              <a:ext uri="{FF2B5EF4-FFF2-40B4-BE49-F238E27FC236}">
                <a16:creationId id="{FDCA9D85-168A-4C15-A906-7D00DB5DC807}"/>
              </a:ext>
            </a:extLst>
          </p:cNvPr>
          <p:cNvSpPr>
            <a:spLocks noGrp="1"/>
          </p:cNvSpPr>
          <p:nvPr/>
        </p:nvSpPr>
        <p:spPr>
          <a:xfrm>
            <a:off x="8591550" y="2743200"/>
            <a:ext cx="2381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FF2D6B63-F36C-4F30-B45F-77F7F3A8E888}"/>
              </a:ext>
            </a:extLst>
          </p:cNvPr>
          <p:cNvSpPr>
            <a:spLocks noGrp="1"/>
          </p:cNvSpPr>
          <p:nvPr/>
        </p:nvSpPr>
        <p:spPr>
          <a:xfrm>
            <a:off x="8705850" y="2847975"/>
            <a:ext cx="2152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What scenarios matter?</a:t>
            </a:r>
          </a:p>
        </p:txBody>
      </p:sp>
      <p:sp>
        <p:nvSpPr>
          <p:cNvPr id="14" name="">
            <a:extLst>
              <a:ext uri="{FF2B5EF4-FFF2-40B4-BE49-F238E27FC236}">
                <a16:creationId id="{E1CF5893-5534-4EBA-B6E5-A9B948DEAB17}"/>
              </a:ext>
            </a:extLst>
          </p:cNvPr>
          <p:cNvSpPr>
            <a:spLocks noGrp="1"/>
          </p:cNvSpPr>
          <p:nvPr/>
        </p:nvSpPr>
        <p:spPr>
          <a:xfrm>
            <a:off x="8591550" y="3295650"/>
            <a:ext cx="2381250" cy="4000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8465BCA3-90AF-4A59-81FF-A68F6ED3023F}"/>
              </a:ext>
            </a:extLst>
          </p:cNvPr>
          <p:cNvSpPr>
            <a:spLocks noGrp="1"/>
          </p:cNvSpPr>
          <p:nvPr/>
        </p:nvSpPr>
        <p:spPr>
          <a:xfrm>
            <a:off x="8705850" y="3400425"/>
            <a:ext cx="2152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What is better?</a:t>
            </a:r>
          </a:p>
        </p:txBody>
      </p:sp>
      <p:sp>
        <p:nvSpPr>
          <p:cNvPr id="16" name="">
            <a:extLst>
              <a:ext uri="{FF2B5EF4-FFF2-40B4-BE49-F238E27FC236}">
                <a16:creationId id="{5D8BD3D4-FB04-479C-8F96-4A1120C7447D}"/>
              </a:ext>
            </a:extLst>
          </p:cNvPr>
          <p:cNvSpPr>
            <a:spLocks noGrp="1"/>
          </p:cNvSpPr>
          <p:nvPr/>
        </p:nvSpPr>
        <p:spPr>
          <a:xfrm>
            <a:off x="8591550" y="3848100"/>
            <a:ext cx="2381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a16:creationId id="{50B6D742-4AC8-43D7-AB09-5D16AFE93C3D}"/>
              </a:ext>
            </a:extLst>
          </p:cNvPr>
          <p:cNvSpPr>
            <a:spLocks noGrp="1"/>
          </p:cNvSpPr>
          <p:nvPr/>
        </p:nvSpPr>
        <p:spPr>
          <a:xfrm>
            <a:off x="8705850" y="3952875"/>
            <a:ext cx="2152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Is it valid?</a:t>
            </a:r>
          </a:p>
        </p:txBody>
      </p:sp>
      <p:sp>
        <p:nvSpPr>
          <p:cNvPr id="18" name="">
            <a:extLst>
              <a:ext uri="{FF2B5EF4-FFF2-40B4-BE49-F238E27FC236}">
                <a16:creationId id="{510BB861-8DBF-403E-938D-359E384869EA}"/>
              </a:ext>
            </a:extLst>
          </p:cNvPr>
          <p:cNvSpPr>
            <a:spLocks noGrp="1"/>
          </p:cNvSpPr>
          <p:nvPr/>
        </p:nvSpPr>
        <p:spPr>
          <a:xfrm>
            <a:off x="8591550" y="4400550"/>
            <a:ext cx="2381250" cy="4000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a16:creationId id="{0E87FAEC-6AA1-42E5-98DE-4F727AF93745}"/>
              </a:ext>
            </a:extLst>
          </p:cNvPr>
          <p:cNvSpPr>
            <a:spLocks noGrp="1"/>
          </p:cNvSpPr>
          <p:nvPr/>
        </p:nvSpPr>
        <p:spPr>
          <a:xfrm>
            <a:off x="8705850" y="4505325"/>
            <a:ext cx="21526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What does it look like?</a:t>
            </a:r>
          </a:p>
        </p:txBody>
      </p:sp>
    </p:spTree>
    <p:extLst>
      <p:ext uri="{BB962C8B-B14F-4D97-AF65-F5344CB8AC3E}">
        <p14:creationId val="1041540186"/>
      </p:ext>
    </p:extLst>
  </p:cSld>
</p:sld>
</file>

<file path=ppt/slides/slide10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CC31872D-464E-4DF8-B5D2-B12A686BD9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DBD1C19A-24B8-476F-9074-EDFA369572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8D9E31CD-E7C8-4547-8902-A72E0B4272B3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00</a:t>
            </a:r>
          </a:p>
        </p:txBody>
      </p:sp>
      <p:sp>
        <p:nvSpPr>
          <p:cNvPr id="5" name="">
            <a:extLst>
              <a:ext uri="{FF2B5EF4-FFF2-40B4-BE49-F238E27FC236}">
                <a16:creationId id="{8931147C-277B-4E1C-87C3-F23ADE16A76A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5DFAC591-4374-4577-96B8-5E1914D791FB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What to notice in Notebook 00</a:t>
            </a:r>
          </a:p>
        </p:txBody>
      </p:sp>
      <p:sp>
        <p:nvSpPr>
          <p:cNvPr id="7" name="">
            <a:extLst>
              <a:ext uri="{FF2B5EF4-FFF2-40B4-BE49-F238E27FC236}">
                <a16:creationId id="{087668BC-3C3D-4D50-B5A6-D07687108DA9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The same design can be inspected visually, checked for validity, simulated, and optimized.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d65d3200eb3c462a"/>
          <a:stretch/>
        </p:blipFill>
        <p:spPr>
          <a:xfrm>
            <a:off x="781050" y="2176463"/>
            <a:ext cx="5429250" cy="2714625"/>
          </a:xfrm>
          <a:prstGeom prst="rect">
            <a:avLst/>
          </a:prstGeom>
        </p:spPr>
      </p:pic>
      <p:sp>
        <p:nvSpPr>
          <p:cNvPr id="9" name="">
            <a:extLst>
              <a:ext uri="{FF2B5EF4-FFF2-40B4-BE49-F238E27FC236}">
                <a16:creationId id="{5AB041B5-FB28-4EC7-9F66-5CD11A58B39F}"/>
              </a:ext>
            </a:extLst>
          </p:cNvPr>
          <p:cNvSpPr>
            <a:spLocks noGrp="1"/>
          </p:cNvSpPr>
          <p:nvPr/>
        </p:nvSpPr>
        <p:spPr>
          <a:xfrm>
            <a:off x="7048500" y="2095500"/>
            <a:ext cx="3143250" cy="60960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17FFC015-F22E-4287-9BC3-1A1427739162}"/>
              </a:ext>
            </a:extLst>
          </p:cNvPr>
          <p:cNvSpPr>
            <a:spLocks noGrp="1"/>
          </p:cNvSpPr>
          <p:nvPr/>
        </p:nvSpPr>
        <p:spPr>
          <a:xfrm>
            <a:off x="7239000" y="2266950"/>
            <a:ext cx="2762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Look</a:t>
            </a:r>
          </a:p>
        </p:txBody>
      </p:sp>
      <p:sp>
        <p:nvSpPr>
          <p:cNvPr id="11" name="">
            <a:extLst>
              <a:ext uri="{FF2B5EF4-FFF2-40B4-BE49-F238E27FC236}">
                <a16:creationId id="{65A55A32-EEE3-47EA-8079-05C2A0145A32}"/>
              </a:ext>
            </a:extLst>
          </p:cNvPr>
          <p:cNvSpPr>
            <a:spLocks noGrp="1"/>
          </p:cNvSpPr>
          <p:nvPr/>
        </p:nvSpPr>
        <p:spPr>
          <a:xfrm>
            <a:off x="7239000" y="2628900"/>
            <a:ext cx="2762250" cy="-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render a design</a:t>
            </a:r>
          </a:p>
        </p:txBody>
      </p:sp>
      <p:sp>
        <p:nvSpPr>
          <p:cNvPr id="12" name="">
            <a:extLst>
              <a:ext uri="{FF2B5EF4-FFF2-40B4-BE49-F238E27FC236}">
                <a16:creationId id="{24BAD8BE-9D48-4995-A988-4325EC003305}"/>
              </a:ext>
            </a:extLst>
          </p:cNvPr>
          <p:cNvSpPr>
            <a:spLocks noGrp="1"/>
          </p:cNvSpPr>
          <p:nvPr/>
        </p:nvSpPr>
        <p:spPr>
          <a:xfrm>
            <a:off x="7048500" y="2876550"/>
            <a:ext cx="3143250" cy="60960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D223BB9E-6DDD-4B2F-B858-0BC77B43B2F5}"/>
              </a:ext>
            </a:extLst>
          </p:cNvPr>
          <p:cNvSpPr>
            <a:spLocks noGrp="1"/>
          </p:cNvSpPr>
          <p:nvPr/>
        </p:nvSpPr>
        <p:spPr>
          <a:xfrm>
            <a:off x="7239000" y="3048000"/>
            <a:ext cx="2762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8483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4837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14" name="">
            <a:extLst>
              <a:ext uri="{FF2B5EF4-FFF2-40B4-BE49-F238E27FC236}">
                <a16:creationId id="{0C3D0B24-C4CF-475F-8230-3337B7BCABC0}"/>
              </a:ext>
            </a:extLst>
          </p:cNvPr>
          <p:cNvSpPr>
            <a:spLocks noGrp="1"/>
          </p:cNvSpPr>
          <p:nvPr/>
        </p:nvSpPr>
        <p:spPr>
          <a:xfrm>
            <a:off x="7239000" y="3409950"/>
            <a:ext cx="2762250" cy="-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find violated constraints</a:t>
            </a:r>
          </a:p>
        </p:txBody>
      </p:sp>
      <p:sp>
        <p:nvSpPr>
          <p:cNvPr id="15" name="">
            <a:extLst>
              <a:ext uri="{FF2B5EF4-FFF2-40B4-BE49-F238E27FC236}">
                <a16:creationId id="{8D114291-1A9A-4E9D-AA4E-00AB0D151A89}"/>
              </a:ext>
            </a:extLst>
          </p:cNvPr>
          <p:cNvSpPr>
            <a:spLocks noGrp="1"/>
          </p:cNvSpPr>
          <p:nvPr/>
        </p:nvSpPr>
        <p:spPr>
          <a:xfrm>
            <a:off x="7048500" y="3657600"/>
            <a:ext cx="3143250" cy="60960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a16:creationId id="{5FFF258B-5D67-4D22-8C46-9096E3AF9E61}"/>
              </a:ext>
            </a:extLst>
          </p:cNvPr>
          <p:cNvSpPr>
            <a:spLocks noGrp="1"/>
          </p:cNvSpPr>
          <p:nvPr/>
        </p:nvSpPr>
        <p:spPr>
          <a:xfrm>
            <a:off x="7239000" y="3829050"/>
            <a:ext cx="2762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17" name="">
            <a:extLst>
              <a:ext uri="{FF2B5EF4-FFF2-40B4-BE49-F238E27FC236}">
                <a16:creationId id="{2388D6C7-3390-42C0-822C-3CF81B66F70C}"/>
              </a:ext>
            </a:extLst>
          </p:cNvPr>
          <p:cNvSpPr>
            <a:spLocks noGrp="1"/>
          </p:cNvSpPr>
          <p:nvPr/>
        </p:nvSpPr>
        <p:spPr>
          <a:xfrm>
            <a:off x="7239000" y="4191000"/>
            <a:ext cx="2762250" cy="-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run the simulator</a:t>
            </a:r>
          </a:p>
        </p:txBody>
      </p:sp>
      <p:sp>
        <p:nvSpPr>
          <p:cNvPr id="18" name="">
            <a:extLst>
              <a:ext uri="{FF2B5EF4-FFF2-40B4-BE49-F238E27FC236}">
                <a16:creationId id="{4E3CB8C7-ACC2-4090-9022-F3891F8372AC}"/>
              </a:ext>
            </a:extLst>
          </p:cNvPr>
          <p:cNvSpPr>
            <a:spLocks noGrp="1"/>
          </p:cNvSpPr>
          <p:nvPr/>
        </p:nvSpPr>
        <p:spPr>
          <a:xfrm>
            <a:off x="7048500" y="4438650"/>
            <a:ext cx="3143250" cy="60960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a16:creationId id="{F22DC66B-67F3-44E5-94F8-84A4D68EDC48}"/>
              </a:ext>
            </a:extLst>
          </p:cNvPr>
          <p:cNvSpPr>
            <a:spLocks noGrp="1"/>
          </p:cNvSpPr>
          <p:nvPr/>
        </p:nvSpPr>
        <p:spPr>
          <a:xfrm>
            <a:off x="7239000" y="4610100"/>
            <a:ext cx="2762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47B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47B20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20" name="">
            <a:extLst>
              <a:ext uri="{FF2B5EF4-FFF2-40B4-BE49-F238E27FC236}">
                <a16:creationId id="{2A82A063-719B-4B64-A026-6014DBB64042}"/>
              </a:ext>
            </a:extLst>
          </p:cNvPr>
          <p:cNvSpPr>
            <a:spLocks noGrp="1"/>
          </p:cNvSpPr>
          <p:nvPr/>
        </p:nvSpPr>
        <p:spPr>
          <a:xfrm>
            <a:off x="7239000" y="4972050"/>
            <a:ext cx="2762250" cy="-76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call a classical baseline</a:t>
            </a:r>
          </a:p>
        </p:txBody>
      </p:sp>
    </p:spTree>
    <p:extLst>
      <p:ext uri="{BB962C8B-B14F-4D97-AF65-F5344CB8AC3E}">
        <p14:creationId val="671039095"/>
      </p:ext>
    </p:extLst>
  </p:cSld>
</p:sld>
</file>

<file path=ppt/slides/slide1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F573B66C-DA71-46F9-924F-4803BD18F8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3874C8E8-21C0-49E9-B9E2-461347AAB9D7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FE3F3"/>
                </a:solidFill>
                <a:latin typeface="Aptos"/>
                <a:ea typeface="Aptos"/>
                <a:cs typeface="Aptos"/>
              </a:rPr>
              <a:t>Notebook 01</a:t>
            </a:r>
          </a:p>
        </p:txBody>
      </p:sp>
      <p:sp>
        <p:nvSpPr>
          <p:cNvPr id="4" name="">
            <a:extLst>
              <a:ext uri="{FF2B5EF4-FFF2-40B4-BE49-F238E27FC236}">
                <a16:creationId id="{B99DB91C-7EEE-4C1F-9E3A-8F4504EB0601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FE3F3"/>
                </a:solidFill>
                <a:latin typeface="Aptos"/>
                <a:ea typeface="Aptos"/>
                <a:cs typeface="Aptos"/>
              </a:rPr>
              <a:t>01_training_a_generative_model.ipynb</a:t>
            </a:r>
          </a:p>
        </p:txBody>
      </p:sp>
      <p:sp>
        <p:nvSpPr>
          <p:cNvPr id="5" name="">
            <a:extLst>
              <a:ext uri="{FF2B5EF4-FFF2-40B4-BE49-F238E27FC236}">
                <a16:creationId id="{63E572B2-745C-4B0C-9C46-1C6916BB924D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723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Train a generative model against the optimizer's answers.</a:t>
            </a:r>
          </a:p>
        </p:txBody>
      </p:sp>
      <p:sp>
        <p:nvSpPr>
          <p:cNvPr id="6" name="">
            <a:extLst>
              <a:ext uri="{FF2B5EF4-FFF2-40B4-BE49-F238E27FC236}">
                <a16:creationId id="{D9A00034-F71C-442D-89AF-4C742CC0EB22}"/>
              </a:ext>
            </a:extLst>
          </p:cNvPr>
          <p:cNvSpPr>
            <a:spLocks noGrp="1"/>
          </p:cNvSpPr>
          <p:nvPr/>
        </p:nvSpPr>
        <p:spPr>
          <a:xfrm>
            <a:off x="723900" y="2990850"/>
            <a:ext cx="6905625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This is intentionally lightweight: the point is to see the full workflow, not to win the benchmark in one notebook.</a:t>
            </a:r>
          </a:p>
        </p:txBody>
      </p:sp>
      <p:sp>
        <p:nvSpPr>
          <p:cNvPr id="7" name="">
            <a:extLst>
              <a:ext uri="{FF2B5EF4-FFF2-40B4-BE49-F238E27FC236}">
                <a16:creationId id="{F574438B-138C-457E-9470-E2F5F4072D4D}"/>
              </a:ext>
            </a:extLst>
          </p:cNvPr>
          <p:cNvSpPr>
            <a:spLocks noGrp="1"/>
          </p:cNvSpPr>
          <p:nvPr/>
        </p:nvSpPr>
        <p:spPr>
          <a:xfrm>
            <a:off x="8191500" y="990600"/>
            <a:ext cx="3124200" cy="4438650"/>
          </a:xfrm>
          <a:prstGeom prst="rect">
            <a:avLst/>
          </a:prstGeom>
          <a:solidFill>
            <a:srgbClr val="FFFFFF">
              <a:alpha val="8235"/>
            </a:srgbClr>
          </a:solidFill>
          <a:ln w="9525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a16:creationId id="{D5379229-6211-4F26-9EAD-D997162C0C90}"/>
              </a:ext>
            </a:extLst>
          </p:cNvPr>
          <p:cNvSpPr>
            <a:spLocks noGrp="1"/>
          </p:cNvSpPr>
          <p:nvPr/>
        </p:nvSpPr>
        <p:spPr>
          <a:xfrm>
            <a:off x="8515350" y="1333500"/>
            <a:ext cx="2476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You should leave with</a:t>
            </a:r>
          </a:p>
        </p:txBody>
      </p:sp>
      <p:sp>
        <p:nvSpPr>
          <p:cNvPr id="9" name="">
            <a:extLst>
              <a:ext uri="{FF2B5EF4-FFF2-40B4-BE49-F238E27FC236}">
                <a16:creationId id="{2A66BC41-FFE3-42C5-8093-D38BC9B26B5F}"/>
              </a:ext>
            </a:extLst>
          </p:cNvPr>
          <p:cNvSpPr>
            <a:spLocks noGrp="1"/>
          </p:cNvSpPr>
          <p:nvPr/>
        </p:nvSpPr>
        <p:spPr>
          <a:xfrm>
            <a:off x="8534400" y="18478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76A9D469-307F-42B9-BE3C-8CA73B6A82C5}"/>
              </a:ext>
            </a:extLst>
          </p:cNvPr>
          <p:cNvSpPr>
            <a:spLocks noGrp="1"/>
          </p:cNvSpPr>
          <p:nvPr/>
        </p:nvSpPr>
        <p:spPr>
          <a:xfrm>
            <a:off x="8782050" y="1752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training loss</a:t>
            </a:r>
          </a:p>
        </p:txBody>
      </p:sp>
      <p:sp>
        <p:nvSpPr>
          <p:cNvPr id="11" name="">
            <a:extLst>
              <a:ext uri="{FF2B5EF4-FFF2-40B4-BE49-F238E27FC236}">
                <a16:creationId id="{46C8F73A-8640-42F6-806C-4D8928F3E6BC}"/>
              </a:ext>
            </a:extLst>
          </p:cNvPr>
          <p:cNvSpPr>
            <a:spLocks noGrp="1"/>
          </p:cNvSpPr>
          <p:nvPr/>
        </p:nvSpPr>
        <p:spPr>
          <a:xfrm>
            <a:off x="8534400" y="23050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705DD377-A83B-43CC-9EC6-77482E2069B9}"/>
              </a:ext>
            </a:extLst>
          </p:cNvPr>
          <p:cNvSpPr>
            <a:spLocks noGrp="1"/>
          </p:cNvSpPr>
          <p:nvPr/>
        </p:nvSpPr>
        <p:spPr>
          <a:xfrm>
            <a:off x="8782050" y="22098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generated designs</a:t>
            </a:r>
          </a:p>
        </p:txBody>
      </p:sp>
      <p:sp>
        <p:nvSpPr>
          <p:cNvPr id="13" name="">
            <a:extLst>
              <a:ext uri="{FF2B5EF4-FFF2-40B4-BE49-F238E27FC236}">
                <a16:creationId id="{C5F57729-09B8-4EA4-8B07-A310E3E8EF48}"/>
              </a:ext>
            </a:extLst>
          </p:cNvPr>
          <p:cNvSpPr>
            <a:spLocks noGrp="1"/>
          </p:cNvSpPr>
          <p:nvPr/>
        </p:nvSpPr>
        <p:spPr>
          <a:xfrm>
            <a:off x="8534400" y="27622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EFD8D822-C2E9-426C-AEAC-33A341095022}"/>
              </a:ext>
            </a:extLst>
          </p:cNvPr>
          <p:cNvSpPr>
            <a:spLocks noGrp="1"/>
          </p:cNvSpPr>
          <p:nvPr/>
        </p:nvSpPr>
        <p:spPr>
          <a:xfrm>
            <a:off x="8782050" y="26670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baseline designs</a:t>
            </a:r>
          </a:p>
        </p:txBody>
      </p:sp>
      <p:sp>
        <p:nvSpPr>
          <p:cNvPr id="15" name="">
            <a:extLst>
              <a:ext uri="{FF2B5EF4-FFF2-40B4-BE49-F238E27FC236}">
                <a16:creationId id="{65BB0089-5CD9-4656-8E67-810F87310E89}"/>
              </a:ext>
            </a:extLst>
          </p:cNvPr>
          <p:cNvSpPr>
            <a:spLocks noGrp="1"/>
          </p:cNvSpPr>
          <p:nvPr/>
        </p:nvSpPr>
        <p:spPr>
          <a:xfrm>
            <a:off x="8534400" y="32194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a16:creationId id="{B4DAECE4-98DD-4999-9221-ACE13AF01DDF}"/>
              </a:ext>
            </a:extLst>
          </p:cNvPr>
          <p:cNvSpPr>
            <a:spLocks noGrp="1"/>
          </p:cNvSpPr>
          <p:nvPr/>
        </p:nvSpPr>
        <p:spPr>
          <a:xfrm>
            <a:off x="8782050" y="31242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artifact bundle</a:t>
            </a:r>
          </a:p>
        </p:txBody>
      </p:sp>
    </p:spTree>
    <p:extLst>
      <p:ext uri="{BB962C8B-B14F-4D97-AF65-F5344CB8AC3E}">
        <p14:creationId val="167036704"/>
      </p:ext>
    </p:extLst>
  </p:cSld>
</p:sld>
</file>

<file path=ppt/slides/slide1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DEC64C49-75A0-47CB-8BCC-5E4336DE6E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3039760C-0070-4191-926C-240DE56500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B13388E0-97DF-47D8-9101-5A060F753A03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01</a:t>
            </a:r>
          </a:p>
        </p:txBody>
      </p:sp>
      <p:sp>
        <p:nvSpPr>
          <p:cNvPr id="5" name="">
            <a:extLst>
              <a:ext uri="{FF2B5EF4-FFF2-40B4-BE49-F238E27FC236}">
                <a16:creationId id="{FA2D8EDF-1FF9-4CE8-A979-93B871D1AA4A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511B370A-8B87-4A37-AA8D-9165F4FA1954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Notebook 01</a:t>
            </a:r>
          </a:p>
        </p:txBody>
      </p:sp>
      <p:sp>
        <p:nvSpPr>
          <p:cNvPr id="7" name="">
            <a:extLst>
              <a:ext uri="{FF2B5EF4-FFF2-40B4-BE49-F238E27FC236}">
                <a16:creationId id="{1E4D5E0C-0F63-4B7B-B2A7-5C540DE3E991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Training loss is a learning signal, not an engineering verdict.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7592d5bdbad24a2f"/>
          <a:stretch/>
        </p:blipFill>
        <p:spPr>
          <a:xfrm>
            <a:off x="757918" y="2152650"/>
            <a:ext cx="5551714" cy="3238500"/>
          </a:xfrm>
          <a:prstGeom prst="rect">
            <a:avLst/>
          </a:prstGeom>
        </p:spPr>
      </p:pic>
      <p:sp>
        <p:nvSpPr>
          <p:cNvPr id="9" name="">
            <a:extLst>
              <a:ext uri="{FF2B5EF4-FFF2-40B4-BE49-F238E27FC236}">
                <a16:creationId id="{40A10639-254D-4705-B8C7-A4E3B7F4E3EA}"/>
              </a:ext>
            </a:extLst>
          </p:cNvPr>
          <p:cNvSpPr>
            <a:spLocks noGrp="1"/>
          </p:cNvSpPr>
          <p:nvPr/>
        </p:nvSpPr>
        <p:spPr>
          <a:xfrm>
            <a:off x="7067550" y="2324100"/>
            <a:ext cx="3314700" cy="8953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846768D2-2B7D-492C-B5DE-7E073469D47A}"/>
              </a:ext>
            </a:extLst>
          </p:cNvPr>
          <p:cNvSpPr>
            <a:spLocks noGrp="1"/>
          </p:cNvSpPr>
          <p:nvPr/>
        </p:nvSpPr>
        <p:spPr>
          <a:xfrm>
            <a:off x="7258050" y="2495550"/>
            <a:ext cx="2933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What the model sees</a:t>
            </a:r>
          </a:p>
        </p:txBody>
      </p:sp>
      <p:sp>
        <p:nvSpPr>
          <p:cNvPr id="11" name="">
            <a:extLst>
              <a:ext uri="{FF2B5EF4-FFF2-40B4-BE49-F238E27FC236}">
                <a16:creationId id="{7EAD3232-F60E-4A50-B4C0-F0B529D2D6A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2933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condition tensors plus optimized Beams2D designs</a:t>
            </a:r>
          </a:p>
        </p:txBody>
      </p:sp>
      <p:sp>
        <p:nvSpPr>
          <p:cNvPr id="12" name="">
            <a:extLst>
              <a:ext uri="{FF2B5EF4-FFF2-40B4-BE49-F238E27FC236}">
                <a16:creationId id="{BE5B0FC6-37D0-4B93-9813-286044373705}"/>
              </a:ext>
            </a:extLst>
          </p:cNvPr>
          <p:cNvSpPr>
            <a:spLocks noGrp="1"/>
          </p:cNvSpPr>
          <p:nvPr/>
        </p:nvSpPr>
        <p:spPr>
          <a:xfrm>
            <a:off x="7067550" y="3429000"/>
            <a:ext cx="3314700" cy="8953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5FDEFC2E-B365-4AE9-9B73-70DC09ED750A}"/>
              </a:ext>
            </a:extLst>
          </p:cNvPr>
          <p:cNvSpPr>
            <a:spLocks noGrp="1"/>
          </p:cNvSpPr>
          <p:nvPr/>
        </p:nvSpPr>
        <p:spPr>
          <a:xfrm>
            <a:off x="7258050" y="3600450"/>
            <a:ext cx="2933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What the loss says</a:t>
            </a:r>
          </a:p>
        </p:txBody>
      </p:sp>
      <p:sp>
        <p:nvSpPr>
          <p:cNvPr id="14" name="">
            <a:extLst>
              <a:ext uri="{FF2B5EF4-FFF2-40B4-BE49-F238E27FC236}">
                <a16:creationId id="{59FBBF60-7869-4C25-BE6F-3AC5494D96EC}"/>
              </a:ext>
            </a:extLst>
          </p:cNvPr>
          <p:cNvSpPr>
            <a:spLocks noGrp="1"/>
          </p:cNvSpPr>
          <p:nvPr/>
        </p:nvSpPr>
        <p:spPr>
          <a:xfrm>
            <a:off x="7258050" y="3962400"/>
            <a:ext cx="2933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whether generated images resemble optimizer answers</a:t>
            </a:r>
          </a:p>
        </p:txBody>
      </p:sp>
      <p:sp>
        <p:nvSpPr>
          <p:cNvPr id="15" name="">
            <a:extLst>
              <a:ext uri="{FF2B5EF4-FFF2-40B4-BE49-F238E27FC236}">
                <a16:creationId id="{50008477-F7AC-4E12-BD58-9C917DB308CC}"/>
              </a:ext>
            </a:extLst>
          </p:cNvPr>
          <p:cNvSpPr>
            <a:spLocks noGrp="1"/>
          </p:cNvSpPr>
          <p:nvPr/>
        </p:nvSpPr>
        <p:spPr>
          <a:xfrm>
            <a:off x="7067550" y="4533900"/>
            <a:ext cx="3314700" cy="8953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a16:creationId id="{4F6AC356-6325-41EF-8098-52FCD34CAA7A}"/>
              </a:ext>
            </a:extLst>
          </p:cNvPr>
          <p:cNvSpPr>
            <a:spLocks noGrp="1"/>
          </p:cNvSpPr>
          <p:nvPr/>
        </p:nvSpPr>
        <p:spPr>
          <a:xfrm>
            <a:off x="7258050" y="4705350"/>
            <a:ext cx="2933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C8483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4837"/>
                </a:solidFill>
                <a:latin typeface="Aptos"/>
                <a:ea typeface="Aptos"/>
                <a:cs typeface="Aptos"/>
              </a:rPr>
              <a:t>What it does not say</a:t>
            </a:r>
          </a:p>
        </p:txBody>
      </p:sp>
      <p:sp>
        <p:nvSpPr>
          <p:cNvPr id="17" name="">
            <a:extLst>
              <a:ext uri="{FF2B5EF4-FFF2-40B4-BE49-F238E27FC236}">
                <a16:creationId id="{52D78643-17AC-4E72-99D2-A00E49A2EADB}"/>
              </a:ext>
            </a:extLst>
          </p:cNvPr>
          <p:cNvSpPr>
            <a:spLocks noGrp="1"/>
          </p:cNvSpPr>
          <p:nvPr/>
        </p:nvSpPr>
        <p:spPr>
          <a:xfrm>
            <a:off x="7258050" y="5067300"/>
            <a:ext cx="2933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whether the design obeys constraints or performs well</a:t>
            </a:r>
          </a:p>
        </p:txBody>
      </p:sp>
    </p:spTree>
    <p:extLst>
      <p:ext uri="{BB962C8B-B14F-4D97-AF65-F5344CB8AC3E}">
        <p14:creationId val="416140909"/>
      </p:ext>
    </p:extLst>
  </p:cSld>
</p:sld>
</file>

<file path=ppt/slides/slide13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003A990A-9922-43DE-B609-45DB39CF57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6B360833-6207-47F9-9E62-C1AE6A820B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642BE3D1-619F-45D9-A043-3447E351B313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01</a:t>
            </a:r>
          </a:p>
        </p:txBody>
      </p:sp>
      <p:sp>
        <p:nvSpPr>
          <p:cNvPr id="5" name="">
            <a:extLst>
              <a:ext uri="{FF2B5EF4-FFF2-40B4-BE49-F238E27FC236}">
                <a16:creationId id="{7066A89F-B263-47DD-BECE-E8731D19594E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0441B097-5A09-4757-9503-44AB412E9E96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Generated vs baseline</a:t>
            </a:r>
          </a:p>
        </p:txBody>
      </p:sp>
      <p:sp>
        <p:nvSpPr>
          <p:cNvPr id="7" name="">
            <a:extLst>
              <a:ext uri="{FF2B5EF4-FFF2-40B4-BE49-F238E27FC236}">
                <a16:creationId id="{3C8C4CB1-8A77-4D23-A1A1-25702CC3FE0C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Look at the designs, but do not stop at the eye test.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79395cd4f4a345ec"/>
          <a:stretch/>
        </p:blipFill>
        <p:spPr>
          <a:xfrm>
            <a:off x="3267075" y="1962150"/>
            <a:ext cx="5600700" cy="3733800"/>
          </a:xfrm>
          <a:prstGeom prst="rect">
            <a:avLst/>
          </a:prstGeom>
        </p:spPr>
      </p:pic>
      <p:sp>
        <p:nvSpPr>
          <p:cNvPr id="9" name="">
            <a:extLst>
              <a:ext uri="{FF2B5EF4-FFF2-40B4-BE49-F238E27FC236}">
                <a16:creationId id="{9C24C7C7-D0DB-4A7E-BAA5-32A25BA3E1C0}"/>
              </a:ext>
            </a:extLst>
          </p:cNvPr>
          <p:cNvSpPr>
            <a:spLocks noGrp="1"/>
          </p:cNvSpPr>
          <p:nvPr/>
        </p:nvSpPr>
        <p:spPr>
          <a:xfrm>
            <a:off x="2238375" y="5867400"/>
            <a:ext cx="7715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Notebook 02 will turn this visual comparison into engineering evidence.</a:t>
            </a:r>
          </a:p>
        </p:txBody>
      </p:sp>
    </p:spTree>
    <p:extLst>
      <p:ext uri="{BB962C8B-B14F-4D97-AF65-F5344CB8AC3E}">
        <p14:creationId val="436526102"/>
      </p:ext>
    </p:extLst>
  </p:cSld>
</p:sld>
</file>

<file path=ppt/slides/slide14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863C1396-5125-487B-9901-93292952C50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893826BD-10F2-4A2C-B2A0-3AD80EAADC8C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FE3F3"/>
                </a:solidFill>
                <a:latin typeface="Aptos"/>
                <a:ea typeface="Aptos"/>
                <a:cs typeface="Aptos"/>
              </a:rPr>
              <a:t>Notebook 02</a:t>
            </a:r>
          </a:p>
        </p:txBody>
      </p:sp>
      <p:sp>
        <p:nvSpPr>
          <p:cNvPr id="4" name="">
            <a:extLst>
              <a:ext uri="{FF2B5EF4-FFF2-40B4-BE49-F238E27FC236}">
                <a16:creationId id="{AB70B278-DC0B-4A41-B993-E040AE27A44A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FE3F3"/>
                </a:solidFill>
                <a:latin typeface="Aptos"/>
                <a:ea typeface="Aptos"/>
                <a:cs typeface="Aptos"/>
              </a:rPr>
              <a:t>02_evaluating_your_generated_designs.ipynb</a:t>
            </a:r>
          </a:p>
        </p:txBody>
      </p:sp>
      <p:sp>
        <p:nvSpPr>
          <p:cNvPr id="5" name="">
            <a:extLst>
              <a:ext uri="{FF2B5EF4-FFF2-40B4-BE49-F238E27FC236}">
                <a16:creationId id="{C2A2E81C-606F-453C-9764-B594D202F553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723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Evaluate generated designs as engineering candidates.</a:t>
            </a:r>
          </a:p>
        </p:txBody>
      </p:sp>
      <p:sp>
        <p:nvSpPr>
          <p:cNvPr id="6" name="">
            <a:extLst>
              <a:ext uri="{FF2B5EF4-FFF2-40B4-BE49-F238E27FC236}">
                <a16:creationId id="{D02BD344-5F7E-46DE-BD4D-3B28F7AC7F6D}"/>
              </a:ext>
            </a:extLst>
          </p:cNvPr>
          <p:cNvSpPr>
            <a:spLocks noGrp="1"/>
          </p:cNvSpPr>
          <p:nvPr/>
        </p:nvSpPr>
        <p:spPr>
          <a:xfrm>
            <a:off x="723900" y="2990850"/>
            <a:ext cx="6905625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You will check rules, run performance comparisons, measure diversity, and ask whether generation helps optimization.</a:t>
            </a:r>
          </a:p>
        </p:txBody>
      </p:sp>
      <p:sp>
        <p:nvSpPr>
          <p:cNvPr id="7" name="">
            <a:extLst>
              <a:ext uri="{FF2B5EF4-FFF2-40B4-BE49-F238E27FC236}">
                <a16:creationId id="{D7CEA98D-9D31-4A5E-8032-EA1731FEC5D5}"/>
              </a:ext>
            </a:extLst>
          </p:cNvPr>
          <p:cNvSpPr>
            <a:spLocks noGrp="1"/>
          </p:cNvSpPr>
          <p:nvPr/>
        </p:nvSpPr>
        <p:spPr>
          <a:xfrm>
            <a:off x="8191500" y="990600"/>
            <a:ext cx="3124200" cy="4438650"/>
          </a:xfrm>
          <a:prstGeom prst="rect">
            <a:avLst/>
          </a:prstGeom>
          <a:solidFill>
            <a:srgbClr val="FFFFFF">
              <a:alpha val="8235"/>
            </a:srgbClr>
          </a:solidFill>
          <a:ln w="9525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a16:creationId id="{0A41BEF6-E890-4A2D-9480-41F83D278EF6}"/>
              </a:ext>
            </a:extLst>
          </p:cNvPr>
          <p:cNvSpPr>
            <a:spLocks noGrp="1"/>
          </p:cNvSpPr>
          <p:nvPr/>
        </p:nvSpPr>
        <p:spPr>
          <a:xfrm>
            <a:off x="8515350" y="1333500"/>
            <a:ext cx="2476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You should leave with</a:t>
            </a:r>
          </a:p>
        </p:txBody>
      </p:sp>
      <p:sp>
        <p:nvSpPr>
          <p:cNvPr id="9" name="">
            <a:extLst>
              <a:ext uri="{FF2B5EF4-FFF2-40B4-BE49-F238E27FC236}">
                <a16:creationId id="{FAFD354C-07FB-480F-9434-76EFB1AB2430}"/>
              </a:ext>
            </a:extLst>
          </p:cNvPr>
          <p:cNvSpPr>
            <a:spLocks noGrp="1"/>
          </p:cNvSpPr>
          <p:nvPr/>
        </p:nvSpPr>
        <p:spPr>
          <a:xfrm>
            <a:off x="8534400" y="18478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EBBDC0B8-14A4-40F1-91BD-CE07F71E6306}"/>
              </a:ext>
            </a:extLst>
          </p:cNvPr>
          <p:cNvSpPr>
            <a:spLocks noGrp="1"/>
          </p:cNvSpPr>
          <p:nvPr/>
        </p:nvSpPr>
        <p:spPr>
          <a:xfrm>
            <a:off x="8782050" y="1752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feasibility rates</a:t>
            </a:r>
          </a:p>
        </p:txBody>
      </p:sp>
      <p:sp>
        <p:nvSpPr>
          <p:cNvPr id="11" name="">
            <a:extLst>
              <a:ext uri="{FF2B5EF4-FFF2-40B4-BE49-F238E27FC236}">
                <a16:creationId id="{8B4FAE45-D3A5-4DA0-A97B-C0DAC6F999E6}"/>
              </a:ext>
            </a:extLst>
          </p:cNvPr>
          <p:cNvSpPr>
            <a:spLocks noGrp="1"/>
          </p:cNvSpPr>
          <p:nvPr/>
        </p:nvSpPr>
        <p:spPr>
          <a:xfrm>
            <a:off x="8534400" y="23050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915A70C7-A04D-489A-8326-F174EBB39171}"/>
              </a:ext>
            </a:extLst>
          </p:cNvPr>
          <p:cNvSpPr>
            <a:spLocks noGrp="1"/>
          </p:cNvSpPr>
          <p:nvPr/>
        </p:nvSpPr>
        <p:spPr>
          <a:xfrm>
            <a:off x="8782050" y="22098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objective comparison</a:t>
            </a:r>
          </a:p>
        </p:txBody>
      </p:sp>
      <p:sp>
        <p:nvSpPr>
          <p:cNvPr id="13" name="">
            <a:extLst>
              <a:ext uri="{FF2B5EF4-FFF2-40B4-BE49-F238E27FC236}">
                <a16:creationId id="{BBBA82AC-0C4D-47F4-BE9F-375AB29545BF}"/>
              </a:ext>
            </a:extLst>
          </p:cNvPr>
          <p:cNvSpPr>
            <a:spLocks noGrp="1"/>
          </p:cNvSpPr>
          <p:nvPr/>
        </p:nvSpPr>
        <p:spPr>
          <a:xfrm>
            <a:off x="8534400" y="27622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1BCC4BB7-AD2C-4CB2-9F31-DEDE1E5F6BD2}"/>
              </a:ext>
            </a:extLst>
          </p:cNvPr>
          <p:cNvSpPr>
            <a:spLocks noGrp="1"/>
          </p:cNvSpPr>
          <p:nvPr/>
        </p:nvSpPr>
        <p:spPr>
          <a:xfrm>
            <a:off x="8782050" y="26670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diversity proxy</a:t>
            </a:r>
          </a:p>
        </p:txBody>
      </p:sp>
      <p:sp>
        <p:nvSpPr>
          <p:cNvPr id="15" name="">
            <a:extLst>
              <a:ext uri="{FF2B5EF4-FFF2-40B4-BE49-F238E27FC236}">
                <a16:creationId id="{F3CA1493-C4DD-4E30-9FC5-BA099F2F097C}"/>
              </a:ext>
            </a:extLst>
          </p:cNvPr>
          <p:cNvSpPr>
            <a:spLocks noGrp="1"/>
          </p:cNvSpPr>
          <p:nvPr/>
        </p:nvSpPr>
        <p:spPr>
          <a:xfrm>
            <a:off x="8534400" y="32194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a16:creationId id="{EF5B36EA-0A67-4AAB-A8C5-41B69D2EDDB5}"/>
              </a:ext>
            </a:extLst>
          </p:cNvPr>
          <p:cNvSpPr>
            <a:spLocks noGrp="1"/>
          </p:cNvSpPr>
          <p:nvPr/>
        </p:nvSpPr>
        <p:spPr>
          <a:xfrm>
            <a:off x="8782050" y="31242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warm-start curves</a:t>
            </a:r>
          </a:p>
        </p:txBody>
      </p:sp>
    </p:spTree>
    <p:extLst>
      <p:ext uri="{BB962C8B-B14F-4D97-AF65-F5344CB8AC3E}">
        <p14:creationId val="248558360"/>
      </p:ext>
    </p:extLst>
  </p:cSld>
</p:sld>
</file>

<file path=ppt/slides/slide15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A6733A90-1BE1-4DD7-A6BC-17514B7568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E6FA3117-30EA-4F8A-A15A-95A793F7C4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A9101488-B441-4305-957C-33959AA5778B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02</a:t>
            </a:r>
          </a:p>
        </p:txBody>
      </p:sp>
      <p:sp>
        <p:nvSpPr>
          <p:cNvPr id="5" name="">
            <a:extLst>
              <a:ext uri="{FF2B5EF4-FFF2-40B4-BE49-F238E27FC236}">
                <a16:creationId id="{38E001AC-2546-4002-864A-0BEF88323E79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B3D203B4-C500-41D7-A601-BEADB723993A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Notebook 02</a:t>
            </a:r>
          </a:p>
        </p:txBody>
      </p:sp>
      <p:sp>
        <p:nvSpPr>
          <p:cNvPr id="7" name="">
            <a:extLst>
              <a:ext uri="{FF2B5EF4-FFF2-40B4-BE49-F238E27FC236}">
                <a16:creationId id="{7C84FBF4-F178-4F1E-A209-5341D8393985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A benchmark turns model outputs into evidence.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d1243ce4576344ef"/>
          <a:stretch/>
        </p:blipFill>
        <p:spPr>
          <a:xfrm>
            <a:off x="1713406" y="2095500"/>
            <a:ext cx="8422287" cy="3429000"/>
          </a:xfrm>
          <a:prstGeom prst="rect">
            <a:avLst/>
          </a:prstGeom>
        </p:spPr>
      </p:pic>
    </p:spTree>
    <p:extLst>
      <p:ext uri="{BB962C8B-B14F-4D97-AF65-F5344CB8AC3E}">
        <p14:creationId val="254252855"/>
      </p:ext>
    </p:extLst>
  </p:cSld>
</p:sld>
</file>

<file path=ppt/slides/slide16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9393DAE0-E5AE-42B5-B128-50B2994248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14ADD49A-01BB-400A-8C93-7EB38AFEC4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D33C6154-E9E0-4C5C-BDF9-6C137D17966D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02</a:t>
            </a:r>
          </a:p>
        </p:txBody>
      </p:sp>
      <p:sp>
        <p:nvSpPr>
          <p:cNvPr id="5" name="">
            <a:extLst>
              <a:ext uri="{FF2B5EF4-FFF2-40B4-BE49-F238E27FC236}">
                <a16:creationId id="{5C3ABA41-3642-4144-8B2B-637DF3472B77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9E9BA3E6-0642-4127-8AFB-639F92C5C7CE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A useful failure mode</a:t>
            </a:r>
          </a:p>
        </p:txBody>
      </p:sp>
      <p:sp>
        <p:nvSpPr>
          <p:cNvPr id="7" name="">
            <a:extLst>
              <a:ext uri="{FF2B5EF4-FFF2-40B4-BE49-F238E27FC236}">
                <a16:creationId id="{143B201E-0C32-441F-BDAA-2BD174973B72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In the saved workshop run, visual plausibility did not imply feasibility or performance.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53b6a4051de34c66"/>
          <a:stretch/>
        </p:blipFill>
        <p:spPr>
          <a:xfrm>
            <a:off x="1333500" y="1981200"/>
            <a:ext cx="3810000" cy="3810000"/>
          </a:xfrm>
          <a:prstGeom prst="rect">
            <a:avLst/>
          </a:prstGeom>
        </p:spPr>
      </p:pic>
      <p:pic>
        <p:nvPicPr>
          <p:cNvPr id="9" name=""/>
          <p:cNvPicPr>
            <a:picLocks noChangeAspect="1"/>
          </p:cNvPicPr>
          <p:nvPr/>
        </p:nvPicPr>
        <p:blipFill>
          <a:blip r:embed="R91601b51a97e4059"/>
          <a:stretch/>
        </p:blipFill>
        <p:spPr>
          <a:xfrm>
            <a:off x="6191250" y="2389414"/>
            <a:ext cx="4572000" cy="2612571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a16:creationId id="{237F5EC2-F0AB-4DD9-92AA-24A56F49C323}"/>
              </a:ext>
            </a:extLst>
          </p:cNvPr>
          <p:cNvSpPr>
            <a:spLocks noGrp="1"/>
          </p:cNvSpPr>
          <p:nvPr/>
        </p:nvSpPr>
        <p:spPr>
          <a:xfrm>
            <a:off x="1638300" y="5810250"/>
            <a:ext cx="89154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7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This is the point of the workshop: engineering validity is measured, not assumed.</a:t>
            </a:r>
          </a:p>
        </p:txBody>
      </p:sp>
    </p:spTree>
    <p:extLst>
      <p:ext uri="{BB962C8B-B14F-4D97-AF65-F5344CB8AC3E}">
        <p14:creationId val="753856566"/>
      </p:ext>
    </p:extLst>
  </p:cSld>
</p:sld>
</file>

<file path=ppt/slides/slide17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B7DCCC68-16C9-442F-B32B-85DD7398D6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A9D113EA-4808-4CBA-8A9E-FA541A6ECF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0F240F8D-A02F-40D8-BE38-F26F741B6E37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02</a:t>
            </a:r>
          </a:p>
        </p:txBody>
      </p:sp>
      <p:sp>
        <p:nvSpPr>
          <p:cNvPr id="5" name="">
            <a:extLst>
              <a:ext uri="{FF2B5EF4-FFF2-40B4-BE49-F238E27FC236}">
                <a16:creationId id="{EE593B84-4A3B-44CC-A038-824F4AC60F12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6650E170-E166-49F7-A1DC-B1B9CA075B51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Warm-starting</a:t>
            </a:r>
          </a:p>
        </p:txBody>
      </p:sp>
      <p:sp>
        <p:nvSpPr>
          <p:cNvPr id="7" name="">
            <a:extLst>
              <a:ext uri="{FF2B5EF4-FFF2-40B4-BE49-F238E27FC236}">
                <a16:creationId id="{86B6C4FF-60FD-41D7-BD83-F88A73A0359D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A generator can still be useful if it gives the optimizer a better starting point.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cfae773807c241ec"/>
          <a:stretch/>
        </p:blipFill>
        <p:spPr>
          <a:xfrm>
            <a:off x="2184143" y="1885950"/>
            <a:ext cx="7709413" cy="3810000"/>
          </a:xfrm>
          <a:prstGeom prst="rect">
            <a:avLst/>
          </a:prstGeom>
        </p:spPr>
      </p:pic>
    </p:spTree>
    <p:extLst>
      <p:ext uri="{BB962C8B-B14F-4D97-AF65-F5344CB8AC3E}">
        <p14:creationId val="259907765"/>
      </p:ext>
    </p:extLst>
  </p:cSld>
</p:sld>
</file>

<file path=ppt/slides/slide18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C9686F9C-C4C3-42A9-A5E0-4717446DA4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C57D921F-2679-4821-AB41-DCA90320C6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13E5DAA9-CE42-4D93-97AC-78EFC39D2ECC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5" name="">
            <a:extLst>
              <a:ext uri="{FF2B5EF4-FFF2-40B4-BE49-F238E27FC236}">
                <a16:creationId id="{DA8C4255-D4D1-480C-9443-094155C029C6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F82CA510-21BE-4CDB-A913-09472064EF51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7" name="">
            <a:extLst>
              <a:ext uri="{FF2B5EF4-FFF2-40B4-BE49-F238E27FC236}">
                <a16:creationId id="{708B1EB1-B159-4B73-B7E3-781511696AF2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Which metric would change the conclusion in your design domain?</a:t>
            </a:r>
          </a:p>
        </p:txBody>
      </p:sp>
      <p:sp>
        <p:nvSpPr>
          <p:cNvPr id="8" name="">
            <a:extLst>
              <a:ext uri="{FF2B5EF4-FFF2-40B4-BE49-F238E27FC236}">
                <a16:creationId id="{F57EB268-5FDC-406B-9035-4E67B8771447}"/>
              </a:ext>
            </a:extLst>
          </p:cNvPr>
          <p:cNvSpPr>
            <a:spLocks noGrp="1"/>
          </p:cNvSpPr>
          <p:nvPr/>
        </p:nvSpPr>
        <p:spPr>
          <a:xfrm>
            <a:off x="809625" y="2781300"/>
            <a:ext cx="1714500" cy="400050"/>
          </a:xfrm>
          <a:prstGeom prst="rect">
            <a:avLst/>
          </a:prstGeom>
          <a:solidFill>
            <a:srgbClr val="DDEDE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4B37A574-67F8-45F4-A5D8-B98E81A0FC8F}"/>
              </a:ext>
            </a:extLst>
          </p:cNvPr>
          <p:cNvSpPr>
            <a:spLocks noGrp="1"/>
          </p:cNvSpPr>
          <p:nvPr/>
        </p:nvSpPr>
        <p:spPr>
          <a:xfrm>
            <a:off x="923925" y="2886075"/>
            <a:ext cx="1485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Feasibility</a:t>
            </a:r>
          </a:p>
        </p:txBody>
      </p:sp>
      <p:sp>
        <p:nvSpPr>
          <p:cNvPr id="10" name="">
            <a:extLst>
              <a:ext uri="{FF2B5EF4-FFF2-40B4-BE49-F238E27FC236}">
                <a16:creationId id="{77C7E4F3-573F-42E2-892D-EE05FF65A0F8}"/>
              </a:ext>
            </a:extLst>
          </p:cNvPr>
          <p:cNvSpPr>
            <a:spLocks noGrp="1"/>
          </p:cNvSpPr>
          <p:nvPr/>
        </p:nvSpPr>
        <p:spPr>
          <a:xfrm>
            <a:off x="3000375" y="2781300"/>
            <a:ext cx="1714500" cy="400050"/>
          </a:xfrm>
          <a:prstGeom prst="rect">
            <a:avLst/>
          </a:prstGeom>
          <a:solidFill>
            <a:srgbClr val="F7D9D4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a16:creationId id="{B1B7B154-A5A0-47D6-B7F9-8EC1B30823E9}"/>
              </a:ext>
            </a:extLst>
          </p:cNvPr>
          <p:cNvSpPr>
            <a:spLocks noGrp="1"/>
          </p:cNvSpPr>
          <p:nvPr/>
        </p:nvSpPr>
        <p:spPr>
          <a:xfrm>
            <a:off x="3114675" y="2886075"/>
            <a:ext cx="1485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C8483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4837"/>
                </a:solidFill>
                <a:latin typeface="Aptos"/>
                <a:ea typeface="Aptos"/>
                <a:cs typeface="Aptos"/>
              </a:rPr>
              <a:t>Objective gap</a:t>
            </a:r>
          </a:p>
        </p:txBody>
      </p:sp>
      <p:sp>
        <p:nvSpPr>
          <p:cNvPr id="12" name="">
            <a:extLst>
              <a:ext uri="{FF2B5EF4-FFF2-40B4-BE49-F238E27FC236}">
                <a16:creationId id="{FDD61742-747A-4A6E-B99D-82DAC3643ECF}"/>
              </a:ext>
            </a:extLst>
          </p:cNvPr>
          <p:cNvSpPr>
            <a:spLocks noGrp="1"/>
          </p:cNvSpPr>
          <p:nvPr/>
        </p:nvSpPr>
        <p:spPr>
          <a:xfrm>
            <a:off x="5191125" y="2781300"/>
            <a:ext cx="1714500" cy="400050"/>
          </a:xfrm>
          <a:prstGeom prst="rect">
            <a:avLst/>
          </a:prstGeom>
          <a:solidFill>
            <a:srgbClr val="D7E8F6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7EE776E0-CB8A-4E95-B73A-EBE4B349C0C9}"/>
              </a:ext>
            </a:extLst>
          </p:cNvPr>
          <p:cNvSpPr>
            <a:spLocks noGrp="1"/>
          </p:cNvSpPr>
          <p:nvPr/>
        </p:nvSpPr>
        <p:spPr>
          <a:xfrm>
            <a:off x="5305425" y="2886075"/>
            <a:ext cx="1485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14" name="">
            <a:extLst>
              <a:ext uri="{FF2B5EF4-FFF2-40B4-BE49-F238E27FC236}">
                <a16:creationId id="{58C380D8-3BB0-46E3-9CF7-FCC43FB956B2}"/>
              </a:ext>
            </a:extLst>
          </p:cNvPr>
          <p:cNvSpPr>
            <a:spLocks noGrp="1"/>
          </p:cNvSpPr>
          <p:nvPr/>
        </p:nvSpPr>
        <p:spPr>
          <a:xfrm>
            <a:off x="7381875" y="2781300"/>
            <a:ext cx="1714500" cy="400050"/>
          </a:xfrm>
          <a:prstGeom prst="rect">
            <a:avLst/>
          </a:prstGeom>
          <a:solidFill>
            <a:srgbClr val="F6E3C7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879F3C34-7686-429D-90AE-B93DDEF48C66}"/>
              </a:ext>
            </a:extLst>
          </p:cNvPr>
          <p:cNvSpPr>
            <a:spLocks noGrp="1"/>
          </p:cNvSpPr>
          <p:nvPr/>
        </p:nvSpPr>
        <p:spPr>
          <a:xfrm>
            <a:off x="7496175" y="2886075"/>
            <a:ext cx="1485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C47B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47B20"/>
                </a:solidFill>
                <a:latin typeface="Aptos"/>
                <a:ea typeface="Aptos"/>
                <a:cs typeface="Aptos"/>
              </a:rPr>
              <a:t>Novelty</a:t>
            </a:r>
          </a:p>
        </p:txBody>
      </p:sp>
      <p:sp>
        <p:nvSpPr>
          <p:cNvPr id="16" name="">
            <a:extLst>
              <a:ext uri="{FF2B5EF4-FFF2-40B4-BE49-F238E27FC236}">
                <a16:creationId id="{AB1025CE-842B-46AA-BC7D-B17AD2908D0E}"/>
              </a:ext>
            </a:extLst>
          </p:cNvPr>
          <p:cNvSpPr>
            <a:spLocks noGrp="1"/>
          </p:cNvSpPr>
          <p:nvPr/>
        </p:nvSpPr>
        <p:spPr>
          <a:xfrm>
            <a:off x="9572625" y="2781300"/>
            <a:ext cx="17145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B8D3E8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a16:creationId id="{C1FE5B53-3B53-4346-8FE8-52D791BD3AB5}"/>
              </a:ext>
            </a:extLst>
          </p:cNvPr>
          <p:cNvSpPr>
            <a:spLocks noGrp="1"/>
          </p:cNvSpPr>
          <p:nvPr/>
        </p:nvSpPr>
        <p:spPr>
          <a:xfrm>
            <a:off x="9686925" y="2886075"/>
            <a:ext cx="1485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Warm-start value</a:t>
            </a:r>
          </a:p>
        </p:txBody>
      </p:sp>
      <p:sp>
        <p:nvSpPr>
          <p:cNvPr id="18" name="">
            <a:extLst>
              <a:ext uri="{FF2B5EF4-FFF2-40B4-BE49-F238E27FC236}">
                <a16:creationId id="{9577F4ED-9821-4DE6-90E3-871520867FBB}"/>
              </a:ext>
            </a:extLst>
          </p:cNvPr>
          <p:cNvSpPr>
            <a:spLocks noGrp="1"/>
          </p:cNvSpPr>
          <p:nvPr/>
        </p:nvSpPr>
        <p:spPr>
          <a:xfrm>
            <a:off x="1524000" y="4705350"/>
            <a:ext cx="9144000" cy="876300"/>
          </a:xfrm>
          <a:prstGeom prst="rect">
            <a:avLst/>
          </a:prstGeom>
          <a:solidFill>
            <a:srgbClr val="225E9B"/>
          </a:solidFill>
          <a:ln w="9525">
            <a:solidFill>
              <a:srgbClr val="225E9B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a16:creationId id="{D615AC40-90DF-4623-8B5F-A43529BEC302}"/>
              </a:ext>
            </a:extLst>
          </p:cNvPr>
          <p:cNvSpPr>
            <a:spLocks noGrp="1"/>
          </p:cNvSpPr>
          <p:nvPr/>
        </p:nvSpPr>
        <p:spPr>
          <a:xfrm>
            <a:off x="2076450" y="4953000"/>
            <a:ext cx="8039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 your field, what would make a generated design scientifically convincing?</a:t>
            </a:r>
          </a:p>
        </p:txBody>
      </p:sp>
    </p:spTree>
    <p:extLst>
      <p:ext uri="{BB962C8B-B14F-4D97-AF65-F5344CB8AC3E}">
        <p14:creationId val="1445150442"/>
      </p:ext>
    </p:extLst>
  </p:cSld>
</p:sld>
</file>

<file path=ppt/slides/slide19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0128F079-44E6-4727-B468-9E7DFB3420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B62AAC8C-FFB3-4C37-819A-C7BA9E3977E1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FE3F3"/>
                </a:solidFill>
                <a:latin typeface="Aptos"/>
                <a:ea typeface="Aptos"/>
                <a:cs typeface="Aptos"/>
              </a:rPr>
              <a:t>Notebook 03</a:t>
            </a:r>
          </a:p>
        </p:txBody>
      </p:sp>
      <p:sp>
        <p:nvSpPr>
          <p:cNvPr id="4" name="">
            <a:extLst>
              <a:ext uri="{FF2B5EF4-FFF2-40B4-BE49-F238E27FC236}">
                <a16:creationId id="{07763AFA-C3E8-4D89-B6F3-DE9C388F8158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FE3F3"/>
                </a:solidFill>
                <a:latin typeface="Aptos"/>
                <a:ea typeface="Aptos"/>
                <a:cs typeface="Aptos"/>
              </a:rPr>
              <a:t>03_writing_your_own_problem.ipynb</a:t>
            </a:r>
          </a:p>
        </p:txBody>
      </p:sp>
      <p:sp>
        <p:nvSpPr>
          <p:cNvPr id="5" name="">
            <a:extLst>
              <a:ext uri="{FF2B5EF4-FFF2-40B4-BE49-F238E27FC236}">
                <a16:creationId id="{FF57B5B0-0F3E-4739-8741-ED6D077ECFE8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723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Write your own design problem behind the same interface.</a:t>
            </a:r>
          </a:p>
        </p:txBody>
      </p:sp>
      <p:sp>
        <p:nvSpPr>
          <p:cNvPr id="6" name="">
            <a:extLst>
              <a:ext uri="{FF2B5EF4-FFF2-40B4-BE49-F238E27FC236}">
                <a16:creationId id="{14550258-B81E-4364-A716-A54489D7632B}"/>
              </a:ext>
            </a:extLst>
          </p:cNvPr>
          <p:cNvSpPr>
            <a:spLocks noGrp="1"/>
          </p:cNvSpPr>
          <p:nvPr/>
        </p:nvSpPr>
        <p:spPr>
          <a:xfrm>
            <a:off x="723900" y="2990850"/>
            <a:ext cx="6905625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You will wrap a tiny physics problem, then use it exactly like Beams2D.</a:t>
            </a:r>
          </a:p>
        </p:txBody>
      </p:sp>
      <p:sp>
        <p:nvSpPr>
          <p:cNvPr id="7" name="">
            <a:extLst>
              <a:ext uri="{FF2B5EF4-FFF2-40B4-BE49-F238E27FC236}">
                <a16:creationId id="{BEBC6695-CF3C-401C-8E32-EC27527223EB}"/>
              </a:ext>
            </a:extLst>
          </p:cNvPr>
          <p:cNvSpPr>
            <a:spLocks noGrp="1"/>
          </p:cNvSpPr>
          <p:nvPr/>
        </p:nvSpPr>
        <p:spPr>
          <a:xfrm>
            <a:off x="8191500" y="990600"/>
            <a:ext cx="3124200" cy="4438650"/>
          </a:xfrm>
          <a:prstGeom prst="rect">
            <a:avLst/>
          </a:prstGeom>
          <a:solidFill>
            <a:srgbClr val="FFFFFF">
              <a:alpha val="8235"/>
            </a:srgbClr>
          </a:solidFill>
          <a:ln w="9525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a16:creationId id="{B9263FE5-56CD-43E7-B505-2F5B00E4740A}"/>
              </a:ext>
            </a:extLst>
          </p:cNvPr>
          <p:cNvSpPr>
            <a:spLocks noGrp="1"/>
          </p:cNvSpPr>
          <p:nvPr/>
        </p:nvSpPr>
        <p:spPr>
          <a:xfrm>
            <a:off x="8515350" y="1333500"/>
            <a:ext cx="2476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You should leave with</a:t>
            </a:r>
          </a:p>
        </p:txBody>
      </p:sp>
      <p:sp>
        <p:nvSpPr>
          <p:cNvPr id="9" name="">
            <a:extLst>
              <a:ext uri="{FF2B5EF4-FFF2-40B4-BE49-F238E27FC236}">
                <a16:creationId id="{DE81D2FB-0109-494D-9F0C-1E8F33805B07}"/>
              </a:ext>
            </a:extLst>
          </p:cNvPr>
          <p:cNvSpPr>
            <a:spLocks noGrp="1"/>
          </p:cNvSpPr>
          <p:nvPr/>
        </p:nvSpPr>
        <p:spPr>
          <a:xfrm>
            <a:off x="8534400" y="18478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172502DA-CE04-4BBB-BDD5-12270CC0394C}"/>
              </a:ext>
            </a:extLst>
          </p:cNvPr>
          <p:cNvSpPr>
            <a:spLocks noGrp="1"/>
          </p:cNvSpPr>
          <p:nvPr/>
        </p:nvSpPr>
        <p:spPr>
          <a:xfrm>
            <a:off x="8782050" y="1752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design space</a:t>
            </a:r>
          </a:p>
        </p:txBody>
      </p:sp>
      <p:sp>
        <p:nvSpPr>
          <p:cNvPr id="11" name="">
            <a:extLst>
              <a:ext uri="{FF2B5EF4-FFF2-40B4-BE49-F238E27FC236}">
                <a16:creationId id="{94FBB71A-CEF4-4358-8863-90C2E3B38E19}"/>
              </a:ext>
            </a:extLst>
          </p:cNvPr>
          <p:cNvSpPr>
            <a:spLocks noGrp="1"/>
          </p:cNvSpPr>
          <p:nvPr/>
        </p:nvSpPr>
        <p:spPr>
          <a:xfrm>
            <a:off x="8534400" y="23050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A7D218E0-A018-4409-9F8E-353141D9F28E}"/>
              </a:ext>
            </a:extLst>
          </p:cNvPr>
          <p:cNvSpPr>
            <a:spLocks noGrp="1"/>
          </p:cNvSpPr>
          <p:nvPr/>
        </p:nvSpPr>
        <p:spPr>
          <a:xfrm>
            <a:off x="8782050" y="22098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conditions</a:t>
            </a:r>
          </a:p>
        </p:txBody>
      </p:sp>
      <p:sp>
        <p:nvSpPr>
          <p:cNvPr id="13" name="">
            <a:extLst>
              <a:ext uri="{FF2B5EF4-FFF2-40B4-BE49-F238E27FC236}">
                <a16:creationId id="{6EAA23B9-D6C3-4C00-9F9D-43BC984234DF}"/>
              </a:ext>
            </a:extLst>
          </p:cNvPr>
          <p:cNvSpPr>
            <a:spLocks noGrp="1"/>
          </p:cNvSpPr>
          <p:nvPr/>
        </p:nvSpPr>
        <p:spPr>
          <a:xfrm>
            <a:off x="8534400" y="27622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C7C6FBA4-2890-416F-8EF4-455AF0B6C704}"/>
              </a:ext>
            </a:extLst>
          </p:cNvPr>
          <p:cNvSpPr>
            <a:spLocks noGrp="1"/>
          </p:cNvSpPr>
          <p:nvPr/>
        </p:nvSpPr>
        <p:spPr>
          <a:xfrm>
            <a:off x="8782050" y="26670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objective</a:t>
            </a:r>
          </a:p>
        </p:txBody>
      </p:sp>
      <p:sp>
        <p:nvSpPr>
          <p:cNvPr id="15" name="">
            <a:extLst>
              <a:ext uri="{FF2B5EF4-FFF2-40B4-BE49-F238E27FC236}">
                <a16:creationId id="{93814ECF-751A-4373-9D86-CE5672300CD7}"/>
              </a:ext>
            </a:extLst>
          </p:cNvPr>
          <p:cNvSpPr>
            <a:spLocks noGrp="1"/>
          </p:cNvSpPr>
          <p:nvPr/>
        </p:nvSpPr>
        <p:spPr>
          <a:xfrm>
            <a:off x="8534400" y="32194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a16:creationId id="{251EBDBA-ADE0-4908-B47F-BD3DDABC3858}"/>
              </a:ext>
            </a:extLst>
          </p:cNvPr>
          <p:cNvSpPr>
            <a:spLocks noGrp="1"/>
          </p:cNvSpPr>
          <p:nvPr/>
        </p:nvSpPr>
        <p:spPr>
          <a:xfrm>
            <a:off x="8782050" y="31242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constraints</a:t>
            </a:r>
          </a:p>
        </p:txBody>
      </p:sp>
      <p:sp>
        <p:nvSpPr>
          <p:cNvPr id="17" name="">
            <a:extLst>
              <a:ext uri="{FF2B5EF4-FFF2-40B4-BE49-F238E27FC236}">
                <a16:creationId id="{F92526D1-7745-495F-9F61-F1E4892AE386}"/>
              </a:ext>
            </a:extLst>
          </p:cNvPr>
          <p:cNvSpPr>
            <a:spLocks noGrp="1"/>
          </p:cNvSpPr>
          <p:nvPr/>
        </p:nvSpPr>
        <p:spPr>
          <a:xfrm>
            <a:off x="8534400" y="36766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732CEC2A-F504-4C6F-9B4D-32FEF694595B}"/>
              </a:ext>
            </a:extLst>
          </p:cNvPr>
          <p:cNvSpPr>
            <a:spLocks noGrp="1"/>
          </p:cNvSpPr>
          <p:nvPr/>
        </p:nvSpPr>
        <p:spPr>
          <a:xfrm>
            <a:off x="8782050" y="35814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simulate</a:t>
            </a:r>
          </a:p>
        </p:txBody>
      </p:sp>
      <p:sp>
        <p:nvSpPr>
          <p:cNvPr id="19" name="">
            <a:extLst>
              <a:ext uri="{FF2B5EF4-FFF2-40B4-BE49-F238E27FC236}">
                <a16:creationId id="{4D23F0B8-A59C-424F-8D39-B033C8972960}"/>
              </a:ext>
            </a:extLst>
          </p:cNvPr>
          <p:cNvSpPr>
            <a:spLocks noGrp="1"/>
          </p:cNvSpPr>
          <p:nvPr/>
        </p:nvSpPr>
        <p:spPr>
          <a:xfrm>
            <a:off x="8534400" y="41338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a16:creationId id="{2E4F9AE0-A2FA-4017-AD41-C0C0E82E9FC3}"/>
              </a:ext>
            </a:extLst>
          </p:cNvPr>
          <p:cNvSpPr>
            <a:spLocks noGrp="1"/>
          </p:cNvSpPr>
          <p:nvPr/>
        </p:nvSpPr>
        <p:spPr>
          <a:xfrm>
            <a:off x="8782050" y="4038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optimize</a:t>
            </a:r>
          </a:p>
        </p:txBody>
      </p:sp>
      <p:sp>
        <p:nvSpPr>
          <p:cNvPr id="21" name="">
            <a:extLst>
              <a:ext uri="{FF2B5EF4-FFF2-40B4-BE49-F238E27FC236}">
                <a16:creationId id="{5109A041-E1E9-4B19-BCCD-814E6743F8DF}"/>
              </a:ext>
            </a:extLst>
          </p:cNvPr>
          <p:cNvSpPr>
            <a:spLocks noGrp="1"/>
          </p:cNvSpPr>
          <p:nvPr/>
        </p:nvSpPr>
        <p:spPr>
          <a:xfrm>
            <a:off x="8534400" y="4591050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a16:creationId id="{5699D832-01A7-4997-BB3B-EE12CA163E52}"/>
              </a:ext>
            </a:extLst>
          </p:cNvPr>
          <p:cNvSpPr>
            <a:spLocks noGrp="1"/>
          </p:cNvSpPr>
          <p:nvPr/>
        </p:nvSpPr>
        <p:spPr>
          <a:xfrm>
            <a:off x="8782050" y="44958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</p:spTree>
    <p:extLst>
      <p:ext uri="{BB962C8B-B14F-4D97-AF65-F5344CB8AC3E}">
        <p14:creationId val="896441047"/>
      </p:ext>
    </p:extLst>
  </p:cSld>
</p:sld>
</file>

<file path=ppt/slides/slide20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DBDDCF90-768E-4C9B-A7D1-4AE771175C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1A8B8AB8-2AEE-4165-AC54-2BD53F4127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E228F3DA-AAE5-4817-BCC9-1E9DCFB555A4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03</a:t>
            </a:r>
          </a:p>
        </p:txBody>
      </p:sp>
      <p:sp>
        <p:nvSpPr>
          <p:cNvPr id="5" name="">
            <a:extLst>
              <a:ext uri="{FF2B5EF4-FFF2-40B4-BE49-F238E27FC236}">
                <a16:creationId id="{AD0F0389-4D92-4222-A36F-D3FD99092A16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DED4E992-E066-4B95-95E5-FA0110D5F010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Notebook 03 anchor</a:t>
            </a:r>
          </a:p>
        </p:txBody>
      </p:sp>
      <p:sp>
        <p:nvSpPr>
          <p:cNvPr id="7" name="">
            <a:extLst>
              <a:ext uri="{FF2B5EF4-FFF2-40B4-BE49-F238E27FC236}">
                <a16:creationId id="{BB3C112B-E553-41D5-B215-20E296847AB5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The example problem is small on purpose: a cantilever beam with real engineering checks.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9bb3205774fa4dcf"/>
          <a:stretch/>
        </p:blipFill>
        <p:spPr>
          <a:xfrm>
            <a:off x="666750" y="1940411"/>
            <a:ext cx="10572750" cy="3891578"/>
          </a:xfrm>
          <a:prstGeom prst="rect">
            <a:avLst/>
          </a:prstGeom>
        </p:spPr>
      </p:pic>
    </p:spTree>
    <p:extLst>
      <p:ext uri="{BB962C8B-B14F-4D97-AF65-F5344CB8AC3E}">
        <p14:creationId val="1609127800"/>
      </p:ext>
    </p:extLst>
  </p:cSld>
</p:sld>
</file>

<file path=ppt/slides/slide2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EDEA585A-A826-4E3C-BBA4-731E120552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94C82E0E-C60F-4D50-B82F-3BDE603061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FA076754-884F-42A0-9C9D-1D3BD649713C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Notebook 03</a:t>
            </a:r>
          </a:p>
        </p:txBody>
      </p:sp>
      <p:sp>
        <p:nvSpPr>
          <p:cNvPr id="5" name="">
            <a:extLst>
              <a:ext uri="{FF2B5EF4-FFF2-40B4-BE49-F238E27FC236}">
                <a16:creationId id="{B900DE26-AE2F-4433-96D9-F3E3716CC623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C0264FBC-5A8F-4191-9640-5917B5216BAA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Your implementation checklist</a:t>
            </a:r>
          </a:p>
        </p:txBody>
      </p:sp>
      <p:sp>
        <p:nvSpPr>
          <p:cNvPr id="7" name="">
            <a:extLst>
              <a:ext uri="{FF2B5EF4-FFF2-40B4-BE49-F238E27FC236}">
                <a16:creationId id="{CF36A937-EFB0-47A8-8CBA-DFAC303300AB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A reusable problem needs a small set of explicit promises.</a:t>
            </a:r>
          </a:p>
        </p:txBody>
      </p:sp>
      <p:sp>
        <p:nvSpPr>
          <p:cNvPr id="8" name="">
            <a:extLst>
              <a:ext uri="{FF2B5EF4-FFF2-40B4-BE49-F238E27FC236}">
                <a16:creationId id="{E978C007-8E3D-4A2D-AA42-7E7759F2D07B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428625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9DD5042D-CE9B-4C8F-82F3-1019912ACE98}"/>
              </a:ext>
            </a:extLst>
          </p:cNvPr>
          <p:cNvSpPr>
            <a:spLocks noGrp="1"/>
          </p:cNvSpPr>
          <p:nvPr/>
        </p:nvSpPr>
        <p:spPr>
          <a:xfrm>
            <a:off x="1238250" y="2171700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design_space</a:t>
            </a:r>
          </a:p>
        </p:txBody>
      </p:sp>
      <p:sp>
        <p:nvSpPr>
          <p:cNvPr id="10" name="">
            <a:extLst>
              <a:ext uri="{FF2B5EF4-FFF2-40B4-BE49-F238E27FC236}">
                <a16:creationId id="{0D109A69-5F5E-4442-9045-A1DE194C5F72}"/>
              </a:ext>
            </a:extLst>
          </p:cNvPr>
          <p:cNvSpPr>
            <a:spLocks noGrp="1"/>
          </p:cNvSpPr>
          <p:nvPr/>
        </p:nvSpPr>
        <p:spPr>
          <a:xfrm>
            <a:off x="1238250" y="2533650"/>
            <a:ext cx="390525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What values may the design take?</a:t>
            </a:r>
          </a:p>
        </p:txBody>
      </p:sp>
      <p:sp>
        <p:nvSpPr>
          <p:cNvPr id="11" name="">
            <a:extLst>
              <a:ext uri="{FF2B5EF4-FFF2-40B4-BE49-F238E27FC236}">
                <a16:creationId id="{159A21F0-41ED-4126-AF13-E4F1BE92000F}"/>
              </a:ext>
            </a:extLst>
          </p:cNvPr>
          <p:cNvSpPr>
            <a:spLocks noGrp="1"/>
          </p:cNvSpPr>
          <p:nvPr/>
        </p:nvSpPr>
        <p:spPr>
          <a:xfrm>
            <a:off x="1047750" y="2838450"/>
            <a:ext cx="428625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CDCDBD05-18C6-44B0-BAA3-E8A1A95C4E24}"/>
              </a:ext>
            </a:extLst>
          </p:cNvPr>
          <p:cNvSpPr>
            <a:spLocks noGrp="1"/>
          </p:cNvSpPr>
          <p:nvPr/>
        </p:nvSpPr>
        <p:spPr>
          <a:xfrm>
            <a:off x="1238250" y="3009900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conditions</a:t>
            </a:r>
          </a:p>
        </p:txBody>
      </p:sp>
      <p:sp>
        <p:nvSpPr>
          <p:cNvPr id="13" name="">
            <a:extLst>
              <a:ext uri="{FF2B5EF4-FFF2-40B4-BE49-F238E27FC236}">
                <a16:creationId id="{6143B306-F103-4921-B3D7-325137070F71}"/>
              </a:ext>
            </a:extLst>
          </p:cNvPr>
          <p:cNvSpPr>
            <a:spLocks noGrp="1"/>
          </p:cNvSpPr>
          <p:nvPr/>
        </p:nvSpPr>
        <p:spPr>
          <a:xfrm>
            <a:off x="1238250" y="3371850"/>
            <a:ext cx="390525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What scenario must it work under?</a:t>
            </a:r>
          </a:p>
        </p:txBody>
      </p:sp>
      <p:sp>
        <p:nvSpPr>
          <p:cNvPr id="14" name="">
            <a:extLst>
              <a:ext uri="{FF2B5EF4-FFF2-40B4-BE49-F238E27FC236}">
                <a16:creationId id="{FE28593E-7263-490D-BE35-FEDF1B7BDB85}"/>
              </a:ext>
            </a:extLst>
          </p:cNvPr>
          <p:cNvSpPr>
            <a:spLocks noGrp="1"/>
          </p:cNvSpPr>
          <p:nvPr/>
        </p:nvSpPr>
        <p:spPr>
          <a:xfrm>
            <a:off x="1047750" y="3676650"/>
            <a:ext cx="428625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7D57074E-EE78-4E43-BE45-98999C690210}"/>
              </a:ext>
            </a:extLst>
          </p:cNvPr>
          <p:cNvSpPr>
            <a:spLocks noGrp="1"/>
          </p:cNvSpPr>
          <p:nvPr/>
        </p:nvSpPr>
        <p:spPr>
          <a:xfrm>
            <a:off x="1238250" y="3848100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objectives</a:t>
            </a:r>
          </a:p>
        </p:txBody>
      </p:sp>
      <p:sp>
        <p:nvSpPr>
          <p:cNvPr id="16" name="">
            <a:extLst>
              <a:ext uri="{FF2B5EF4-FFF2-40B4-BE49-F238E27FC236}">
                <a16:creationId id="{D44FD37E-979F-44B8-8579-F4C71845F7DC}"/>
              </a:ext>
            </a:extLst>
          </p:cNvPr>
          <p:cNvSpPr>
            <a:spLocks noGrp="1"/>
          </p:cNvSpPr>
          <p:nvPr/>
        </p:nvSpPr>
        <p:spPr>
          <a:xfrm>
            <a:off x="1238250" y="4210050"/>
            <a:ext cx="390525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What should be minimized or maximized?</a:t>
            </a:r>
          </a:p>
        </p:txBody>
      </p:sp>
      <p:sp>
        <p:nvSpPr>
          <p:cNvPr id="17" name="">
            <a:extLst>
              <a:ext uri="{FF2B5EF4-FFF2-40B4-BE49-F238E27FC236}">
                <a16:creationId id="{46029221-AADF-4305-B297-DA4446ABE37D}"/>
              </a:ext>
            </a:extLst>
          </p:cNvPr>
          <p:cNvSpPr>
            <a:spLocks noGrp="1"/>
          </p:cNvSpPr>
          <p:nvPr/>
        </p:nvSpPr>
        <p:spPr>
          <a:xfrm>
            <a:off x="1047750" y="4514850"/>
            <a:ext cx="428625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1E4529E1-BD83-4BC3-94C4-AB14882710A0}"/>
              </a:ext>
            </a:extLst>
          </p:cNvPr>
          <p:cNvSpPr>
            <a:spLocks noGrp="1"/>
          </p:cNvSpPr>
          <p:nvPr/>
        </p:nvSpPr>
        <p:spPr>
          <a:xfrm>
            <a:off x="1238250" y="4686300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check_constraints</a:t>
            </a:r>
          </a:p>
        </p:txBody>
      </p:sp>
      <p:sp>
        <p:nvSpPr>
          <p:cNvPr id="19" name="">
            <a:extLst>
              <a:ext uri="{FF2B5EF4-FFF2-40B4-BE49-F238E27FC236}">
                <a16:creationId id="{8FF0E8E9-1EF3-41F2-BDB8-87EF517EE17B}"/>
              </a:ext>
            </a:extLst>
          </p:cNvPr>
          <p:cNvSpPr>
            <a:spLocks noGrp="1"/>
          </p:cNvSpPr>
          <p:nvPr/>
        </p:nvSpPr>
        <p:spPr>
          <a:xfrm>
            <a:off x="1238250" y="5048250"/>
            <a:ext cx="390525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When is a candidate invalid?</a:t>
            </a:r>
          </a:p>
        </p:txBody>
      </p:sp>
      <p:sp>
        <p:nvSpPr>
          <p:cNvPr id="20" name="">
            <a:extLst>
              <a:ext uri="{FF2B5EF4-FFF2-40B4-BE49-F238E27FC236}">
                <a16:creationId id="{AF9E5C03-737B-4C9B-8415-1969108C775D}"/>
              </a:ext>
            </a:extLst>
          </p:cNvPr>
          <p:cNvSpPr>
            <a:spLocks noGrp="1"/>
          </p:cNvSpPr>
          <p:nvPr/>
        </p:nvSpPr>
        <p:spPr>
          <a:xfrm>
            <a:off x="6381750" y="2000250"/>
            <a:ext cx="428625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a16:creationId id="{EBEB5422-7DFF-4998-8443-897630EE8635}"/>
              </a:ext>
            </a:extLst>
          </p:cNvPr>
          <p:cNvSpPr>
            <a:spLocks noGrp="1"/>
          </p:cNvSpPr>
          <p:nvPr/>
        </p:nvSpPr>
        <p:spPr>
          <a:xfrm>
            <a:off x="6572250" y="2171700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simulate</a:t>
            </a:r>
          </a:p>
        </p:txBody>
      </p:sp>
      <p:sp>
        <p:nvSpPr>
          <p:cNvPr id="22" name="">
            <a:extLst>
              <a:ext uri="{FF2B5EF4-FFF2-40B4-BE49-F238E27FC236}">
                <a16:creationId id="{7BB1B367-0ABF-46A0-872C-C98E8D0CD5BE}"/>
              </a:ext>
            </a:extLst>
          </p:cNvPr>
          <p:cNvSpPr>
            <a:spLocks noGrp="1"/>
          </p:cNvSpPr>
          <p:nvPr/>
        </p:nvSpPr>
        <p:spPr>
          <a:xfrm>
            <a:off x="6572250" y="2533650"/>
            <a:ext cx="390525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How do we score a candidate?</a:t>
            </a:r>
          </a:p>
        </p:txBody>
      </p:sp>
      <p:sp>
        <p:nvSpPr>
          <p:cNvPr id="23" name="">
            <a:extLst>
              <a:ext uri="{FF2B5EF4-FFF2-40B4-BE49-F238E27FC236}">
                <a16:creationId id="{6053EC31-3BBB-450F-B37D-B9EB6F3D4CFB}"/>
              </a:ext>
            </a:extLst>
          </p:cNvPr>
          <p:cNvSpPr>
            <a:spLocks noGrp="1"/>
          </p:cNvSpPr>
          <p:nvPr/>
        </p:nvSpPr>
        <p:spPr>
          <a:xfrm>
            <a:off x="6381750" y="2838450"/>
            <a:ext cx="428625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a16:creationId id="{0955EB6B-B8F5-4C2A-8534-F62A1E4D88DB}"/>
              </a:ext>
            </a:extLst>
          </p:cNvPr>
          <p:cNvSpPr>
            <a:spLocks noGrp="1"/>
          </p:cNvSpPr>
          <p:nvPr/>
        </p:nvSpPr>
        <p:spPr>
          <a:xfrm>
            <a:off x="6572250" y="3009900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optimize</a:t>
            </a:r>
          </a:p>
        </p:txBody>
      </p:sp>
      <p:sp>
        <p:nvSpPr>
          <p:cNvPr id="25" name="">
            <a:extLst>
              <a:ext uri="{FF2B5EF4-FFF2-40B4-BE49-F238E27FC236}">
                <a16:creationId id="{99B990A8-2AC3-490B-8726-4AA8D8DE43CE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390525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What classical baseline should we compare with?</a:t>
            </a:r>
          </a:p>
        </p:txBody>
      </p:sp>
      <p:sp>
        <p:nvSpPr>
          <p:cNvPr id="26" name="">
            <a:extLst>
              <a:ext uri="{FF2B5EF4-FFF2-40B4-BE49-F238E27FC236}">
                <a16:creationId id="{B4D75910-5198-4D10-8CD8-01A6E7D5F252}"/>
              </a:ext>
            </a:extLst>
          </p:cNvPr>
          <p:cNvSpPr>
            <a:spLocks noGrp="1"/>
          </p:cNvSpPr>
          <p:nvPr/>
        </p:nvSpPr>
        <p:spPr>
          <a:xfrm>
            <a:off x="6381750" y="3676650"/>
            <a:ext cx="428625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a16:creationId id="{6A4C7A8A-5BA0-4A5F-AC9D-83A6543F151D}"/>
              </a:ext>
            </a:extLst>
          </p:cNvPr>
          <p:cNvSpPr>
            <a:spLocks noGrp="1"/>
          </p:cNvSpPr>
          <p:nvPr/>
        </p:nvSpPr>
        <p:spPr>
          <a:xfrm>
            <a:off x="6572250" y="3848100"/>
            <a:ext cx="3905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  <p:sp>
        <p:nvSpPr>
          <p:cNvPr id="28" name="">
            <a:extLst>
              <a:ext uri="{FF2B5EF4-FFF2-40B4-BE49-F238E27FC236}">
                <a16:creationId id="{45A96CE9-3800-4AC4-9841-777A61F16A20}"/>
              </a:ext>
            </a:extLst>
          </p:cNvPr>
          <p:cNvSpPr>
            <a:spLocks noGrp="1"/>
          </p:cNvSpPr>
          <p:nvPr/>
        </p:nvSpPr>
        <p:spPr>
          <a:xfrm>
            <a:off x="6572250" y="4210050"/>
            <a:ext cx="390525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Can humans inspect the design?</a:t>
            </a:r>
          </a:p>
        </p:txBody>
      </p:sp>
    </p:spTree>
    <p:extLst>
      <p:ext uri="{BB962C8B-B14F-4D97-AF65-F5344CB8AC3E}">
        <p14:creationId val="749479307"/>
      </p:ext>
    </p:extLst>
  </p:cSld>
</p:sld>
</file>

<file path=ppt/slides/slide2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3926EE39-76BE-44C3-930B-B6A81F3E3B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154A32AF-E58A-449D-80A6-DFEC5BC902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6589B5B4-6FBF-41DA-ABCF-7A952EE624C9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5" name="">
            <a:extLst>
              <a:ext uri="{FF2B5EF4-FFF2-40B4-BE49-F238E27FC236}">
                <a16:creationId id="{B2F53C5D-998B-4B45-8327-AC0EC913839F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46681B02-31F7-482B-99E1-45D8C15772F9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Use this for your own research</a:t>
            </a:r>
          </a:p>
        </p:txBody>
      </p:sp>
      <p:sp>
        <p:nvSpPr>
          <p:cNvPr id="7" name="">
            <a:extLst>
              <a:ext uri="{FF2B5EF4-FFF2-40B4-BE49-F238E27FC236}">
                <a16:creationId id="{E9D21724-A85D-4BE5-800F-22E771399339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Translate your domain into the benchmark contract.</a:t>
            </a:r>
          </a:p>
        </p:txBody>
      </p:sp>
      <p:sp>
        <p:nvSpPr>
          <p:cNvPr id="8" name="">
            <a:extLst>
              <a:ext uri="{FF2B5EF4-FFF2-40B4-BE49-F238E27FC236}">
                <a16:creationId id="{9E11D349-AB58-41E7-A6EB-95B9838E2972}"/>
              </a:ext>
            </a:extLst>
          </p:cNvPr>
          <p:cNvSpPr>
            <a:spLocks noGrp="1"/>
          </p:cNvSpPr>
          <p:nvPr/>
        </p:nvSpPr>
        <p:spPr>
          <a:xfrm>
            <a:off x="971550" y="2095500"/>
            <a:ext cx="4476750" cy="742950"/>
          </a:xfrm>
          <a:prstGeom prst="rect">
            <a:avLst/>
          </a:prstGeom>
          <a:solidFill>
            <a:srgbClr val="D7E8F6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DEBBD011-467E-434B-BE9F-4FBA3FDAA8AD}"/>
              </a:ext>
            </a:extLst>
          </p:cNvPr>
          <p:cNvSpPr>
            <a:spLocks noGrp="1"/>
          </p:cNvSpPr>
          <p:nvPr/>
        </p:nvSpPr>
        <p:spPr>
          <a:xfrm>
            <a:off x="1143000" y="2266950"/>
            <a:ext cx="3429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>
              <a:ext uri="{FF2B5EF4-FFF2-40B4-BE49-F238E27FC236}">
                <a16:creationId id="{573FE484-17B5-433C-8219-DB6BD7D5525D}"/>
              </a:ext>
            </a:extLst>
          </p:cNvPr>
          <p:cNvSpPr>
            <a:spLocks noGrp="1"/>
          </p:cNvSpPr>
          <p:nvPr/>
        </p:nvSpPr>
        <p:spPr>
          <a:xfrm>
            <a:off x="1638300" y="232410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What is the design representation?</a:t>
            </a:r>
          </a:p>
        </p:txBody>
      </p:sp>
      <p:sp>
        <p:nvSpPr>
          <p:cNvPr id="11" name="">
            <a:extLst>
              <a:ext uri="{FF2B5EF4-FFF2-40B4-BE49-F238E27FC236}">
                <a16:creationId id="{04633D0A-DC12-4742-A2F0-66089FEEF00D}"/>
              </a:ext>
            </a:extLst>
          </p:cNvPr>
          <p:cNvSpPr>
            <a:spLocks noGrp="1"/>
          </p:cNvSpPr>
          <p:nvPr/>
        </p:nvSpPr>
        <p:spPr>
          <a:xfrm>
            <a:off x="6115050" y="2095500"/>
            <a:ext cx="4476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358E83A1-61F7-4525-A1CC-8F1B156E68D6}"/>
              </a:ext>
            </a:extLst>
          </p:cNvPr>
          <p:cNvSpPr>
            <a:spLocks noGrp="1"/>
          </p:cNvSpPr>
          <p:nvPr/>
        </p:nvSpPr>
        <p:spPr>
          <a:xfrm>
            <a:off x="6286500" y="2266950"/>
            <a:ext cx="3429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a16:creationId id="{1CA0DF2C-27A8-4D01-AB4E-1B5B08B7CAB4}"/>
              </a:ext>
            </a:extLst>
          </p:cNvPr>
          <p:cNvSpPr>
            <a:spLocks noGrp="1"/>
          </p:cNvSpPr>
          <p:nvPr/>
        </p:nvSpPr>
        <p:spPr>
          <a:xfrm>
            <a:off x="6781800" y="232410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What conditions vary between scenarios?</a:t>
            </a:r>
          </a:p>
        </p:txBody>
      </p:sp>
      <p:sp>
        <p:nvSpPr>
          <p:cNvPr id="14" name="">
            <a:extLst>
              <a:ext uri="{FF2B5EF4-FFF2-40B4-BE49-F238E27FC236}">
                <a16:creationId id="{DE52BCFB-4F7A-4FDA-B89C-3B4F15AF748B}"/>
              </a:ext>
            </a:extLst>
          </p:cNvPr>
          <p:cNvSpPr>
            <a:spLocks noGrp="1"/>
          </p:cNvSpPr>
          <p:nvPr/>
        </p:nvSpPr>
        <p:spPr>
          <a:xfrm>
            <a:off x="971550" y="3200400"/>
            <a:ext cx="4476750" cy="742950"/>
          </a:xfrm>
          <a:prstGeom prst="rect">
            <a:avLst/>
          </a:prstGeom>
          <a:solidFill>
            <a:srgbClr val="D7E8F6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E568E067-A00B-4D1E-8182-E0E66A568CA2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3429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>
              <a:ext uri="{FF2B5EF4-FFF2-40B4-BE49-F238E27FC236}">
                <a16:creationId id="{33936288-F9AF-405E-B03D-5E89B29933AE}"/>
              </a:ext>
            </a:extLst>
          </p:cNvPr>
          <p:cNvSpPr>
            <a:spLocks noGrp="1"/>
          </p:cNvSpPr>
          <p:nvPr/>
        </p:nvSpPr>
        <p:spPr>
          <a:xfrm>
            <a:off x="1638300" y="342900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What objective would an engineer trust?</a:t>
            </a:r>
          </a:p>
        </p:txBody>
      </p:sp>
      <p:sp>
        <p:nvSpPr>
          <p:cNvPr id="17" name="">
            <a:extLst>
              <a:ext uri="{FF2B5EF4-FFF2-40B4-BE49-F238E27FC236}">
                <a16:creationId id="{2256D92F-A94C-44B5-BB95-D545DD7D931B}"/>
              </a:ext>
            </a:extLst>
          </p:cNvPr>
          <p:cNvSpPr>
            <a:spLocks noGrp="1"/>
          </p:cNvSpPr>
          <p:nvPr/>
        </p:nvSpPr>
        <p:spPr>
          <a:xfrm>
            <a:off x="6115050" y="3200400"/>
            <a:ext cx="4476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FA17AC71-2A9F-4A39-819D-9FA0810F9E34}"/>
              </a:ext>
            </a:extLst>
          </p:cNvPr>
          <p:cNvSpPr>
            <a:spLocks noGrp="1"/>
          </p:cNvSpPr>
          <p:nvPr/>
        </p:nvSpPr>
        <p:spPr>
          <a:xfrm>
            <a:off x="6286500" y="3371850"/>
            <a:ext cx="3429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>
              <a:ext uri="{FF2B5EF4-FFF2-40B4-BE49-F238E27FC236}">
                <a16:creationId id="{E6B18742-E088-416B-ACC7-2F4DF0B445F8}"/>
              </a:ext>
            </a:extLst>
          </p:cNvPr>
          <p:cNvSpPr>
            <a:spLocks noGrp="1"/>
          </p:cNvSpPr>
          <p:nvPr/>
        </p:nvSpPr>
        <p:spPr>
          <a:xfrm>
            <a:off x="6781800" y="342900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What makes a design invalid?</a:t>
            </a:r>
          </a:p>
        </p:txBody>
      </p:sp>
      <p:sp>
        <p:nvSpPr>
          <p:cNvPr id="20" name="">
            <a:extLst>
              <a:ext uri="{FF2B5EF4-FFF2-40B4-BE49-F238E27FC236}">
                <a16:creationId id="{5168A11D-469C-4CF8-9690-AFA0F7F1D2F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4476750" cy="742950"/>
          </a:xfrm>
          <a:prstGeom prst="rect">
            <a:avLst/>
          </a:prstGeom>
          <a:solidFill>
            <a:srgbClr val="D7E8F6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a16:creationId id="{EC32F746-0C78-4B3A-9130-C7BB12174202}"/>
              </a:ext>
            </a:extLst>
          </p:cNvPr>
          <p:cNvSpPr>
            <a:spLocks noGrp="1"/>
          </p:cNvSpPr>
          <p:nvPr/>
        </p:nvSpPr>
        <p:spPr>
          <a:xfrm>
            <a:off x="1143000" y="4476750"/>
            <a:ext cx="3429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>
              <a:ext uri="{FF2B5EF4-FFF2-40B4-BE49-F238E27FC236}">
                <a16:creationId id="{AB33DE66-088B-4500-9956-C3CDB716ADBB}"/>
              </a:ext>
            </a:extLst>
          </p:cNvPr>
          <p:cNvSpPr>
            <a:spLocks noGrp="1"/>
          </p:cNvSpPr>
          <p:nvPr/>
        </p:nvSpPr>
        <p:spPr>
          <a:xfrm>
            <a:off x="1638300" y="453390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What baseline would be hard to beat?</a:t>
            </a:r>
          </a:p>
        </p:txBody>
      </p:sp>
      <p:sp>
        <p:nvSpPr>
          <p:cNvPr id="23" name="">
            <a:extLst>
              <a:ext uri="{FF2B5EF4-FFF2-40B4-BE49-F238E27FC236}">
                <a16:creationId id="{AC125E26-1633-42EC-A0E4-98A6E154836B}"/>
              </a:ext>
            </a:extLst>
          </p:cNvPr>
          <p:cNvSpPr>
            <a:spLocks noGrp="1"/>
          </p:cNvSpPr>
          <p:nvPr/>
        </p:nvSpPr>
        <p:spPr>
          <a:xfrm>
            <a:off x="6115050" y="4305300"/>
            <a:ext cx="4476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a16:creationId id="{D760894F-EC70-4169-92B6-238F8A54CF39}"/>
              </a:ext>
            </a:extLst>
          </p:cNvPr>
          <p:cNvSpPr>
            <a:spLocks noGrp="1"/>
          </p:cNvSpPr>
          <p:nvPr/>
        </p:nvSpPr>
        <p:spPr>
          <a:xfrm>
            <a:off x="6286500" y="4476750"/>
            <a:ext cx="3429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5" name="">
            <a:extLst>
              <a:ext uri="{FF2B5EF4-FFF2-40B4-BE49-F238E27FC236}">
                <a16:creationId id="{BCC68727-1912-42CF-B25C-23B7FBFEDDCA}"/>
              </a:ext>
            </a:extLst>
          </p:cNvPr>
          <p:cNvSpPr>
            <a:spLocks noGrp="1"/>
          </p:cNvSpPr>
          <p:nvPr/>
        </p:nvSpPr>
        <p:spPr>
          <a:xfrm>
            <a:off x="6781800" y="453390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What figure would reveal a bad design instantly?</a:t>
            </a:r>
          </a:p>
        </p:txBody>
      </p:sp>
    </p:spTree>
    <p:extLst>
      <p:ext uri="{BB962C8B-B14F-4D97-AF65-F5344CB8AC3E}">
        <p14:creationId val="1535846224"/>
      </p:ext>
    </p:extLst>
  </p:cSld>
</p:sld>
</file>

<file path=ppt/slides/slide23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EED0F0D8-6C0E-476A-ACE2-42C385294D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1970C742-ECD3-4544-B964-B2FF764575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004A15DC-0E3C-420C-81D0-343D8477A8B1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Workshop logistics</a:t>
            </a:r>
          </a:p>
        </p:txBody>
      </p:sp>
      <p:sp>
        <p:nvSpPr>
          <p:cNvPr id="5" name="">
            <a:extLst>
              <a:ext uri="{FF2B5EF4-FFF2-40B4-BE49-F238E27FC236}">
                <a16:creationId id="{6CAC6A6A-D869-4C7E-8AD5-9CB9B9559B19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27E55C51-4337-4290-87A5-EC95E7CD9DFC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Workshop logistics</a:t>
            </a:r>
          </a:p>
        </p:txBody>
      </p:sp>
      <p:sp>
        <p:nvSpPr>
          <p:cNvPr id="7" name="">
            <a:extLst>
              <a:ext uri="{FF2B5EF4-FFF2-40B4-BE49-F238E27FC236}">
                <a16:creationId id="{007C7E5A-C247-49B7-A2CE-7501D8B1EEF9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Use the simple notebooks; keep the solution notebooks as facilitator references.</a:t>
            </a:r>
          </a:p>
        </p:txBody>
      </p:sp>
      <p:pic>
        <p:nvPicPr>
          <p:cNvPr id="8" name=""/>
          <p:cNvPicPr>
            <a:picLocks noChangeAspect="1"/>
          </p:cNvPicPr>
          <p:nvPr/>
        </p:nvPicPr>
        <p:blipFill>
          <a:blip r:embed="R1364ea213b0f4c23"/>
          <a:stretch/>
        </p:blipFill>
        <p:spPr>
          <a:xfrm>
            <a:off x="1725238" y="1924050"/>
            <a:ext cx="8741524" cy="2667000"/>
          </a:xfrm>
          <a:prstGeom prst="rect">
            <a:avLst/>
          </a:prstGeom>
        </p:spPr>
      </p:pic>
      <p:sp>
        <p:nvSpPr>
          <p:cNvPr id="9" name="">
            <a:extLst>
              <a:ext uri="{FF2B5EF4-FFF2-40B4-BE49-F238E27FC236}">
                <a16:creationId id="{73C06782-D703-4DC6-B716-283E2727A26E}"/>
              </a:ext>
            </a:extLst>
          </p:cNvPr>
          <p:cNvSpPr>
            <a:spLocks noGrp="1"/>
          </p:cNvSpPr>
          <p:nvPr/>
        </p:nvSpPr>
        <p:spPr>
          <a:xfrm>
            <a:off x="1676400" y="5238750"/>
            <a:ext cx="3905250" cy="7048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13C4BDFE-6EDE-4D5C-8A8C-5C4519C741DD}"/>
              </a:ext>
            </a:extLst>
          </p:cNvPr>
          <p:cNvSpPr>
            <a:spLocks noGrp="1"/>
          </p:cNvSpPr>
          <p:nvPr/>
        </p:nvSpPr>
        <p:spPr>
          <a:xfrm>
            <a:off x="1866900" y="5410200"/>
            <a:ext cx="3524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Participant path</a:t>
            </a:r>
          </a:p>
        </p:txBody>
      </p:sp>
      <p:sp>
        <p:nvSpPr>
          <p:cNvPr id="11" name="">
            <a:extLst>
              <a:ext uri="{FF2B5EF4-FFF2-40B4-BE49-F238E27FC236}">
                <a16:creationId id="{2DDEE15D-8528-4F56-A440-8B294986A5BA}"/>
              </a:ext>
            </a:extLst>
          </p:cNvPr>
          <p:cNvSpPr>
            <a:spLocks noGrp="1"/>
          </p:cNvSpPr>
          <p:nvPr/>
        </p:nvSpPr>
        <p:spPr>
          <a:xfrm>
            <a:off x="1866900" y="5772150"/>
            <a:ext cx="352425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Use notebooks in workshops/dcc26/simple/</a:t>
            </a:r>
          </a:p>
        </p:txBody>
      </p:sp>
      <p:sp>
        <p:nvSpPr>
          <p:cNvPr id="12" name="">
            <a:extLst>
              <a:ext uri="{FF2B5EF4-FFF2-40B4-BE49-F238E27FC236}">
                <a16:creationId id="{9959A9EA-596F-42A6-AEDA-EE3DE7272154}"/>
              </a:ext>
            </a:extLst>
          </p:cNvPr>
          <p:cNvSpPr>
            <a:spLocks noGrp="1"/>
          </p:cNvSpPr>
          <p:nvPr/>
        </p:nvSpPr>
        <p:spPr>
          <a:xfrm>
            <a:off x="6572250" y="5238750"/>
            <a:ext cx="4095750" cy="7048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A6499FA9-505E-473E-B1C8-B6C68C1D1C02}"/>
              </a:ext>
            </a:extLst>
          </p:cNvPr>
          <p:cNvSpPr>
            <a:spLocks noGrp="1"/>
          </p:cNvSpPr>
          <p:nvPr/>
        </p:nvSpPr>
        <p:spPr>
          <a:xfrm>
            <a:off x="6762750" y="5410200"/>
            <a:ext cx="3714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Facilitator reference</a:t>
            </a:r>
          </a:p>
        </p:txBody>
      </p:sp>
      <p:sp>
        <p:nvSpPr>
          <p:cNvPr id="14" name="">
            <a:extLst>
              <a:ext uri="{FF2B5EF4-FFF2-40B4-BE49-F238E27FC236}">
                <a16:creationId id="{0BBE68B3-9B05-4C73-B7DD-4597BCD77EF0}"/>
              </a:ext>
            </a:extLst>
          </p:cNvPr>
          <p:cNvSpPr>
            <a:spLocks noGrp="1"/>
          </p:cNvSpPr>
          <p:nvPr/>
        </p:nvSpPr>
        <p:spPr>
          <a:xfrm>
            <a:off x="6762750" y="5772150"/>
            <a:ext cx="3714750" cy="19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Use participant/ and solutions/ only when we need a completed version.</a:t>
            </a:r>
          </a:p>
        </p:txBody>
      </p:sp>
    </p:spTree>
    <p:extLst>
      <p:ext uri="{BB962C8B-B14F-4D97-AF65-F5344CB8AC3E}">
        <p14:creationId val="50256619"/>
      </p:ext>
    </p:extLst>
  </p:cSld>
</p:sld>
</file>

<file path=ppt/slides/slide24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5D9AE3E1-19DE-4FA8-A789-3A9A19EEA9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1B7F1134-3BE9-4E79-841C-C271AAE07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A4EA6FAA-AC05-4621-AFD8-E34A0439980A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Workshop logistics</a:t>
            </a:r>
          </a:p>
        </p:txBody>
      </p:sp>
      <p:sp>
        <p:nvSpPr>
          <p:cNvPr id="5" name="">
            <a:extLst>
              <a:ext uri="{FF2B5EF4-FFF2-40B4-BE49-F238E27FC236}">
                <a16:creationId id="{B838479E-9BAE-4AA6-8B5D-DBA224CA952F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CCFB678A-BAB7-44B4-AA6A-3833EF4C5135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When Colab or local runtime is slow</a:t>
            </a:r>
          </a:p>
        </p:txBody>
      </p:sp>
      <p:sp>
        <p:nvSpPr>
          <p:cNvPr id="7" name="">
            <a:extLst>
              <a:ext uri="{FF2B5EF4-FFF2-40B4-BE49-F238E27FC236}">
                <a16:creationId id="{3A7C13C0-FBD0-458E-B0B5-5190C1D3F2B1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The workshop still works if training or optimization takes longer than expected.</a:t>
            </a:r>
          </a:p>
        </p:txBody>
      </p:sp>
      <p:sp>
        <p:nvSpPr>
          <p:cNvPr id="8" name="">
            <a:extLst>
              <a:ext uri="{FF2B5EF4-FFF2-40B4-BE49-F238E27FC236}">
                <a16:creationId id="{CF993E71-5EB0-4BC3-A956-3467C7008D15}"/>
              </a:ext>
            </a:extLst>
          </p:cNvPr>
          <p:cNvSpPr>
            <a:spLocks noGrp="1"/>
          </p:cNvSpPr>
          <p:nvPr/>
        </p:nvSpPr>
        <p:spPr>
          <a:xfrm>
            <a:off x="1638300" y="1962150"/>
            <a:ext cx="8915400" cy="6667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9367AADF-1FCF-4A54-87B3-D557EEB7D2EE}"/>
              </a:ext>
            </a:extLst>
          </p:cNvPr>
          <p:cNvSpPr>
            <a:spLocks noGrp="1"/>
          </p:cNvSpPr>
          <p:nvPr/>
        </p:nvSpPr>
        <p:spPr>
          <a:xfrm>
            <a:off x="1828800" y="2133600"/>
            <a:ext cx="853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If setup is slow</a:t>
            </a:r>
          </a:p>
        </p:txBody>
      </p:sp>
      <p:sp>
        <p:nvSpPr>
          <p:cNvPr id="10" name="">
            <a:extLst>
              <a:ext uri="{FF2B5EF4-FFF2-40B4-BE49-F238E27FC236}">
                <a16:creationId id="{9B93BD54-5AA4-41B1-A7AD-0E1B84FF895D}"/>
              </a:ext>
            </a:extLst>
          </p:cNvPr>
          <p:cNvSpPr>
            <a:spLocks noGrp="1"/>
          </p:cNvSpPr>
          <p:nvPr/>
        </p:nvSpPr>
        <p:spPr>
          <a:xfrm>
            <a:off x="1828800" y="2495550"/>
            <a:ext cx="8534400" cy="-19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stay in the notebook prose and inspect the already generated figures</a:t>
            </a:r>
          </a:p>
        </p:txBody>
      </p:sp>
      <p:sp>
        <p:nvSpPr>
          <p:cNvPr id="11" name="">
            <a:extLst>
              <a:ext uri="{FF2B5EF4-FFF2-40B4-BE49-F238E27FC236}">
                <a16:creationId id="{4CA2D30A-9185-4839-8CCD-E03E144CCA8B}"/>
              </a:ext>
            </a:extLst>
          </p:cNvPr>
          <p:cNvSpPr>
            <a:spLocks noGrp="1"/>
          </p:cNvSpPr>
          <p:nvPr/>
        </p:nvSpPr>
        <p:spPr>
          <a:xfrm>
            <a:off x="1638300" y="2895600"/>
            <a:ext cx="8915400" cy="6667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5BAB6C6A-271D-4ED5-A6CE-20386E31B64B}"/>
              </a:ext>
            </a:extLst>
          </p:cNvPr>
          <p:cNvSpPr>
            <a:spLocks noGrp="1"/>
          </p:cNvSpPr>
          <p:nvPr/>
        </p:nvSpPr>
        <p:spPr>
          <a:xfrm>
            <a:off x="1828800" y="3067050"/>
            <a:ext cx="853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If training is slow</a:t>
            </a:r>
          </a:p>
        </p:txBody>
      </p:sp>
      <p:sp>
        <p:nvSpPr>
          <p:cNvPr id="13" name="">
            <a:extLst>
              <a:ext uri="{FF2B5EF4-FFF2-40B4-BE49-F238E27FC236}">
                <a16:creationId id="{38402685-05D1-487C-8A6C-E4AF7DF297DC}"/>
              </a:ext>
            </a:extLst>
          </p:cNvPr>
          <p:cNvSpPr>
            <a:spLocks noGrp="1"/>
          </p:cNvSpPr>
          <p:nvPr/>
        </p:nvSpPr>
        <p:spPr>
          <a:xfrm>
            <a:off x="1828800" y="3429000"/>
            <a:ext cx="8534400" cy="-19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use the saved artifact bundle and continue to evaluation</a:t>
            </a:r>
          </a:p>
        </p:txBody>
      </p:sp>
      <p:sp>
        <p:nvSpPr>
          <p:cNvPr id="14" name="">
            <a:extLst>
              <a:ext uri="{FF2B5EF4-FFF2-40B4-BE49-F238E27FC236}">
                <a16:creationId id="{A9D03106-A7A3-4E73-B0D8-24D29D1E8630}"/>
              </a:ext>
            </a:extLst>
          </p:cNvPr>
          <p:cNvSpPr>
            <a:spLocks noGrp="1"/>
          </p:cNvSpPr>
          <p:nvPr/>
        </p:nvSpPr>
        <p:spPr>
          <a:xfrm>
            <a:off x="1638300" y="3829050"/>
            <a:ext cx="8915400" cy="6667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FC3CC338-F4E3-488C-B6DD-FD59ABDECC86}"/>
              </a:ext>
            </a:extLst>
          </p:cNvPr>
          <p:cNvSpPr>
            <a:spLocks noGrp="1"/>
          </p:cNvSpPr>
          <p:nvPr/>
        </p:nvSpPr>
        <p:spPr>
          <a:xfrm>
            <a:off x="1828800" y="4000500"/>
            <a:ext cx="853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47B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47B20"/>
                </a:solidFill>
                <a:latin typeface="Aptos"/>
                <a:ea typeface="Aptos"/>
                <a:cs typeface="Aptos"/>
              </a:rPr>
              <a:t>If optimization is slow</a:t>
            </a:r>
          </a:p>
        </p:txBody>
      </p:sp>
      <p:sp>
        <p:nvSpPr>
          <p:cNvPr id="16" name="">
            <a:extLst>
              <a:ext uri="{FF2B5EF4-FFF2-40B4-BE49-F238E27FC236}">
                <a16:creationId id="{B6429B17-B5E1-4E00-A270-9DF204E14045}"/>
              </a:ext>
            </a:extLst>
          </p:cNvPr>
          <p:cNvSpPr>
            <a:spLocks noGrp="1"/>
          </p:cNvSpPr>
          <p:nvPr/>
        </p:nvSpPr>
        <p:spPr>
          <a:xfrm>
            <a:off x="1828800" y="4362450"/>
            <a:ext cx="8534400" cy="-19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run fewer warm-start examples and focus on interpretation</a:t>
            </a:r>
          </a:p>
        </p:txBody>
      </p:sp>
      <p:sp>
        <p:nvSpPr>
          <p:cNvPr id="17" name="">
            <a:extLst>
              <a:ext uri="{FF2B5EF4-FFF2-40B4-BE49-F238E27FC236}">
                <a16:creationId id="{515506B7-CB59-4B36-ACF1-E06E3A042479}"/>
              </a:ext>
            </a:extLst>
          </p:cNvPr>
          <p:cNvSpPr>
            <a:spLocks noGrp="1"/>
          </p:cNvSpPr>
          <p:nvPr/>
        </p:nvSpPr>
        <p:spPr>
          <a:xfrm>
            <a:off x="1638300" y="4762500"/>
            <a:ext cx="8915400" cy="6667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EF05F35B-CAF5-4C0F-B556-FF2B51467596}"/>
              </a:ext>
            </a:extLst>
          </p:cNvPr>
          <p:cNvSpPr>
            <a:spLocks noGrp="1"/>
          </p:cNvSpPr>
          <p:nvPr/>
        </p:nvSpPr>
        <p:spPr>
          <a:xfrm>
            <a:off x="1828800" y="4933950"/>
            <a:ext cx="853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8483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4837"/>
                </a:solidFill>
                <a:latin typeface="Aptos"/>
                <a:ea typeface="Aptos"/>
                <a:cs typeface="Aptos"/>
              </a:rPr>
              <a:t>If widgets fail</a:t>
            </a:r>
          </a:p>
        </p:txBody>
      </p:sp>
      <p:sp>
        <p:nvSpPr>
          <p:cNvPr id="19" name="">
            <a:extLst>
              <a:ext uri="{FF2B5EF4-FFF2-40B4-BE49-F238E27FC236}">
                <a16:creationId id="{F85A035B-8C8C-4767-83D8-6DB79CDDF031}"/>
              </a:ext>
            </a:extLst>
          </p:cNvPr>
          <p:cNvSpPr>
            <a:spLocks noGrp="1"/>
          </p:cNvSpPr>
          <p:nvPr/>
        </p:nvSpPr>
        <p:spPr>
          <a:xfrm>
            <a:off x="1828800" y="5295900"/>
            <a:ext cx="8534400" cy="-19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use the static galleries; the benchmark questions are the same</a:t>
            </a:r>
          </a:p>
        </p:txBody>
      </p:sp>
    </p:spTree>
    <p:extLst>
      <p:ext uri="{BB962C8B-B14F-4D97-AF65-F5344CB8AC3E}">
        <p14:creationId val="670205436"/>
      </p:ext>
    </p:extLst>
  </p:cSld>
</p:sld>
</file>

<file path=ppt/slides/slide25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03C5E524-E29C-47E4-9339-65FBB12898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01B7E340-DAEB-4A28-88B8-3D5B1C1D17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a16:creationId id="{4A6D488E-F815-4791-9C56-82CDFE02ED59}"/>
              </a:ext>
            </a:extLst>
          </p:cNvPr>
          <p:cNvSpPr>
            <a:spLocks noGrp="1"/>
          </p:cNvSpPr>
          <p:nvPr/>
        </p:nvSpPr>
        <p:spPr>
          <a:xfrm>
            <a:off x="400050" y="6419850"/>
            <a:ext cx="4000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Workshop resources</a:t>
            </a:r>
          </a:p>
        </p:txBody>
      </p:sp>
      <p:sp>
        <p:nvSpPr>
          <p:cNvPr id="5" name="">
            <a:extLst>
              <a:ext uri="{FF2B5EF4-FFF2-40B4-BE49-F238E27FC236}">
                <a16:creationId id="{1AAA8B47-B135-498B-9A87-72EA03FA1411}"/>
              </a:ext>
            </a:extLst>
          </p:cNvPr>
          <p:cNvSpPr>
            <a:spLocks noGrp="1"/>
          </p:cNvSpPr>
          <p:nvPr/>
        </p:nvSpPr>
        <p:spPr>
          <a:xfrm>
            <a:off x="7810500" y="6419850"/>
            <a:ext cx="3714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DCC 2026 workshop  |  EngiBench + EngiOpt</a:t>
            </a:r>
          </a:p>
        </p:txBody>
      </p:sp>
      <p:sp>
        <p:nvSpPr>
          <p:cNvPr id="6" name="">
            <a:extLst>
              <a:ext uri="{FF2B5EF4-FFF2-40B4-BE49-F238E27FC236}">
                <a16:creationId id="{13328450-AA8A-47AA-BFD2-8AF5B52491ED}"/>
              </a:ext>
            </a:extLst>
          </p:cNvPr>
          <p:cNvSpPr>
            <a:spLocks noGrp="1"/>
          </p:cNvSpPr>
          <p:nvPr/>
        </p:nvSpPr>
        <p:spPr>
          <a:xfrm>
            <a:off x="590550" y="438150"/>
            <a:ext cx="6191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Resources during the workshop</a:t>
            </a:r>
          </a:p>
        </p:txBody>
      </p:sp>
      <p:sp>
        <p:nvSpPr>
          <p:cNvPr id="7" name="">
            <a:extLst>
              <a:ext uri="{FF2B5EF4-FFF2-40B4-BE49-F238E27FC236}">
                <a16:creationId id="{90C807C2-C2A0-4B35-BC5D-7A4287C1C6F5}"/>
              </a:ext>
            </a:extLst>
          </p:cNvPr>
          <p:cNvSpPr>
            <a:spLocks noGrp="1"/>
          </p:cNvSpPr>
          <p:nvPr/>
        </p:nvSpPr>
        <p:spPr>
          <a:xfrm>
            <a:off x="590550" y="742950"/>
            <a:ext cx="10096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12B"/>
                </a:solidFill>
                <a:latin typeface="Aptos Display"/>
                <a:ea typeface="Aptos Display"/>
                <a:cs typeface="Aptos Display"/>
              </a:rPr>
              <a:t>Keep these links nearby while you work.</a:t>
            </a:r>
          </a:p>
        </p:txBody>
      </p:sp>
      <p:sp>
        <p:nvSpPr>
          <p:cNvPr id="8" name="">
            <a:extLst>
              <a:ext uri="{FF2B5EF4-FFF2-40B4-BE49-F238E27FC236}">
                <a16:creationId id="{C4DC8864-3F84-428F-B72A-DC1BA307936A}"/>
              </a:ext>
            </a:extLst>
          </p:cNvPr>
          <p:cNvSpPr>
            <a:spLocks noGrp="1"/>
          </p:cNvSpPr>
          <p:nvPr/>
        </p:nvSpPr>
        <p:spPr>
          <a:xfrm>
            <a:off x="1428750" y="2076450"/>
            <a:ext cx="933450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517B26DB-D444-4630-9178-8ED1FF762399}"/>
              </a:ext>
            </a:extLst>
          </p:cNvPr>
          <p:cNvSpPr>
            <a:spLocks noGrp="1"/>
          </p:cNvSpPr>
          <p:nvPr/>
        </p:nvSpPr>
        <p:spPr>
          <a:xfrm>
            <a:off x="1619250" y="2247900"/>
            <a:ext cx="8953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25E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25E9B"/>
                </a:solidFill>
                <a:latin typeface="Aptos"/>
                <a:ea typeface="Aptos"/>
                <a:cs typeface="Aptos"/>
              </a:rPr>
              <a:t>Simple notebooks</a:t>
            </a:r>
          </a:p>
        </p:txBody>
      </p:sp>
      <p:sp>
        <p:nvSpPr>
          <p:cNvPr id="10" name="">
            <a:extLst>
              <a:ext uri="{FF2B5EF4-FFF2-40B4-BE49-F238E27FC236}">
                <a16:creationId id="{5A406FCC-4113-4D9A-8735-4CC3DF82FC82}"/>
              </a:ext>
            </a:extLst>
          </p:cNvPr>
          <p:cNvSpPr>
            <a:spLocks noGrp="1"/>
          </p:cNvSpPr>
          <p:nvPr/>
        </p:nvSpPr>
        <p:spPr>
          <a:xfrm>
            <a:off x="1619250" y="2609850"/>
            <a:ext cx="895350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EngiOpt/workshops/dcc26/simple/</a:t>
            </a:r>
          </a:p>
        </p:txBody>
      </p:sp>
      <p:sp>
        <p:nvSpPr>
          <p:cNvPr id="11" name="">
            <a:extLst>
              <a:ext uri="{FF2B5EF4-FFF2-40B4-BE49-F238E27FC236}">
                <a16:creationId id="{D5E3EFED-2877-4A3A-9B27-F23DAB326098}"/>
              </a:ext>
            </a:extLst>
          </p:cNvPr>
          <p:cNvSpPr>
            <a:spLocks noGrp="1"/>
          </p:cNvSpPr>
          <p:nvPr/>
        </p:nvSpPr>
        <p:spPr>
          <a:xfrm>
            <a:off x="1428750" y="2971800"/>
            <a:ext cx="933450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EA9300D9-0F01-4DC1-8ADC-67C3BBA2057F}"/>
              </a:ext>
            </a:extLst>
          </p:cNvPr>
          <p:cNvSpPr>
            <a:spLocks noGrp="1"/>
          </p:cNvSpPr>
          <p:nvPr/>
        </p:nvSpPr>
        <p:spPr>
          <a:xfrm>
            <a:off x="1619250" y="3143250"/>
            <a:ext cx="8953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2F7D6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F7D62"/>
                </a:solidFill>
                <a:latin typeface="Aptos"/>
                <a:ea typeface="Aptos"/>
                <a:cs typeface="Aptos"/>
              </a:rPr>
              <a:t>EngiBench docs</a:t>
            </a:r>
          </a:p>
        </p:txBody>
      </p:sp>
      <p:sp>
        <p:nvSpPr>
          <p:cNvPr id="13" name="">
            <a:extLst>
              <a:ext uri="{FF2B5EF4-FFF2-40B4-BE49-F238E27FC236}">
                <a16:creationId id="{311D19F2-B311-4E4A-95BC-B5F0FDECAD37}"/>
              </a:ext>
            </a:extLst>
          </p:cNvPr>
          <p:cNvSpPr>
            <a:spLocks noGrp="1"/>
          </p:cNvSpPr>
          <p:nvPr/>
        </p:nvSpPr>
        <p:spPr>
          <a:xfrm>
            <a:off x="1619250" y="3505200"/>
            <a:ext cx="895350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https://engibench.ethz.ch/</a:t>
            </a:r>
          </a:p>
        </p:txBody>
      </p:sp>
      <p:sp>
        <p:nvSpPr>
          <p:cNvPr id="14" name="">
            <a:extLst>
              <a:ext uri="{FF2B5EF4-FFF2-40B4-BE49-F238E27FC236}">
                <a16:creationId id="{C547EA83-5968-4B4D-9F9A-2FC7DDA296A2}"/>
              </a:ext>
            </a:extLst>
          </p:cNvPr>
          <p:cNvSpPr>
            <a:spLocks noGrp="1"/>
          </p:cNvSpPr>
          <p:nvPr/>
        </p:nvSpPr>
        <p:spPr>
          <a:xfrm>
            <a:off x="1428750" y="3867150"/>
            <a:ext cx="933450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3AA74B2E-57B3-4076-AA4D-7D5E95FB27D0}"/>
              </a:ext>
            </a:extLst>
          </p:cNvPr>
          <p:cNvSpPr>
            <a:spLocks noGrp="1"/>
          </p:cNvSpPr>
          <p:nvPr/>
        </p:nvSpPr>
        <p:spPr>
          <a:xfrm>
            <a:off x="1619250" y="4038600"/>
            <a:ext cx="8953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16" name="">
            <a:extLst>
              <a:ext uri="{FF2B5EF4-FFF2-40B4-BE49-F238E27FC236}">
                <a16:creationId id="{3D927FF5-140B-4510-BA3A-B2DC507B3468}"/>
              </a:ext>
            </a:extLst>
          </p:cNvPr>
          <p:cNvSpPr>
            <a:spLocks noGrp="1"/>
          </p:cNvSpPr>
          <p:nvPr/>
        </p:nvSpPr>
        <p:spPr>
          <a:xfrm>
            <a:off x="1619250" y="4400550"/>
            <a:ext cx="895350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IDEALLab/EngiBench and IDEALLab/EngiOpt</a:t>
            </a:r>
          </a:p>
        </p:txBody>
      </p:sp>
      <p:sp>
        <p:nvSpPr>
          <p:cNvPr id="17" name="">
            <a:extLst>
              <a:ext uri="{FF2B5EF4-FFF2-40B4-BE49-F238E27FC236}">
                <a16:creationId id="{4AD7F878-9A27-4DD1-852C-38EFDFA60CC1}"/>
              </a:ext>
            </a:extLst>
          </p:cNvPr>
          <p:cNvSpPr>
            <a:spLocks noGrp="1"/>
          </p:cNvSpPr>
          <p:nvPr/>
        </p:nvSpPr>
        <p:spPr>
          <a:xfrm>
            <a:off x="1428750" y="4762500"/>
            <a:ext cx="9334500" cy="628650"/>
          </a:xfrm>
          <a:prstGeom prst="rect">
            <a:avLst/>
          </a:prstGeom>
          <a:solidFill>
            <a:srgbClr val="FFFFFF"/>
          </a:solidFill>
          <a:ln w="10478">
            <a:solidFill>
              <a:srgbClr val="D8DEE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04366B5F-F98C-49BE-8001-20FFB307E098}"/>
              </a:ext>
            </a:extLst>
          </p:cNvPr>
          <p:cNvSpPr>
            <a:spLocks noGrp="1"/>
          </p:cNvSpPr>
          <p:nvPr/>
        </p:nvSpPr>
        <p:spPr>
          <a:xfrm>
            <a:off x="1619250" y="4933950"/>
            <a:ext cx="8953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C8483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4837"/>
                </a:solidFill>
                <a:latin typeface="Aptos"/>
                <a:ea typeface="Aptos"/>
                <a:cs typeface="Aptos"/>
              </a:rPr>
              <a:t>Paper</a:t>
            </a:r>
          </a:p>
        </p:txBody>
      </p:sp>
      <p:sp>
        <p:nvSpPr>
          <p:cNvPr id="19" name="">
            <a:extLst>
              <a:ext uri="{FF2B5EF4-FFF2-40B4-BE49-F238E27FC236}">
                <a16:creationId id="{9C26F9F1-8310-4632-A080-FF432506ABF7}"/>
              </a:ext>
            </a:extLst>
          </p:cNvPr>
          <p:cNvSpPr>
            <a:spLocks noGrp="1"/>
          </p:cNvSpPr>
          <p:nvPr/>
        </p:nvSpPr>
        <p:spPr>
          <a:xfrm>
            <a:off x="1619250" y="5295900"/>
            <a:ext cx="8953500" cy="-57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A66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A6675"/>
                </a:solidFill>
                <a:latin typeface="Aptos"/>
                <a:ea typeface="Aptos"/>
                <a:cs typeface="Aptos"/>
              </a:rPr>
              <a:t>OpenReview: EngiBench, NeurIPS 2025 Datasets and Benchmarks</a:t>
            </a:r>
          </a:p>
        </p:txBody>
      </p:sp>
    </p:spTree>
    <p:extLst>
      <p:ext uri="{BB962C8B-B14F-4D97-AF65-F5344CB8AC3E}">
        <p14:creationId val="1035430960"/>
      </p:ext>
    </p:extLst>
  </p:cSld>
</p:sld>
</file>

<file path=ppt/slides/slide26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">
            <a:extLst>
              <a:ext uri="{FF2B5EF4-FFF2-40B4-BE49-F238E27FC236}">
                <a16:creationId id="{8FBACE87-EB78-4EB6-B09B-AFCBE45447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25E9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a16:creationId id="{EDA3C8A0-2415-4E0B-B396-64FFFDC9DB01}"/>
              </a:ext>
            </a:extLst>
          </p:cNvPr>
          <p:cNvSpPr>
            <a:spLocks noGrp="1"/>
          </p:cNvSpPr>
          <p:nvPr/>
        </p:nvSpPr>
        <p:spPr>
          <a:xfrm>
            <a:off x="742950" y="70485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CFE3F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FE3F3"/>
                </a:solidFill>
                <a:latin typeface="Aptos"/>
                <a:ea typeface="Aptos"/>
                <a:cs typeface="Aptos"/>
              </a:rPr>
              <a:t>Closing</a:t>
            </a:r>
          </a:p>
        </p:txBody>
      </p:sp>
      <p:sp>
        <p:nvSpPr>
          <p:cNvPr id="4" name="">
            <a:extLst>
              <a:ext uri="{FF2B5EF4-FFF2-40B4-BE49-F238E27FC236}">
                <a16:creationId id="{DF4BE4FD-268B-411E-BE45-9BE972072E75}"/>
              </a:ext>
            </a:extLst>
          </p:cNvPr>
          <p:cNvSpPr>
            <a:spLocks noGrp="1"/>
          </p:cNvSpPr>
          <p:nvPr/>
        </p:nvSpPr>
        <p:spPr>
          <a:xfrm>
            <a:off x="742950" y="1257300"/>
            <a:ext cx="93345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Leave with a way to make your design problem executable, comparable, and reusable.</a:t>
            </a:r>
          </a:p>
        </p:txBody>
      </p:sp>
      <p:sp>
        <p:nvSpPr>
          <p:cNvPr id="5" name="">
            <a:extLst>
              <a:ext uri="{FF2B5EF4-FFF2-40B4-BE49-F238E27FC236}">
                <a16:creationId id="{57D6035A-0AF8-4074-8508-95815F9C3A9A}"/>
              </a:ext>
            </a:extLst>
          </p:cNvPr>
          <p:cNvSpPr>
            <a:spLocks noGrp="1"/>
          </p:cNvSpPr>
          <p:nvPr/>
        </p:nvSpPr>
        <p:spPr>
          <a:xfrm>
            <a:off x="781050" y="2686050"/>
            <a:ext cx="8572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That is the contribution of EngiBench + EngiOpt: not another isolated demo, but an executable contract for engineering design research.</a:t>
            </a:r>
          </a:p>
        </p:txBody>
      </p:sp>
      <p:sp>
        <p:nvSpPr>
          <p:cNvPr id="6" name="">
            <a:extLst>
              <a:ext uri="{FF2B5EF4-FFF2-40B4-BE49-F238E27FC236}">
                <a16:creationId id="{D8B62393-E446-4179-9A56-0B4BB96BB547}"/>
              </a:ext>
            </a:extLst>
          </p:cNvPr>
          <p:cNvSpPr>
            <a:spLocks noGrp="1"/>
          </p:cNvSpPr>
          <p:nvPr/>
        </p:nvSpPr>
        <p:spPr>
          <a:xfrm>
            <a:off x="1276350" y="3867150"/>
            <a:ext cx="1676400" cy="685800"/>
          </a:xfrm>
          <a:prstGeom prst="rect">
            <a:avLst/>
          </a:prstGeom>
          <a:solidFill>
            <a:srgbClr val="FFFFFF">
              <a:alpha val="9412"/>
            </a:srgbClr>
          </a:solidFill>
          <a:ln w="9525">
            <a:solidFill>
              <a:srgbClr val="FFFFFF">
                <a:alpha val="26667"/>
              </a:srgbClr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a16:creationId id="{D010A604-6B85-4292-A57E-C8D87B758996}"/>
              </a:ext>
            </a:extLst>
          </p:cNvPr>
          <p:cNvSpPr>
            <a:spLocks noGrp="1"/>
          </p:cNvSpPr>
          <p:nvPr/>
        </p:nvSpPr>
        <p:spPr>
          <a:xfrm>
            <a:off x="1438275" y="40957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8" name="">
            <a:extLst>
              <a:ext uri="{FF2B5EF4-FFF2-40B4-BE49-F238E27FC236}">
                <a16:creationId id="{57D8C4C5-B784-497A-A37F-9902B522FC3A}"/>
              </a:ext>
            </a:extLst>
          </p:cNvPr>
          <p:cNvSpPr>
            <a:spLocks noGrp="1"/>
          </p:cNvSpPr>
          <p:nvPr/>
        </p:nvSpPr>
        <p:spPr>
          <a:xfrm>
            <a:off x="3105150" y="4200525"/>
            <a:ext cx="552450" cy="28575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4E757FEE-3086-48D7-9D00-8883C29DD169}"/>
              </a:ext>
            </a:extLst>
          </p:cNvPr>
          <p:cNvSpPr>
            <a:spLocks noGrp="1"/>
          </p:cNvSpPr>
          <p:nvPr/>
        </p:nvSpPr>
        <p:spPr>
          <a:xfrm>
            <a:off x="3619500" y="4162425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95D78469-9998-4FB1-9CB6-7B6CBFD88C00}"/>
              </a:ext>
            </a:extLst>
          </p:cNvPr>
          <p:cNvSpPr>
            <a:spLocks noGrp="1"/>
          </p:cNvSpPr>
          <p:nvPr/>
        </p:nvSpPr>
        <p:spPr>
          <a:xfrm>
            <a:off x="3810000" y="3867150"/>
            <a:ext cx="1676400" cy="685800"/>
          </a:xfrm>
          <a:prstGeom prst="rect">
            <a:avLst/>
          </a:prstGeom>
          <a:solidFill>
            <a:srgbClr val="FFFFFF">
              <a:alpha val="9412"/>
            </a:srgbClr>
          </a:solidFill>
          <a:ln w="9525">
            <a:solidFill>
              <a:srgbClr val="FFFFFF">
                <a:alpha val="26667"/>
              </a:srgbClr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a16:creationId id="{266EEAC7-5783-4EB1-9C55-CBE740F6E23A}"/>
              </a:ext>
            </a:extLst>
          </p:cNvPr>
          <p:cNvSpPr>
            <a:spLocks noGrp="1"/>
          </p:cNvSpPr>
          <p:nvPr/>
        </p:nvSpPr>
        <p:spPr>
          <a:xfrm>
            <a:off x="3971925" y="40957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2" name="">
            <a:extLst>
              <a:ext uri="{FF2B5EF4-FFF2-40B4-BE49-F238E27FC236}">
                <a16:creationId id="{B98F01E9-CDE2-4AEC-A7AD-54C12D8A8DF0}"/>
              </a:ext>
            </a:extLst>
          </p:cNvPr>
          <p:cNvSpPr>
            <a:spLocks noGrp="1"/>
          </p:cNvSpPr>
          <p:nvPr/>
        </p:nvSpPr>
        <p:spPr>
          <a:xfrm>
            <a:off x="5638800" y="4200525"/>
            <a:ext cx="552450" cy="28575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F65D0BE3-1D99-4F4C-B22E-3C55AE120EB4}"/>
              </a:ext>
            </a:extLst>
          </p:cNvPr>
          <p:cNvSpPr>
            <a:spLocks noGrp="1"/>
          </p:cNvSpPr>
          <p:nvPr/>
        </p:nvSpPr>
        <p:spPr>
          <a:xfrm>
            <a:off x="6153150" y="4162425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1F71240D-C97D-4B70-A166-657A34DCFE05}"/>
              </a:ext>
            </a:extLst>
          </p:cNvPr>
          <p:cNvSpPr>
            <a:spLocks noGrp="1"/>
          </p:cNvSpPr>
          <p:nvPr/>
        </p:nvSpPr>
        <p:spPr>
          <a:xfrm>
            <a:off x="6343650" y="3867150"/>
            <a:ext cx="1676400" cy="685800"/>
          </a:xfrm>
          <a:prstGeom prst="rect">
            <a:avLst/>
          </a:prstGeom>
          <a:solidFill>
            <a:srgbClr val="FFFFFF">
              <a:alpha val="9412"/>
            </a:srgbClr>
          </a:solidFill>
          <a:ln w="9525">
            <a:solidFill>
              <a:srgbClr val="FFFFFF">
                <a:alpha val="26667"/>
              </a:srgbClr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CFF70125-38AC-4826-9386-AC63BFB0322C}"/>
              </a:ext>
            </a:extLst>
          </p:cNvPr>
          <p:cNvSpPr>
            <a:spLocks noGrp="1"/>
          </p:cNvSpPr>
          <p:nvPr/>
        </p:nvSpPr>
        <p:spPr>
          <a:xfrm>
            <a:off x="6505575" y="40957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Evaluate</a:t>
            </a:r>
          </a:p>
        </p:txBody>
      </p:sp>
      <p:sp>
        <p:nvSpPr>
          <p:cNvPr id="16" name="">
            <a:extLst>
              <a:ext uri="{FF2B5EF4-FFF2-40B4-BE49-F238E27FC236}">
                <a16:creationId id="{A896DA78-CF02-4907-ABBB-E2BC08BD0BBE}"/>
              </a:ext>
            </a:extLst>
          </p:cNvPr>
          <p:cNvSpPr>
            <a:spLocks noGrp="1"/>
          </p:cNvSpPr>
          <p:nvPr/>
        </p:nvSpPr>
        <p:spPr>
          <a:xfrm>
            <a:off x="8172450" y="4200525"/>
            <a:ext cx="552450" cy="28575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a16:creationId id="{89FEE8D5-3235-47DC-AE0B-82023452F63D}"/>
              </a:ext>
            </a:extLst>
          </p:cNvPr>
          <p:cNvSpPr>
            <a:spLocks noGrp="1"/>
          </p:cNvSpPr>
          <p:nvPr/>
        </p:nvSpPr>
        <p:spPr>
          <a:xfrm>
            <a:off x="8686800" y="4162425"/>
            <a:ext cx="95250" cy="95250"/>
          </a:xfrm>
          <a:prstGeom prst="rect">
            <a:avLst/>
          </a:prstGeom>
          <a:solidFill>
            <a:srgbClr val="CFE3F3"/>
          </a:solidFill>
          <a:ln w="9525">
            <a:solidFill>
              <a:srgbClr val="CFE3F3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3BBC507F-042B-450C-8FDD-4F433C37718B}"/>
              </a:ext>
            </a:extLst>
          </p:cNvPr>
          <p:cNvSpPr>
            <a:spLocks noGrp="1"/>
          </p:cNvSpPr>
          <p:nvPr/>
        </p:nvSpPr>
        <p:spPr>
          <a:xfrm>
            <a:off x="8877300" y="3867150"/>
            <a:ext cx="1676400" cy="685800"/>
          </a:xfrm>
          <a:prstGeom prst="rect">
            <a:avLst/>
          </a:prstGeom>
          <a:solidFill>
            <a:srgbClr val="FFFFFF">
              <a:alpha val="9412"/>
            </a:srgbClr>
          </a:solidFill>
          <a:ln w="9525">
            <a:solidFill>
              <a:srgbClr val="FFFFFF">
                <a:alpha val="26667"/>
              </a:srgbClr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a16:creationId id="{35DBB62F-53D7-489D-8199-C56BCAE9148B}"/>
              </a:ext>
            </a:extLst>
          </p:cNvPr>
          <p:cNvSpPr>
            <a:spLocks noGrp="1"/>
          </p:cNvSpPr>
          <p:nvPr/>
        </p:nvSpPr>
        <p:spPr>
          <a:xfrm>
            <a:off x="9039225" y="4095750"/>
            <a:ext cx="1352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Share</a:t>
            </a:r>
          </a:p>
        </p:txBody>
      </p:sp>
      <p:sp>
        <p:nvSpPr>
          <p:cNvPr id="20" name="">
            <a:extLst>
              <a:ext uri="{FF2B5EF4-FFF2-40B4-BE49-F238E27FC236}">
                <a16:creationId id="{76455D3E-DC23-4608-B4DB-01CE45EBBA1F}"/>
              </a:ext>
            </a:extLst>
          </p:cNvPr>
          <p:cNvSpPr>
            <a:spLocks noGrp="1"/>
          </p:cNvSpPr>
          <p:nvPr/>
        </p:nvSpPr>
        <p:spPr>
          <a:xfrm>
            <a:off x="781050" y="5810250"/>
            <a:ext cx="495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3FA"/>
                </a:solidFill>
                <a:latin typeface="Aptos"/>
                <a:ea typeface="Aptos"/>
                <a:cs typeface="Aptos"/>
              </a:rPr>
              <a:t>Matthew Keeler, Soheyl Massoudi, Mark Fuge</a:t>
            </a:r>
          </a:p>
        </p:txBody>
      </p:sp>
      <p:sp>
        <p:nvSpPr>
          <p:cNvPr id="21" name="">
            <a:extLst>
              <a:ext uri="{FF2B5EF4-FFF2-40B4-BE49-F238E27FC236}">
                <a16:creationId id="{61BDD62D-E398-4463-B57F-BA1C77A5562F}"/>
              </a:ext>
            </a:extLst>
          </p:cNvPr>
          <p:cNvSpPr>
            <a:spLocks noGrp="1"/>
          </p:cNvSpPr>
          <p:nvPr/>
        </p:nvSpPr>
        <p:spPr>
          <a:xfrm>
            <a:off x="781050" y="611505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EAF3F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AF3FA"/>
                </a:solidFill>
                <a:latin typeface="Aptos"/>
                <a:ea typeface="Aptos"/>
                <a:cs typeface="Aptos"/>
              </a:rPr>
              <a:t>EngiBench + EngiOpt</a:t>
            </a:r>
          </a:p>
        </p:txBody>
      </p:sp>
      <p:pic>
        <p:nvPicPr>
          <p:cNvPr id="22" name=""/>
          <p:cNvPicPr>
            <a:picLocks noChangeAspect="1"/>
          </p:cNvPicPr>
          <p:nvPr/>
        </p:nvPicPr>
        <p:blipFill>
          <a:blip r:embed="Rf044b7472bc64e47"/>
          <a:stretch/>
        </p:blipFill>
        <p:spPr>
          <a:xfrm>
            <a:off x="9521028" y="5772150"/>
            <a:ext cx="1512893" cy="552450"/>
          </a:xfrm>
          <a:prstGeom prst="rect">
            <a:avLst/>
          </a:prstGeom>
        </p:spPr>
      </p:pic>
    </p:spTree>
    <p:extLst>
      <p:ext uri="{BB962C8B-B14F-4D97-AF65-F5344CB8AC3E}">
        <p14:creationId val="10734070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2026-05-13T06:54:39.1310000Z</dcterms:created>
  <dcterms:modified xsi:type="dcterms:W3CDTF">2026-05-13T06:54:39.1310000Z</dcterms:modified>
</coreProperties>
</file>