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644f5767aa426a" /><Relationship Type="http://schemas.openxmlformats.org/officeDocument/2006/relationships/extended-properties" Target="/docProps/app.xml" Id="Rbf300cc8a6174923" /><Relationship Type="http://schemas.openxmlformats.org/officeDocument/2006/relationships/officeDocument" Target="/ppt/presentation.xml" Id="Rcbdbedc3ff6448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2ed73882ee46e7"/>
  </p:sldMasterIdLst>
  <p:notesMasterIdLst>
    <p:notesMasterId xmlns:r="http://schemas.openxmlformats.org/officeDocument/2006/relationships" r:id="R4581b97337f94484"/>
  </p:notesMasterIdLst>
  <p:sldIdLst>
    <p:sldId xmlns:r="http://schemas.openxmlformats.org/officeDocument/2006/relationships" id="256" r:id="R53b6ee024b6f48ea"/>
    <p:sldId xmlns:r="http://schemas.openxmlformats.org/officeDocument/2006/relationships" id="257" r:id="Rcabbfa1ff5e0426c"/>
    <p:sldId xmlns:r="http://schemas.openxmlformats.org/officeDocument/2006/relationships" id="258" r:id="Rf144f7466bc74d07"/>
    <p:sldId xmlns:r="http://schemas.openxmlformats.org/officeDocument/2006/relationships" id="259" r:id="R1c2b94161fa4493c"/>
    <p:sldId xmlns:r="http://schemas.openxmlformats.org/officeDocument/2006/relationships" id="260" r:id="R5512b3b8ac94474e"/>
    <p:sldId xmlns:r="http://schemas.openxmlformats.org/officeDocument/2006/relationships" id="261" r:id="Rb23434ff927742a7"/>
    <p:sldId xmlns:r="http://schemas.openxmlformats.org/officeDocument/2006/relationships" id="262" r:id="Rfdec6c8ea50d4003"/>
    <p:sldId xmlns:r="http://schemas.openxmlformats.org/officeDocument/2006/relationships" id="263" r:id="R7965745f22f44d6a"/>
    <p:sldId xmlns:r="http://schemas.openxmlformats.org/officeDocument/2006/relationships" id="264" r:id="R1c6c02d3ef9c49cb"/>
    <p:sldId xmlns:r="http://schemas.openxmlformats.org/officeDocument/2006/relationships" id="265" r:id="Rda4f889c82444d09"/>
    <p:sldId xmlns:r="http://schemas.openxmlformats.org/officeDocument/2006/relationships" id="266" r:id="R3eef935d77c1411f"/>
    <p:sldId xmlns:r="http://schemas.openxmlformats.org/officeDocument/2006/relationships" id="267" r:id="R1d33f5d92a864d84"/>
    <p:sldId xmlns:r="http://schemas.openxmlformats.org/officeDocument/2006/relationships" id="268" r:id="R44884772a84b4da0"/>
    <p:sldId xmlns:r="http://schemas.openxmlformats.org/officeDocument/2006/relationships" id="269" r:id="R396a198885b140d3"/>
    <p:sldId xmlns:r="http://schemas.openxmlformats.org/officeDocument/2006/relationships" id="270" r:id="Rea51573d06b94886"/>
    <p:sldId xmlns:r="http://schemas.openxmlformats.org/officeDocument/2006/relationships" id="271" r:id="R5106f645cdff4f76"/>
    <p:sldId xmlns:r="http://schemas.openxmlformats.org/officeDocument/2006/relationships" id="272" r:id="R0cdfa0c7693a4f18"/>
    <p:sldId xmlns:r="http://schemas.openxmlformats.org/officeDocument/2006/relationships" id="273" r:id="R258b4b849f014802"/>
    <p:sldId xmlns:r="http://schemas.openxmlformats.org/officeDocument/2006/relationships" id="274" r:id="R1674596f4f3c4351"/>
    <p:sldId xmlns:r="http://schemas.openxmlformats.org/officeDocument/2006/relationships" id="275" r:id="R5049caab584b4012"/>
    <p:sldId xmlns:r="http://schemas.openxmlformats.org/officeDocument/2006/relationships" id="276" r:id="Rb5ca2a5f010f4509"/>
    <p:sldId xmlns:r="http://schemas.openxmlformats.org/officeDocument/2006/relationships" id="277" r:id="R45a6ce7a64e340bf"/>
    <p:sldId xmlns:r="http://schemas.openxmlformats.org/officeDocument/2006/relationships" id="278" r:id="R0ef3283d888742ad"/>
    <p:sldId xmlns:r="http://schemas.openxmlformats.org/officeDocument/2006/relationships" id="279" r:id="Rb7f28d61d09d44db"/>
    <p:sldId xmlns:r="http://schemas.openxmlformats.org/officeDocument/2006/relationships" id="280" r:id="R066fdd2821f14340"/>
    <p:sldId xmlns:r="http://schemas.openxmlformats.org/officeDocument/2006/relationships" id="281" r:id="Rbfda9d6e083a49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ed73882ee46e7" /><Relationship Type="http://schemas.openxmlformats.org/officeDocument/2006/relationships/theme" Target="/ppt/theme/theme1.xml" Id="R86df3098e27f41c1" /><Relationship Type="http://schemas.openxmlformats.org/officeDocument/2006/relationships/notesMaster" Target="/ppt/notesMasters/notesMaster1.xml" Id="R4581b97337f94484" /><Relationship Type="http://schemas.openxmlformats.org/officeDocument/2006/relationships/presProps" Target="/ppt/presProps.xml" Id="Rfd449b1caf804d0c" /><Relationship Type="http://schemas.openxmlformats.org/officeDocument/2006/relationships/viewProps" Target="/ppt/viewProps.xml" Id="R9c400f5314274c94" /><Relationship Type="http://schemas.openxmlformats.org/officeDocument/2006/relationships/tableStyles" Target="/ppt/tableStyles.xml" Id="R833da016b9274a26" /><Relationship Type="http://schemas.openxmlformats.org/officeDocument/2006/relationships/slide" Target="/ppt/slides/slide1.xml" Id="R53b6ee024b6f48ea" /><Relationship Type="http://schemas.openxmlformats.org/officeDocument/2006/relationships/slide" Target="/ppt/slides/slide2.xml" Id="Rcabbfa1ff5e0426c" /><Relationship Type="http://schemas.openxmlformats.org/officeDocument/2006/relationships/slide" Target="/ppt/slides/slide3.xml" Id="Rf144f7466bc74d07" /><Relationship Type="http://schemas.openxmlformats.org/officeDocument/2006/relationships/slide" Target="/ppt/slides/slide4.xml" Id="R1c2b94161fa4493c" /><Relationship Type="http://schemas.openxmlformats.org/officeDocument/2006/relationships/slide" Target="/ppt/slides/slide5.xml" Id="R5512b3b8ac94474e" /><Relationship Type="http://schemas.openxmlformats.org/officeDocument/2006/relationships/slide" Target="/ppt/slides/slide6.xml" Id="Rb23434ff927742a7" /><Relationship Type="http://schemas.openxmlformats.org/officeDocument/2006/relationships/slide" Target="/ppt/slides/slide7.xml" Id="Rfdec6c8ea50d4003" /><Relationship Type="http://schemas.openxmlformats.org/officeDocument/2006/relationships/slide" Target="/ppt/slides/slide8.xml" Id="R7965745f22f44d6a" /><Relationship Type="http://schemas.openxmlformats.org/officeDocument/2006/relationships/slide" Target="/ppt/slides/slide9.xml" Id="R1c6c02d3ef9c49cb" /><Relationship Type="http://schemas.openxmlformats.org/officeDocument/2006/relationships/slide" Target="/ppt/slides/slide10.xml" Id="Rda4f889c82444d09" /><Relationship Type="http://schemas.openxmlformats.org/officeDocument/2006/relationships/slide" Target="/ppt/slides/slide11.xml" Id="R3eef935d77c1411f" /><Relationship Type="http://schemas.openxmlformats.org/officeDocument/2006/relationships/slide" Target="/ppt/slides/slide12.xml" Id="R1d33f5d92a864d84" /><Relationship Type="http://schemas.openxmlformats.org/officeDocument/2006/relationships/slide" Target="/ppt/slides/slide13.xml" Id="R44884772a84b4da0" /><Relationship Type="http://schemas.openxmlformats.org/officeDocument/2006/relationships/slide" Target="/ppt/slides/slide14.xml" Id="R396a198885b140d3" /><Relationship Type="http://schemas.openxmlformats.org/officeDocument/2006/relationships/slide" Target="/ppt/slides/slide15.xml" Id="Rea51573d06b94886" /><Relationship Type="http://schemas.openxmlformats.org/officeDocument/2006/relationships/slide" Target="/ppt/slides/slide16.xml" Id="R5106f645cdff4f76" /><Relationship Type="http://schemas.openxmlformats.org/officeDocument/2006/relationships/slide" Target="/ppt/slides/slide17.xml" Id="R0cdfa0c7693a4f18" /><Relationship Type="http://schemas.openxmlformats.org/officeDocument/2006/relationships/slide" Target="/ppt/slides/slide18.xml" Id="R258b4b849f014802" /><Relationship Type="http://schemas.openxmlformats.org/officeDocument/2006/relationships/slide" Target="/ppt/slides/slide19.xml" Id="R1674596f4f3c4351" /><Relationship Type="http://schemas.openxmlformats.org/officeDocument/2006/relationships/slide" Target="/ppt/slides/slide20.xml" Id="R5049caab584b4012" /><Relationship Type="http://schemas.openxmlformats.org/officeDocument/2006/relationships/slide" Target="/ppt/slides/slide21.xml" Id="Rb5ca2a5f010f4509" /><Relationship Type="http://schemas.openxmlformats.org/officeDocument/2006/relationships/slide" Target="/ppt/slides/slide22.xml" Id="R45a6ce7a64e340bf" /><Relationship Type="http://schemas.openxmlformats.org/officeDocument/2006/relationships/slide" Target="/ppt/slides/slide23.xml" Id="R0ef3283d888742ad" /><Relationship Type="http://schemas.openxmlformats.org/officeDocument/2006/relationships/slide" Target="/ppt/slides/slide24.xml" Id="Rb7f28d61d09d44db" /><Relationship Type="http://schemas.openxmlformats.org/officeDocument/2006/relationships/slide" Target="/ppt/slides/slide25.xml" Id="R066fdd2821f14340" /><Relationship Type="http://schemas.openxmlformats.org/officeDocument/2006/relationships/slide" Target="/ppt/slides/slide26.xml" Id="Rbfda9d6e083a49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8637496199b49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4286da0c804265" /><Relationship Type="http://schemas.openxmlformats.org/officeDocument/2006/relationships/notesMaster" Target="/ppt/notesMasters/notesMaster1.xml" Id="Rf7b50dd6397e4e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371dd39c374b55" /><Relationship Type="http://schemas.openxmlformats.org/officeDocument/2006/relationships/notesMaster" Target="/ppt/notesMasters/notesMaster1.xml" Id="Rf87040f9a27644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9a268aab9d4e36" /><Relationship Type="http://schemas.openxmlformats.org/officeDocument/2006/relationships/notesMaster" Target="/ppt/notesMasters/notesMaster1.xml" Id="Ra850ef060eb543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298ca79f724f65" /><Relationship Type="http://schemas.openxmlformats.org/officeDocument/2006/relationships/notesMaster" Target="/ppt/notesMasters/notesMaster1.xml" Id="Re8a72fd4f0604a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42759251434b50" /><Relationship Type="http://schemas.openxmlformats.org/officeDocument/2006/relationships/notesMaster" Target="/ppt/notesMasters/notesMaster1.xml" Id="Rf5941c2f6b274a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425a2fea464819" /><Relationship Type="http://schemas.openxmlformats.org/officeDocument/2006/relationships/notesMaster" Target="/ppt/notesMasters/notesMaster1.xml" Id="Rbf7ea8ffdc0343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2790046312428e" /><Relationship Type="http://schemas.openxmlformats.org/officeDocument/2006/relationships/notesMaster" Target="/ppt/notesMasters/notesMaster1.xml" Id="Rb2bf4833aa974f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b89f93e4dd4d65" /><Relationship Type="http://schemas.openxmlformats.org/officeDocument/2006/relationships/notesMaster" Target="/ppt/notesMasters/notesMaster1.xml" Id="Rf7e49c87c29c41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ed1b8cb70d47f5" /><Relationship Type="http://schemas.openxmlformats.org/officeDocument/2006/relationships/notesMaster" Target="/ppt/notesMasters/notesMaster1.xml" Id="Rb1efa265bca142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a3e95b3caf46bb" /><Relationship Type="http://schemas.openxmlformats.org/officeDocument/2006/relationships/notesMaster" Target="/ppt/notesMasters/notesMaster1.xml" Id="R4445f16ee54442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78446c5e8b41e7" /><Relationship Type="http://schemas.openxmlformats.org/officeDocument/2006/relationships/notesMaster" Target="/ppt/notesMasters/notesMaster1.xml" Id="Rb43a4695e31541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71235601dc4e2a" /><Relationship Type="http://schemas.openxmlformats.org/officeDocument/2006/relationships/notesMaster" Target="/ppt/notesMasters/notesMaster1.xml" Id="R5ab85323254946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7a707a33854979" /><Relationship Type="http://schemas.openxmlformats.org/officeDocument/2006/relationships/notesMaster" Target="/ppt/notesMasters/notesMaster1.xml" Id="Rb6e3cb2134d243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e798e1d55347bf" /><Relationship Type="http://schemas.openxmlformats.org/officeDocument/2006/relationships/notesMaster" Target="/ppt/notesMasters/notesMaster1.xml" Id="R18ecaea0ef2249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5485cad8864ec1" /><Relationship Type="http://schemas.openxmlformats.org/officeDocument/2006/relationships/notesMaster" Target="/ppt/notesMasters/notesMaster1.xml" Id="R36836c9e40e94d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e33a5ef5f04428" /><Relationship Type="http://schemas.openxmlformats.org/officeDocument/2006/relationships/notesMaster" Target="/ppt/notesMasters/notesMaster1.xml" Id="Rb2e4da883c4245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152f6d5f634140" /><Relationship Type="http://schemas.openxmlformats.org/officeDocument/2006/relationships/notesMaster" Target="/ppt/notesMasters/notesMaster1.xml" Id="Rc89d52476f7448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418b0db8cd47f1" /><Relationship Type="http://schemas.openxmlformats.org/officeDocument/2006/relationships/notesMaster" Target="/ppt/notesMasters/notesMaster1.xml" Id="R8edf5c5fc91c41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e7812653fb4a3e" /><Relationship Type="http://schemas.openxmlformats.org/officeDocument/2006/relationships/notesMaster" Target="/ppt/notesMasters/notesMaster1.xml" Id="Rafb009a8a04540a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bc1c4e0a22e4278" /><Relationship Type="http://schemas.openxmlformats.org/officeDocument/2006/relationships/notesMaster" Target="/ppt/notesMasters/notesMaster1.xml" Id="R1f79bae9cbc84d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91b2fcc2a134565" /><Relationship Type="http://schemas.openxmlformats.org/officeDocument/2006/relationships/notesMaster" Target="/ppt/notesMasters/notesMaster1.xml" Id="R4feb04de85b14ee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cad97813fa74485" /><Relationship Type="http://schemas.openxmlformats.org/officeDocument/2006/relationships/notesMaster" Target="/ppt/notesMasters/notesMaster1.xml" Id="Rc279553dda62499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d933922b5b444ec" /><Relationship Type="http://schemas.openxmlformats.org/officeDocument/2006/relationships/notesMaster" Target="/ppt/notesMasters/notesMaster1.xml" Id="R821375e05e4e47b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38471e004c64ecb" /><Relationship Type="http://schemas.openxmlformats.org/officeDocument/2006/relationships/notesMaster" Target="/ppt/notesMasters/notesMaster1.xml" Id="R761847246c45421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c1bc089fcbd4b87" /><Relationship Type="http://schemas.openxmlformats.org/officeDocument/2006/relationships/notesMaster" Target="/ppt/notesMasters/notesMaster1.xml" Id="R479cdbc965d0484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9aa6f2115e24750" /><Relationship Type="http://schemas.openxmlformats.org/officeDocument/2006/relationships/notesMaster" Target="/ppt/notesMasters/notesMaster1.xml" Id="Rd630b7ce31ed41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2172d57e2493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67736a9c43c482c" /><Relationship Type="http://schemas.openxmlformats.org/officeDocument/2006/relationships/slideLayout" Target="/ppt/slideLayouts/slideLayout2.xml" Id="R755fb99e1b1549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5fb99e1b1549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e259e24f414f80" /><Relationship Type="http://schemas.openxmlformats.org/officeDocument/2006/relationships/image" Target="/ppt/media/image.png" Id="R3ac849ad239e4331" /><Relationship Type="http://schemas.openxmlformats.org/officeDocument/2006/relationships/image" Target="/ppt/media/image2.png" Id="Re1a4297820e248d9" /><Relationship Type="http://schemas.openxmlformats.org/officeDocument/2006/relationships/notesSlide" Target="/ppt/notesSlides/notesSlide1.xml" Id="Rffdcf8fc30a648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7400df5603412c" /><Relationship Type="http://schemas.openxmlformats.org/officeDocument/2006/relationships/notesSlide" Target="/ppt/notesSlides/notesSlide2.xml" Id="Rc9f84997f3e04c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b7cd791fc64b65" /><Relationship Type="http://schemas.openxmlformats.org/officeDocument/2006/relationships/notesSlide" Target="/ppt/notesSlides/notesSlide3.xml" Id="Ra8a051eb6bec4b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0f73163a1f45aa" /><Relationship Type="http://schemas.openxmlformats.org/officeDocument/2006/relationships/image" Target="/ppt/media/image3.png" Id="Rfc5ed43585664bee" /><Relationship Type="http://schemas.openxmlformats.org/officeDocument/2006/relationships/notesSlide" Target="/ppt/notesSlides/notesSlide4.xml" Id="R51aaaa5450964b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c4f9760a7940f7" /><Relationship Type="http://schemas.openxmlformats.org/officeDocument/2006/relationships/image" Target="/ppt/media/image4.png" Id="R017b10d537ff4004" /><Relationship Type="http://schemas.openxmlformats.org/officeDocument/2006/relationships/image" Target="/ppt/media/image5.png" Id="R3b483d47bc4147cf" /><Relationship Type="http://schemas.openxmlformats.org/officeDocument/2006/relationships/image" Target="/ppt/media/image6.png" Id="R9b9c54f793cb4daa" /><Relationship Type="http://schemas.openxmlformats.org/officeDocument/2006/relationships/notesSlide" Target="/ppt/notesSlides/notesSlide5.xml" Id="R249973821d3a4e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5a90e7f5684b85" /><Relationship Type="http://schemas.openxmlformats.org/officeDocument/2006/relationships/notesSlide" Target="/ppt/notesSlides/notesSlide6.xml" Id="Ra7c4a0938ca24a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7284cb326a4c84" /><Relationship Type="http://schemas.openxmlformats.org/officeDocument/2006/relationships/notesSlide" Target="/ppt/notesSlides/notesSlide7.xml" Id="Rf3055599b9ca4b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4eab74f85d4b14" /><Relationship Type="http://schemas.openxmlformats.org/officeDocument/2006/relationships/image" Target="/ppt/media/image7.png" Id="R87e6972518054f50" /><Relationship Type="http://schemas.openxmlformats.org/officeDocument/2006/relationships/notesSlide" Target="/ppt/notesSlides/notesSlide8.xml" Id="Rf54064ee1aa24d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1f1740c70b4d2e" /><Relationship Type="http://schemas.openxmlformats.org/officeDocument/2006/relationships/notesSlide" Target="/ppt/notesSlides/notesSlide9.xml" Id="Rdaffdd2d91b246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71dab7bb724c51" /><Relationship Type="http://schemas.openxmlformats.org/officeDocument/2006/relationships/image" Target="/ppt/media/image8.png" Id="R220331918f814537" /><Relationship Type="http://schemas.openxmlformats.org/officeDocument/2006/relationships/notesSlide" Target="/ppt/notesSlides/notesSlide10.xml" Id="R258eeec5819c45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52edc10aba41fb" /><Relationship Type="http://schemas.openxmlformats.org/officeDocument/2006/relationships/notesSlide" Target="/ppt/notesSlides/notesSlide11.xml" Id="Rba82f80071d548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ee0d25a5964a9d" /><Relationship Type="http://schemas.openxmlformats.org/officeDocument/2006/relationships/image" Target="/ppt/media/image9.png" Id="Re757ad4daadf4e5c" /><Relationship Type="http://schemas.openxmlformats.org/officeDocument/2006/relationships/notesSlide" Target="/ppt/notesSlides/notesSlide12.xml" Id="R37454e10159945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23ce2bc4bb4323" /><Relationship Type="http://schemas.openxmlformats.org/officeDocument/2006/relationships/image" Target="/ppt/media/image10.png" Id="R7ec9818c2d564b96" /><Relationship Type="http://schemas.openxmlformats.org/officeDocument/2006/relationships/notesSlide" Target="/ppt/notesSlides/notesSlide13.xml" Id="R4b2ca7ee09c749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f337c97f684f28" /><Relationship Type="http://schemas.openxmlformats.org/officeDocument/2006/relationships/notesSlide" Target="/ppt/notesSlides/notesSlide14.xml" Id="Rc93c2e52b69e48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71c47b1ac345d4" /><Relationship Type="http://schemas.openxmlformats.org/officeDocument/2006/relationships/image" Target="/ppt/media/image11.png" Id="R7dee77296ecc4901" /><Relationship Type="http://schemas.openxmlformats.org/officeDocument/2006/relationships/notesSlide" Target="/ppt/notesSlides/notesSlide15.xml" Id="R64feff09468a49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0cf29c63224343" /><Relationship Type="http://schemas.openxmlformats.org/officeDocument/2006/relationships/image" Target="/ppt/media/image12.png" Id="R01c491f5fa5d49a9" /><Relationship Type="http://schemas.openxmlformats.org/officeDocument/2006/relationships/image" Target="/ppt/media/image13.png" Id="Rc81248044b2643ea" /><Relationship Type="http://schemas.openxmlformats.org/officeDocument/2006/relationships/notesSlide" Target="/ppt/notesSlides/notesSlide16.xml" Id="R02d7303acf794e4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151c62122f406d" /><Relationship Type="http://schemas.openxmlformats.org/officeDocument/2006/relationships/image" Target="/ppt/media/image14.png" Id="R132e75a55a5840f1" /><Relationship Type="http://schemas.openxmlformats.org/officeDocument/2006/relationships/notesSlide" Target="/ppt/notesSlides/notesSlide17.xml" Id="R21000fc9f5604b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d848e9a31645d6" /><Relationship Type="http://schemas.openxmlformats.org/officeDocument/2006/relationships/notesSlide" Target="/ppt/notesSlides/notesSlide18.xml" Id="R2113f86deca6472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0f04f0ab784d9e" /><Relationship Type="http://schemas.openxmlformats.org/officeDocument/2006/relationships/notesSlide" Target="/ppt/notesSlides/notesSlide19.xml" Id="R77d11bfb6e3d4dd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c76a2bd7b94fc1" /><Relationship Type="http://schemas.openxmlformats.org/officeDocument/2006/relationships/image" Target="/ppt/media/image15.png" Id="R82943a78cca544ba" /><Relationship Type="http://schemas.openxmlformats.org/officeDocument/2006/relationships/notesSlide" Target="/ppt/notesSlides/notesSlide20.xml" Id="R7ef7d0ee7f3447c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1e6249a5fa4d84" /><Relationship Type="http://schemas.openxmlformats.org/officeDocument/2006/relationships/notesSlide" Target="/ppt/notesSlides/notesSlide21.xml" Id="R4caa5c05b1aa438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b5b00a7c0d42d7" /><Relationship Type="http://schemas.openxmlformats.org/officeDocument/2006/relationships/notesSlide" Target="/ppt/notesSlides/notesSlide22.xml" Id="Rc7d1a960e5bb461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cd6b9a93044b0f" /><Relationship Type="http://schemas.openxmlformats.org/officeDocument/2006/relationships/image" Target="/ppt/media/image16.png" Id="R6f9a4232dbe347af" /><Relationship Type="http://schemas.openxmlformats.org/officeDocument/2006/relationships/notesSlide" Target="/ppt/notesSlides/notesSlide23.xml" Id="R01a34982cd4d480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efca5dd87d4685" /><Relationship Type="http://schemas.openxmlformats.org/officeDocument/2006/relationships/notesSlide" Target="/ppt/notesSlides/notesSlide24.xml" Id="Rbc706bd19bf54fc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4177f277ea4e85" /><Relationship Type="http://schemas.openxmlformats.org/officeDocument/2006/relationships/notesSlide" Target="/ppt/notesSlides/notesSlide25.xml" Id="Ree971f6419704c9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6ee3fe654945a3" /><Relationship Type="http://schemas.openxmlformats.org/officeDocument/2006/relationships/image" Target="/ppt/media/image17.png" Id="R69eeefcb10bb4ad0" /><Relationship Type="http://schemas.openxmlformats.org/officeDocument/2006/relationships/notesSlide" Target="/ppt/notesSlides/notesSlide26.xml" Id="Rf61adc6cdabd4bf6" 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40E9F3B6-1BB9-4D48-8602-A6F6691D21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noChangeAspect="1"/>
          </p:cNvPicPr>
          <p:nvPr/>
        </p:nvPicPr>
        <p:blipFill>
          <a:blip r:embed="R3ac849ad239e4331"/>
          <a:stretch/>
        </p:blipFill>
        <p:spPr>
          <a:xfrm>
            <a:off x="514350" y="409228"/>
            <a:ext cx="11144250" cy="2248594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a16:creationId id="{5459F688-04FA-48E9-A1BF-EEE5F9F0500C}"/>
              </a:ext>
            </a:extLst>
          </p:cNvPr>
          <p:cNvSpPr>
            <a:spLocks noGrp="1"/>
          </p:cNvSpPr>
          <p:nvPr/>
        </p:nvSpPr>
        <p:spPr>
          <a:xfrm>
            <a:off x="0" y="2990850"/>
            <a:ext cx="12192000" cy="3867150"/>
          </a:xfrm>
          <a:prstGeom prst="rect">
            <a:avLst/>
          </a:prstGeom>
          <a:solidFill>
            <a:srgbClr val="225E9B"/>
          </a:solidFill>
          <a:ln w="9525">
            <a:solidFill>
              <a:srgbClr val="225E9B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a16:creationId id="{F7ADC585-31CF-436A-ABF7-0C0F57A41871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FE3F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FE3F3"/>
                </a:solidFill>
                <a:latin typeface="Aptos"/>
                <a:ea typeface="Aptos"/>
                <a:cs typeface="Aptos"/>
              </a:rPr>
              <a:t>DCC 2026 Paris workshop</a:t>
            </a:r>
          </a:p>
        </p:txBody>
      </p:sp>
      <p:sp>
        <p:nvSpPr>
          <p:cNvPr id="6" name="">
            <a:extLst>
              <a:ext uri="{FF2B5EF4-FFF2-40B4-BE49-F238E27FC236}">
                <a16:creationId id="{89F8644C-1033-4FEA-AF91-A8828ADFEEFB}"/>
              </a:ext>
            </a:extLst>
          </p:cNvPr>
          <p:cNvSpPr>
            <a:spLocks noGrp="1"/>
          </p:cNvSpPr>
          <p:nvPr/>
        </p:nvSpPr>
        <p:spPr>
          <a:xfrm>
            <a:off x="742950" y="3790950"/>
            <a:ext cx="8096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Benchmarking AI for Engineering Design</a:t>
            </a:r>
          </a:p>
        </p:txBody>
      </p:sp>
      <p:sp>
        <p:nvSpPr>
          <p:cNvPr id="7" name="">
            <a:extLst>
              <a:ext uri="{FF2B5EF4-FFF2-40B4-BE49-F238E27FC236}">
                <a16:creationId id="{472E64A0-5129-40EC-84A6-30B768BE7D23}"/>
              </a:ext>
            </a:extLst>
          </p:cNvPr>
          <p:cNvSpPr>
            <a:spLocks noGrp="1"/>
          </p:cNvSpPr>
          <p:nvPr/>
        </p:nvSpPr>
        <p:spPr>
          <a:xfrm>
            <a:off x="781050" y="5124450"/>
            <a:ext cx="8001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A hands-on path from design-problem framing to generated-design evaluation</a:t>
            </a:r>
          </a:p>
        </p:txBody>
      </p:sp>
      <p:sp>
        <p:nvSpPr>
          <p:cNvPr id="8" name="">
            <a:extLst>
              <a:ext uri="{FF2B5EF4-FFF2-40B4-BE49-F238E27FC236}">
                <a16:creationId id="{F05C3A77-BDA0-4871-8BEB-34D22F844D5A}"/>
              </a:ext>
            </a:extLst>
          </p:cNvPr>
          <p:cNvSpPr>
            <a:spLocks noGrp="1"/>
          </p:cNvSpPr>
          <p:nvPr/>
        </p:nvSpPr>
        <p:spPr>
          <a:xfrm>
            <a:off x="781050" y="579120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3FA"/>
                </a:solidFill>
                <a:latin typeface="Aptos"/>
                <a:ea typeface="Aptos"/>
                <a:cs typeface="Aptos"/>
              </a:rPr>
              <a:t>Matthew Keeler, Soheyl Massoudi, Mark Fuge</a:t>
            </a:r>
          </a:p>
        </p:txBody>
      </p:sp>
      <p:sp>
        <p:nvSpPr>
          <p:cNvPr id="9" name="">
            <a:extLst>
              <a:ext uri="{FF2B5EF4-FFF2-40B4-BE49-F238E27FC236}">
                <a16:creationId id="{B1DE25B2-0448-41BE-8015-C50ADFFF3007}"/>
              </a:ext>
            </a:extLst>
          </p:cNvPr>
          <p:cNvSpPr>
            <a:spLocks noGrp="1"/>
          </p:cNvSpPr>
          <p:nvPr/>
        </p:nvSpPr>
        <p:spPr>
          <a:xfrm>
            <a:off x="781050" y="6076950"/>
            <a:ext cx="409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Participant deck, simple notebook track</a:t>
            </a:r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e1a4297820e248d9"/>
          <a:stretch/>
        </p:blipFill>
        <p:spPr>
          <a:xfrm>
            <a:off x="9297847" y="5657850"/>
            <a:ext cx="1825905" cy="666750"/>
          </a:xfrm>
          <a:prstGeom prst="rect">
            <a:avLst/>
          </a:prstGeom>
        </p:spPr>
      </p:pic>
    </p:spTree>
    <p:extLst>
      <p:ext uri="{BB962C8B-B14F-4D97-AF65-F5344CB8AC3E}">
        <p14:creationId val="1186836292"/>
      </p:ext>
    </p:extLst>
  </p:cSld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D1A7F4BE-9403-4B02-AF05-D787D2A1A3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1EBE90F0-2F10-41B3-B88F-F5AE74E5C5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CBEFBA1C-BBF0-46F5-A822-09267FDE6D65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5" name="">
            <a:extLst>
              <a:ext uri="{FF2B5EF4-FFF2-40B4-BE49-F238E27FC236}">
                <a16:creationId id="{69463009-BEA4-4DEC-A11D-348861989366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9C02DCD9-37C4-42F3-A367-0053345A668D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Why this workshop exists</a:t>
            </a:r>
          </a:p>
        </p:txBody>
      </p:sp>
      <p:sp>
        <p:nvSpPr>
          <p:cNvPr id="7" name="">
            <a:extLst>
              <a:ext uri="{FF2B5EF4-FFF2-40B4-BE49-F238E27FC236}">
                <a16:creationId id="{1232F2BF-A83B-46A6-BF44-6133950D4B60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Engineering design ML cannot become cumulative if every paper quietly changes the problem.</a:t>
            </a:r>
          </a:p>
        </p:txBody>
      </p:sp>
      <p:sp>
        <p:nvSpPr>
          <p:cNvPr id="8" name="">
            <a:extLst>
              <a:ext uri="{FF2B5EF4-FFF2-40B4-BE49-F238E27FC236}">
                <a16:creationId id="{33215C52-2FCB-41CC-B03F-5F287B50BEA8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933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A model comparison is only meaningful when the design space, conditions, constraints, simulator, baseline, and metrics are visible enough for another lab to rerun.</a:t>
            </a:r>
          </a:p>
        </p:txBody>
      </p:sp>
      <p:sp>
        <p:nvSpPr>
          <p:cNvPr id="9" name="">
            <a:extLst>
              <a:ext uri="{FF2B5EF4-FFF2-40B4-BE49-F238E27FC236}">
                <a16:creationId id="{ABCE3A8E-59A3-4703-87AB-BA3105C2EA23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3143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a16:creationId id="{B12BBB12-7BD9-43C6-9FE5-874B5BAEC25A}"/>
              </a:ext>
            </a:extLst>
          </p:cNvPr>
          <p:cNvSpPr>
            <a:spLocks noGrp="1"/>
          </p:cNvSpPr>
          <p:nvPr/>
        </p:nvSpPr>
        <p:spPr>
          <a:xfrm>
            <a:off x="952500" y="3276600"/>
            <a:ext cx="49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C8483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8483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>
              <a:ext uri="{FF2B5EF4-FFF2-40B4-BE49-F238E27FC236}">
                <a16:creationId id="{0A185781-5C7F-495C-B4F6-61665D5FAF4D}"/>
              </a:ext>
            </a:extLst>
          </p:cNvPr>
          <p:cNvSpPr>
            <a:spLocks noGrp="1"/>
          </p:cNvSpPr>
          <p:nvPr/>
        </p:nvSpPr>
        <p:spPr>
          <a:xfrm>
            <a:off x="1543050" y="3314700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C8483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4837"/>
                </a:solidFill>
                <a:latin typeface="Aptos"/>
                <a:ea typeface="Aptos"/>
                <a:cs typeface="Aptos"/>
              </a:rPr>
              <a:t>Hidden setup choices</a:t>
            </a:r>
          </a:p>
        </p:txBody>
      </p:sp>
      <p:sp>
        <p:nvSpPr>
          <p:cNvPr id="12" name="">
            <a:extLst>
              <a:ext uri="{FF2B5EF4-FFF2-40B4-BE49-F238E27FC236}">
                <a16:creationId id="{E23A3177-8C6D-4914-A1DD-7FBB5B2F4D06}"/>
              </a:ext>
            </a:extLst>
          </p:cNvPr>
          <p:cNvSpPr>
            <a:spLocks noGrp="1"/>
          </p:cNvSpPr>
          <p:nvPr/>
        </p:nvSpPr>
        <p:spPr>
          <a:xfrm>
            <a:off x="971550" y="3886200"/>
            <a:ext cx="26479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Two methods may appear comparable while using different constraints, solvers, tolerances, or condition distributions.</a:t>
            </a:r>
          </a:p>
        </p:txBody>
      </p:sp>
      <p:sp>
        <p:nvSpPr>
          <p:cNvPr id="13" name="">
            <a:extLst>
              <a:ext uri="{FF2B5EF4-FFF2-40B4-BE49-F238E27FC236}">
                <a16:creationId id="{E7BCAE45-95A7-4939-80F7-0B28F9F12820}"/>
              </a:ext>
            </a:extLst>
          </p:cNvPr>
          <p:cNvSpPr>
            <a:spLocks noGrp="1"/>
          </p:cNvSpPr>
          <p:nvPr/>
        </p:nvSpPr>
        <p:spPr>
          <a:xfrm>
            <a:off x="4400550" y="2990850"/>
            <a:ext cx="3143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a16:creationId id="{7C55EF5E-FCA9-45BA-86E3-EACB1E94CFFB}"/>
              </a:ext>
            </a:extLst>
          </p:cNvPr>
          <p:cNvSpPr>
            <a:spLocks noGrp="1"/>
          </p:cNvSpPr>
          <p:nvPr/>
        </p:nvSpPr>
        <p:spPr>
          <a:xfrm>
            <a:off x="4629150" y="3276600"/>
            <a:ext cx="49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C47B2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47B2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id="{E048880A-3B64-4B30-8BBF-83D4EF171576}"/>
              </a:ext>
            </a:extLst>
          </p:cNvPr>
          <p:cNvSpPr>
            <a:spLocks noGrp="1"/>
          </p:cNvSpPr>
          <p:nvPr/>
        </p:nvSpPr>
        <p:spPr>
          <a:xfrm>
            <a:off x="5219700" y="3314700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C47B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47B20"/>
                </a:solidFill>
                <a:latin typeface="Aptos"/>
                <a:ea typeface="Aptos"/>
                <a:cs typeface="Aptos"/>
              </a:rPr>
              <a:t>Plausible-looking failures</a:t>
            </a:r>
          </a:p>
        </p:txBody>
      </p:sp>
      <p:sp>
        <p:nvSpPr>
          <p:cNvPr id="16" name="">
            <a:extLst>
              <a:ext uri="{FF2B5EF4-FFF2-40B4-BE49-F238E27FC236}">
                <a16:creationId id="{CC3CB6F9-785E-4ED6-AFE9-01358F067030}"/>
              </a:ext>
            </a:extLst>
          </p:cNvPr>
          <p:cNvSpPr>
            <a:spLocks noGrp="1"/>
          </p:cNvSpPr>
          <p:nvPr/>
        </p:nvSpPr>
        <p:spPr>
          <a:xfrm>
            <a:off x="4648200" y="3886200"/>
            <a:ext cx="26479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Generated geometries can look convincing to the eye and still violate rules or lose after simulation.</a:t>
            </a:r>
          </a:p>
        </p:txBody>
      </p:sp>
      <p:sp>
        <p:nvSpPr>
          <p:cNvPr id="17" name="">
            <a:extLst>
              <a:ext uri="{FF2B5EF4-FFF2-40B4-BE49-F238E27FC236}">
                <a16:creationId id="{7E1B64D9-8C4E-4CA3-8BCD-86EC2CD96A2C}"/>
              </a:ext>
            </a:extLst>
          </p:cNvPr>
          <p:cNvSpPr>
            <a:spLocks noGrp="1"/>
          </p:cNvSpPr>
          <p:nvPr/>
        </p:nvSpPr>
        <p:spPr>
          <a:xfrm>
            <a:off x="8077200" y="2990850"/>
            <a:ext cx="314325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a16:creationId id="{F3AA810C-E836-407D-8FEC-7FD9DC172359}"/>
              </a:ext>
            </a:extLst>
          </p:cNvPr>
          <p:cNvSpPr>
            <a:spLocks noGrp="1"/>
          </p:cNvSpPr>
          <p:nvPr/>
        </p:nvSpPr>
        <p:spPr>
          <a:xfrm>
            <a:off x="8305800" y="3276600"/>
            <a:ext cx="49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>
              <a:ext uri="{FF2B5EF4-FFF2-40B4-BE49-F238E27FC236}">
                <a16:creationId id="{280010A5-0487-4D01-89E9-028977B0DB75}"/>
              </a:ext>
            </a:extLst>
          </p:cNvPr>
          <p:cNvSpPr>
            <a:spLocks noGrp="1"/>
          </p:cNvSpPr>
          <p:nvPr/>
        </p:nvSpPr>
        <p:spPr>
          <a:xfrm>
            <a:off x="8896350" y="3314700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Hard-to-reuse results</a:t>
            </a:r>
          </a:p>
        </p:txBody>
      </p:sp>
      <p:sp>
        <p:nvSpPr>
          <p:cNvPr id="20" name="">
            <a:extLst>
              <a:ext uri="{FF2B5EF4-FFF2-40B4-BE49-F238E27FC236}">
                <a16:creationId id="{E40AAA6A-A382-498E-ACC5-FDFC19BE81D6}"/>
              </a:ext>
            </a:extLst>
          </p:cNvPr>
          <p:cNvSpPr>
            <a:spLocks noGrp="1"/>
          </p:cNvSpPr>
          <p:nvPr/>
        </p:nvSpPr>
        <p:spPr>
          <a:xfrm>
            <a:off x="8324850" y="3886200"/>
            <a:ext cx="26479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If the task contract is implicit, another group cannot know whether they improved the method or changed the problem.</a:t>
            </a:r>
          </a:p>
        </p:txBody>
      </p:sp>
      <p:sp>
        <p:nvSpPr>
          <p:cNvPr id="21" name="">
            <a:extLst>
              <a:ext uri="{FF2B5EF4-FFF2-40B4-BE49-F238E27FC236}">
                <a16:creationId id="{5DE43F29-3079-4782-904B-D8CD2554FBE5}"/>
              </a:ext>
            </a:extLst>
          </p:cNvPr>
          <p:cNvSpPr>
            <a:spLocks noGrp="1"/>
          </p:cNvSpPr>
          <p:nvPr/>
        </p:nvSpPr>
        <p:spPr>
          <a:xfrm>
            <a:off x="1657350" y="5410200"/>
            <a:ext cx="8877300" cy="552450"/>
          </a:xfrm>
          <a:prstGeom prst="rect">
            <a:avLst/>
          </a:prstGeom>
          <a:solidFill>
            <a:srgbClr val="225E9B"/>
          </a:solidFill>
          <a:ln w="9525">
            <a:solidFill>
              <a:srgbClr val="225E9B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a16:creationId id="{951B5855-BF6F-47C2-A246-00B12B1CA060}"/>
              </a:ext>
            </a:extLst>
          </p:cNvPr>
          <p:cNvSpPr>
            <a:spLocks noGrp="1"/>
          </p:cNvSpPr>
          <p:nvPr/>
        </p:nvSpPr>
        <p:spPr>
          <a:xfrm>
            <a:off x="2057400" y="5581650"/>
            <a:ext cx="807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workshop gives you a practical language for making these choices explicit.</a:t>
            </a:r>
          </a:p>
        </p:txBody>
      </p:sp>
    </p:spTree>
    <p:extLst>
      <p:ext uri="{BB962C8B-B14F-4D97-AF65-F5344CB8AC3E}">
        <p14:creationId val="230430200"/>
      </p:ext>
    </p:extLst>
  </p:cSld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9DF33A9D-8BD4-4479-BC06-FAF615DAB3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3B5A8CFB-FAEB-4327-8D78-0CE6E62FF5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6605A143-C3B7-433E-B69A-C370B9AE8D8A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5" name="">
            <a:extLst>
              <a:ext uri="{FF2B5EF4-FFF2-40B4-BE49-F238E27FC236}">
                <a16:creationId id="{E55F4FA9-0FAF-4CB7-8B94-27A4BE5D739B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372F3E5D-9F33-41D5-B959-87C8EC484F46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What you should leave believing</a:t>
            </a:r>
          </a:p>
        </p:txBody>
      </p:sp>
      <p:sp>
        <p:nvSpPr>
          <p:cNvPr id="7" name="">
            <a:extLst>
              <a:ext uri="{FF2B5EF4-FFF2-40B4-BE49-F238E27FC236}">
                <a16:creationId id="{CBC418EF-EC7D-454C-8C81-DBD53810CB51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 benchmark is not just a leaderboard. It is a way to make design claims reproducible.</a:t>
            </a:r>
          </a:p>
        </p:txBody>
      </p:sp>
      <p:sp>
        <p:nvSpPr>
          <p:cNvPr id="8" name="">
            <a:extLst>
              <a:ext uri="{FF2B5EF4-FFF2-40B4-BE49-F238E27FC236}">
                <a16:creationId id="{E86CAE2A-C6CD-44DF-A674-F74A65FD05A1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9810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The red line of the workshop is simple: make the engineering task explicit, then use the same executable contract to train, evaluate, diagnose, and transfer ideas to your own domain.</a:t>
            </a:r>
          </a:p>
        </p:txBody>
      </p:sp>
      <p:sp>
        <p:nvSpPr>
          <p:cNvPr id="9" name="">
            <a:extLst>
              <a:ext uri="{FF2B5EF4-FFF2-40B4-BE49-F238E27FC236}">
                <a16:creationId id="{2409D368-F764-4DAF-80C7-124BA4473DD8}"/>
              </a:ext>
            </a:extLst>
          </p:cNvPr>
          <p:cNvSpPr>
            <a:spLocks noGrp="1"/>
          </p:cNvSpPr>
          <p:nvPr/>
        </p:nvSpPr>
        <p:spPr>
          <a:xfrm>
            <a:off x="1200150" y="2914650"/>
            <a:ext cx="952500" cy="552450"/>
          </a:xfrm>
          <a:prstGeom prst="rect">
            <a:avLst/>
          </a:prstGeom>
          <a:solidFill>
            <a:srgbClr val="D7E8F6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a16:creationId id="{34C812DF-433F-4926-B526-F5EB06DA4063}"/>
              </a:ext>
            </a:extLst>
          </p:cNvPr>
          <p:cNvSpPr>
            <a:spLocks noGrp="1"/>
          </p:cNvSpPr>
          <p:nvPr/>
        </p:nvSpPr>
        <p:spPr>
          <a:xfrm>
            <a:off x="1200150" y="3028950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>
              <a:ext uri="{FF2B5EF4-FFF2-40B4-BE49-F238E27FC236}">
                <a16:creationId id="{3DEA9114-5165-4E3F-9C9C-724EAF3E2AA9}"/>
              </a:ext>
            </a:extLst>
          </p:cNvPr>
          <p:cNvSpPr>
            <a:spLocks noGrp="1"/>
          </p:cNvSpPr>
          <p:nvPr/>
        </p:nvSpPr>
        <p:spPr>
          <a:xfrm>
            <a:off x="2495550" y="29337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Make the task explicit</a:t>
            </a:r>
          </a:p>
        </p:txBody>
      </p:sp>
      <p:sp>
        <p:nvSpPr>
          <p:cNvPr id="12" name="">
            <a:extLst>
              <a:ext uri="{FF2B5EF4-FFF2-40B4-BE49-F238E27FC236}">
                <a16:creationId id="{96E11037-2701-44A8-A5F7-9C2B70CB633B}"/>
              </a:ext>
            </a:extLst>
          </p:cNvPr>
          <p:cNvSpPr>
            <a:spLocks noGrp="1"/>
          </p:cNvSpPr>
          <p:nvPr/>
        </p:nvSpPr>
        <p:spPr>
          <a:xfrm>
            <a:off x="2495550" y="325755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Design space, conditions, objectives, constraints, simulator, and baseline live in one interface.</a:t>
            </a:r>
          </a:p>
        </p:txBody>
      </p:sp>
      <p:sp>
        <p:nvSpPr>
          <p:cNvPr id="13" name="">
            <a:extLst>
              <a:ext uri="{FF2B5EF4-FFF2-40B4-BE49-F238E27FC236}">
                <a16:creationId id="{9801D23B-AC91-452E-8A38-B2C17554B953}"/>
              </a:ext>
            </a:extLst>
          </p:cNvPr>
          <p:cNvSpPr>
            <a:spLocks noGrp="1"/>
          </p:cNvSpPr>
          <p:nvPr/>
        </p:nvSpPr>
        <p:spPr>
          <a:xfrm>
            <a:off x="1200150" y="3829050"/>
            <a:ext cx="95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a16:creationId id="{70C8653F-EEFF-4F32-BAFB-2AB85CC1E115}"/>
              </a:ext>
            </a:extLst>
          </p:cNvPr>
          <p:cNvSpPr>
            <a:spLocks noGrp="1"/>
          </p:cNvSpPr>
          <p:nvPr/>
        </p:nvSpPr>
        <p:spPr>
          <a:xfrm>
            <a:off x="1200150" y="3943350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F7D6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7D6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>
              <a:ext uri="{FF2B5EF4-FFF2-40B4-BE49-F238E27FC236}">
                <a16:creationId id="{9C6006DB-22DA-40FA-931E-338B2C2EC8FC}"/>
              </a:ext>
            </a:extLst>
          </p:cNvPr>
          <p:cNvSpPr>
            <a:spLocks noGrp="1"/>
          </p:cNvSpPr>
          <p:nvPr/>
        </p:nvSpPr>
        <p:spPr>
          <a:xfrm>
            <a:off x="2495550" y="38481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F7D6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7D62"/>
                </a:solidFill>
                <a:latin typeface="Aptos"/>
                <a:ea typeface="Aptos"/>
                <a:cs typeface="Aptos"/>
              </a:rPr>
              <a:t>Diagnose model behavior</a:t>
            </a:r>
          </a:p>
        </p:txBody>
      </p:sp>
      <p:sp>
        <p:nvSpPr>
          <p:cNvPr id="16" name="">
            <a:extLst>
              <a:ext uri="{FF2B5EF4-FFF2-40B4-BE49-F238E27FC236}">
                <a16:creationId id="{0BA72B3D-2132-418A-9742-B3639507FBFA}"/>
              </a:ext>
            </a:extLst>
          </p:cNvPr>
          <p:cNvSpPr>
            <a:spLocks noGrp="1"/>
          </p:cNvSpPr>
          <p:nvPr/>
        </p:nvSpPr>
        <p:spPr>
          <a:xfrm>
            <a:off x="2495550" y="417195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Evaluation tells you whether a generator is feasible, useful, diverse, and helpful for optimization.</a:t>
            </a:r>
          </a:p>
        </p:txBody>
      </p:sp>
      <p:sp>
        <p:nvSpPr>
          <p:cNvPr id="17" name="">
            <a:extLst>
              <a:ext uri="{FF2B5EF4-FFF2-40B4-BE49-F238E27FC236}">
                <a16:creationId id="{45C3BC84-46A5-452F-A015-2EC54603D3CD}"/>
              </a:ext>
            </a:extLst>
          </p:cNvPr>
          <p:cNvSpPr>
            <a:spLocks noGrp="1"/>
          </p:cNvSpPr>
          <p:nvPr/>
        </p:nvSpPr>
        <p:spPr>
          <a:xfrm>
            <a:off x="1200150" y="4743450"/>
            <a:ext cx="952500" cy="552450"/>
          </a:xfrm>
          <a:prstGeom prst="rect">
            <a:avLst/>
          </a:prstGeom>
          <a:solidFill>
            <a:srgbClr val="D7E8F6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a16:creationId id="{32281DA8-1C75-44E1-9638-C6D0E7BF6916}"/>
              </a:ext>
            </a:extLst>
          </p:cNvPr>
          <p:cNvSpPr>
            <a:spLocks noGrp="1"/>
          </p:cNvSpPr>
          <p:nvPr/>
        </p:nvSpPr>
        <p:spPr>
          <a:xfrm>
            <a:off x="1200150" y="4857750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C47B2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47B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>
              <a:ext uri="{FF2B5EF4-FFF2-40B4-BE49-F238E27FC236}">
                <a16:creationId id="{A04C4357-346D-4DD1-AC46-569C84114741}"/>
              </a:ext>
            </a:extLst>
          </p:cNvPr>
          <p:cNvSpPr>
            <a:spLocks noGrp="1"/>
          </p:cNvSpPr>
          <p:nvPr/>
        </p:nvSpPr>
        <p:spPr>
          <a:xfrm>
            <a:off x="2495550" y="47625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C47B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47B20"/>
                </a:solidFill>
                <a:latin typeface="Aptos"/>
                <a:ea typeface="Aptos"/>
                <a:cs typeface="Aptos"/>
              </a:rPr>
              <a:t>Carry it back to your lab</a:t>
            </a:r>
          </a:p>
        </p:txBody>
      </p:sp>
      <p:sp>
        <p:nvSpPr>
          <p:cNvPr id="20" name="">
            <a:extLst>
              <a:ext uri="{FF2B5EF4-FFF2-40B4-BE49-F238E27FC236}">
                <a16:creationId id="{DA57CEF8-C3A0-410C-8D96-300AF677CC66}"/>
              </a:ext>
            </a:extLst>
          </p:cNvPr>
          <p:cNvSpPr>
            <a:spLocks noGrp="1"/>
          </p:cNvSpPr>
          <p:nvPr/>
        </p:nvSpPr>
        <p:spPr>
          <a:xfrm>
            <a:off x="2495550" y="508635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The same pattern lets you sketch a benchmark for your own engineering domain.</a:t>
            </a:r>
          </a:p>
        </p:txBody>
      </p:sp>
      <p:sp>
        <p:nvSpPr>
          <p:cNvPr id="21" name="">
            <a:extLst>
              <a:ext uri="{FF2B5EF4-FFF2-40B4-BE49-F238E27FC236}">
                <a16:creationId id="{1B0163B2-94C2-48EF-BEC6-5BA8F1ED4765}"/>
              </a:ext>
            </a:extLst>
          </p:cNvPr>
          <p:cNvSpPr>
            <a:spLocks noGrp="1"/>
          </p:cNvSpPr>
          <p:nvPr/>
        </p:nvSpPr>
        <p:spPr>
          <a:xfrm>
            <a:off x="1409700" y="5848350"/>
            <a:ext cx="937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Psychological goal: leave less impressed by isolated demos and more confident asking what exactly was benchmarked.</a:t>
            </a:r>
          </a:p>
        </p:txBody>
      </p:sp>
    </p:spTree>
    <p:extLst>
      <p:ext uri="{BB962C8B-B14F-4D97-AF65-F5344CB8AC3E}">
        <p14:creationId val="2059805282"/>
      </p:ext>
    </p:extLst>
  </p:cSld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CD9AD597-B196-4901-8051-78407A6BE6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AEACC4FC-ABE4-4890-B28A-774788472E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0B6200E7-6A48-4F28-9F92-1CCEE6E801D8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Workshop path</a:t>
            </a:r>
          </a:p>
        </p:txBody>
      </p:sp>
      <p:sp>
        <p:nvSpPr>
          <p:cNvPr id="5" name="">
            <a:extLst>
              <a:ext uri="{FF2B5EF4-FFF2-40B4-BE49-F238E27FC236}">
                <a16:creationId id="{F99AD606-6D60-45B4-94BB-021A5A348D1F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A867E475-FAFA-4E25-B83A-BFD79CD3C60B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What you will do today</a:t>
            </a:r>
          </a:p>
        </p:txBody>
      </p:sp>
      <p:sp>
        <p:nvSpPr>
          <p:cNvPr id="7" name="">
            <a:extLst>
              <a:ext uri="{FF2B5EF4-FFF2-40B4-BE49-F238E27FC236}">
                <a16:creationId id="{5AB1865E-879A-43AC-8CAF-E2476794F27B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You will turn that motivation into four simple notebooks.</a:t>
            </a:r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fc5ed43585664bee"/>
          <a:stretch/>
        </p:blipFill>
        <p:spPr>
          <a:xfrm>
            <a:off x="1381821" y="2076450"/>
            <a:ext cx="9428358" cy="2876550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a16:creationId id="{5570BF29-30DC-44DC-9DE5-EC34CF36A92B}"/>
              </a:ext>
            </a:extLst>
          </p:cNvPr>
          <p:cNvSpPr>
            <a:spLocks noGrp="1"/>
          </p:cNvSpPr>
          <p:nvPr/>
        </p:nvSpPr>
        <p:spPr>
          <a:xfrm>
            <a:off x="2571750" y="5619750"/>
            <a:ext cx="7048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The simple notebook track is the main participant path.</a:t>
            </a:r>
          </a:p>
        </p:txBody>
      </p:sp>
    </p:spTree>
    <p:extLst>
      <p:ext uri="{BB962C8B-B14F-4D97-AF65-F5344CB8AC3E}">
        <p14:creationId val="1964505091"/>
      </p:ext>
    </p:extLst>
  </p:cSld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AFEB68FE-8001-496C-9145-3D186F9FA7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66D808CB-A0C2-4545-82F7-D789F5D667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0B6E4BE6-F16F-4000-9E8C-11B7CB0ABA46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Why benchmark?</a:t>
            </a:r>
          </a:p>
        </p:txBody>
      </p:sp>
      <p:sp>
        <p:nvSpPr>
          <p:cNvPr id="5" name="">
            <a:extLst>
              <a:ext uri="{FF2B5EF4-FFF2-40B4-BE49-F238E27FC236}">
                <a16:creationId id="{750A74E9-570C-4E64-9419-C601EC5B3072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1BAF9FA8-800C-4F34-BAE5-BB47277621DC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Why benchmark before modeling?</a:t>
            </a:r>
          </a:p>
        </p:txBody>
      </p:sp>
      <p:sp>
        <p:nvSpPr>
          <p:cNvPr id="7" name="">
            <a:extLst>
              <a:ext uri="{FF2B5EF4-FFF2-40B4-BE49-F238E27FC236}">
                <a16:creationId id="{6946F941-C032-452F-B00D-9BB92D3144FB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Before asking which AI method wins, make sure everyone is solving the same design problem.</a:t>
            </a:r>
          </a:p>
        </p:txBody>
      </p:sp>
      <p:sp>
        <p:nvSpPr>
          <p:cNvPr id="8" name="">
            <a:extLst>
              <a:ext uri="{FF2B5EF4-FFF2-40B4-BE49-F238E27FC236}">
                <a16:creationId id="{3902180F-85EC-4FF1-A6F7-53DABE116839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14325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pic>
        <p:nvPicPr>
          <p:cNvPr id="9" name=""/>
          <p:cNvPicPr>
            <a:picLocks noChangeAspect="1"/>
          </p:cNvPicPr>
          <p:nvPr/>
        </p:nvPicPr>
        <p:blipFill>
          <a:blip r:embed="R017b10d537ff4004"/>
          <a:stretch/>
        </p:blipFill>
        <p:spPr>
          <a:xfrm>
            <a:off x="1520825" y="2305050"/>
            <a:ext cx="1473200" cy="1104900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a16:creationId id="{D1E705BF-AD85-4B05-B52B-346886D3E441}"/>
              </a:ext>
            </a:extLst>
          </p:cNvPr>
          <p:cNvSpPr>
            <a:spLocks noGrp="1"/>
          </p:cNvSpPr>
          <p:nvPr/>
        </p:nvSpPr>
        <p:spPr>
          <a:xfrm>
            <a:off x="933450" y="3600450"/>
            <a:ext cx="2647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Same-looking tasks</a:t>
            </a:r>
          </a:p>
        </p:txBody>
      </p:sp>
      <p:sp>
        <p:nvSpPr>
          <p:cNvPr id="11" name="">
            <a:extLst>
              <a:ext uri="{FF2B5EF4-FFF2-40B4-BE49-F238E27FC236}">
                <a16:creationId id="{F621E2CF-5AA6-4C95-9EC4-3579D3DB7E2D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2647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Different papers may change conditions, simulators, or constraints without making the change visible.</a:t>
            </a:r>
          </a:p>
        </p:txBody>
      </p:sp>
      <p:sp>
        <p:nvSpPr>
          <p:cNvPr id="12" name="">
            <a:extLst>
              <a:ext uri="{FF2B5EF4-FFF2-40B4-BE49-F238E27FC236}">
                <a16:creationId id="{693A4023-467B-4240-8279-5F17D9A77AD9}"/>
              </a:ext>
            </a:extLst>
          </p:cNvPr>
          <p:cNvSpPr>
            <a:spLocks noGrp="1"/>
          </p:cNvSpPr>
          <p:nvPr/>
        </p:nvSpPr>
        <p:spPr>
          <a:xfrm>
            <a:off x="4438650" y="2095500"/>
            <a:ext cx="314325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pic>
        <p:nvPicPr>
          <p:cNvPr id="13" name=""/>
          <p:cNvPicPr>
            <a:picLocks noChangeAspect="1"/>
          </p:cNvPicPr>
          <p:nvPr/>
        </p:nvPicPr>
        <p:blipFill>
          <a:blip r:embed="R3b483d47bc4147cf"/>
          <a:stretch/>
        </p:blipFill>
        <p:spPr>
          <a:xfrm>
            <a:off x="4905375" y="2305050"/>
            <a:ext cx="2209800" cy="1104900"/>
          </a:xfrm>
          <a:prstGeom prst="rect">
            <a:avLst/>
          </a:prstGeom>
        </p:spPr>
      </p:pic>
      <p:sp>
        <p:nvSpPr>
          <p:cNvPr id="14" name="">
            <a:extLst>
              <a:ext uri="{FF2B5EF4-FFF2-40B4-BE49-F238E27FC236}">
                <a16:creationId id="{F8E838C9-307D-4B9F-8AB7-A69A81612CC1}"/>
              </a:ext>
            </a:extLst>
          </p:cNvPr>
          <p:cNvSpPr>
            <a:spLocks noGrp="1"/>
          </p:cNvSpPr>
          <p:nvPr/>
        </p:nvSpPr>
        <p:spPr>
          <a:xfrm>
            <a:off x="4686300" y="3600450"/>
            <a:ext cx="2647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848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84837"/>
                </a:solidFill>
                <a:latin typeface="Aptos"/>
                <a:ea typeface="Aptos"/>
                <a:cs typeface="Aptos"/>
              </a:rPr>
              <a:t>Same-looking designs</a:t>
            </a:r>
          </a:p>
        </p:txBody>
      </p:sp>
      <p:sp>
        <p:nvSpPr>
          <p:cNvPr id="15" name="">
            <a:extLst>
              <a:ext uri="{FF2B5EF4-FFF2-40B4-BE49-F238E27FC236}">
                <a16:creationId id="{AE7B452F-A4D9-44B1-94EA-DDC1E65FCFAD}"/>
              </a:ext>
            </a:extLst>
          </p:cNvPr>
          <p:cNvSpPr>
            <a:spLocks noGrp="1"/>
          </p:cNvSpPr>
          <p:nvPr/>
        </p:nvSpPr>
        <p:spPr>
          <a:xfrm>
            <a:off x="4686300" y="3981450"/>
            <a:ext cx="2647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A generated design can look reasonable while breaking engineering rules.</a:t>
            </a:r>
          </a:p>
        </p:txBody>
      </p:sp>
      <p:sp>
        <p:nvSpPr>
          <p:cNvPr id="16" name="">
            <a:extLst>
              <a:ext uri="{FF2B5EF4-FFF2-40B4-BE49-F238E27FC236}">
                <a16:creationId id="{D7454765-0E3C-4AD3-847E-45F895257531}"/>
              </a:ext>
            </a:extLst>
          </p:cNvPr>
          <p:cNvSpPr>
            <a:spLocks noGrp="1"/>
          </p:cNvSpPr>
          <p:nvPr/>
        </p:nvSpPr>
        <p:spPr>
          <a:xfrm>
            <a:off x="8191500" y="2095500"/>
            <a:ext cx="314325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pic>
        <p:nvPicPr>
          <p:cNvPr id="17" name=""/>
          <p:cNvPicPr>
            <a:picLocks noChangeAspect="1"/>
          </p:cNvPicPr>
          <p:nvPr/>
        </p:nvPicPr>
        <p:blipFill>
          <a:blip r:embed="R9b9c54f793cb4daa"/>
          <a:stretch/>
        </p:blipFill>
        <p:spPr>
          <a:xfrm>
            <a:off x="9187876" y="2305050"/>
            <a:ext cx="1150497" cy="1104900"/>
          </a:xfrm>
          <a:prstGeom prst="rect">
            <a:avLst/>
          </a:prstGeom>
        </p:spPr>
      </p:pic>
      <p:sp>
        <p:nvSpPr>
          <p:cNvPr id="18" name="">
            <a:extLst>
              <a:ext uri="{FF2B5EF4-FFF2-40B4-BE49-F238E27FC236}">
                <a16:creationId id="{FEE000AD-6D6C-45F0-A583-DD2711CA9A89}"/>
              </a:ext>
            </a:extLst>
          </p:cNvPr>
          <p:cNvSpPr>
            <a:spLocks noGrp="1"/>
          </p:cNvSpPr>
          <p:nvPr/>
        </p:nvSpPr>
        <p:spPr>
          <a:xfrm>
            <a:off x="8439150" y="3600450"/>
            <a:ext cx="2647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47B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47B20"/>
                </a:solidFill>
                <a:latin typeface="Aptos"/>
                <a:ea typeface="Aptos"/>
                <a:cs typeface="Aptos"/>
              </a:rPr>
              <a:t>Same-looking scores</a:t>
            </a:r>
          </a:p>
        </p:txBody>
      </p:sp>
      <p:sp>
        <p:nvSpPr>
          <p:cNvPr id="19" name="">
            <a:extLst>
              <a:ext uri="{FF2B5EF4-FFF2-40B4-BE49-F238E27FC236}">
                <a16:creationId id="{F4D91B21-57F0-4394-A3CE-3E252FC853D6}"/>
              </a:ext>
            </a:extLst>
          </p:cNvPr>
          <p:cNvSpPr>
            <a:spLocks noGrp="1"/>
          </p:cNvSpPr>
          <p:nvPr/>
        </p:nvSpPr>
        <p:spPr>
          <a:xfrm>
            <a:off x="8439150" y="3981450"/>
            <a:ext cx="2647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A single objective value can hide feasibility, diversity, and usefulness for optimization.</a:t>
            </a:r>
          </a:p>
        </p:txBody>
      </p:sp>
      <p:sp>
        <p:nvSpPr>
          <p:cNvPr id="20" name="">
            <a:extLst>
              <a:ext uri="{FF2B5EF4-FFF2-40B4-BE49-F238E27FC236}">
                <a16:creationId id="{8F1449B2-31A5-4818-8F70-826837941C2D}"/>
              </a:ext>
            </a:extLst>
          </p:cNvPr>
          <p:cNvSpPr>
            <a:spLocks noGrp="1"/>
          </p:cNvSpPr>
          <p:nvPr/>
        </p:nvSpPr>
        <p:spPr>
          <a:xfrm>
            <a:off x="2571750" y="5429250"/>
            <a:ext cx="704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Today, you will make those hidden choices explicit.</a:t>
            </a:r>
          </a:p>
        </p:txBody>
      </p:sp>
    </p:spTree>
    <p:extLst>
      <p:ext uri="{BB962C8B-B14F-4D97-AF65-F5344CB8AC3E}">
        <p14:creationId val="689950541"/>
      </p:ext>
    </p:extLst>
  </p:cSld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AADC6FD6-8B15-4A66-ABE1-D6F7CD8C66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2FB98907-F68F-4B07-A109-87CEE7454D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4BC03D23-28F0-4E51-AA8D-94CF5D945E12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Benchmark mental model</a:t>
            </a:r>
          </a:p>
        </p:txBody>
      </p:sp>
      <p:sp>
        <p:nvSpPr>
          <p:cNvPr id="5" name="">
            <a:extLst>
              <a:ext uri="{FF2B5EF4-FFF2-40B4-BE49-F238E27FC236}">
                <a16:creationId id="{C760FD7C-0D17-4828-B161-302EAE4A6CE6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E32ECF21-A751-4933-B453-E9103804C455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Benchmark mental model</a:t>
            </a:r>
          </a:p>
        </p:txBody>
      </p:sp>
      <p:sp>
        <p:nvSpPr>
          <p:cNvPr id="7" name="">
            <a:extLst>
              <a:ext uri="{FF2B5EF4-FFF2-40B4-BE49-F238E27FC236}">
                <a16:creationId id="{87AC24E9-8C8A-413F-8670-816272B40AD0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 benchmark records the design task, not only the dataset.</a:t>
            </a:r>
          </a:p>
        </p:txBody>
      </p:sp>
      <p:sp>
        <p:nvSpPr>
          <p:cNvPr id="8" name="">
            <a:extLst>
              <a:ext uri="{FF2B5EF4-FFF2-40B4-BE49-F238E27FC236}">
                <a16:creationId id="{2046EAD4-A9AE-47F3-B284-F4AE7B2FF22A}"/>
              </a:ext>
            </a:extLst>
          </p:cNvPr>
          <p:cNvSpPr>
            <a:spLocks noGrp="1"/>
          </p:cNvSpPr>
          <p:nvPr/>
        </p:nvSpPr>
        <p:spPr>
          <a:xfrm>
            <a:off x="1123950" y="2247900"/>
            <a:ext cx="2000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a16:creationId id="{58AF0B2F-FED9-427F-B7B8-6B9821AE6EE1}"/>
              </a:ext>
            </a:extLst>
          </p:cNvPr>
          <p:cNvSpPr>
            <a:spLocks noGrp="1"/>
          </p:cNvSpPr>
          <p:nvPr/>
        </p:nvSpPr>
        <p:spPr>
          <a:xfrm>
            <a:off x="1238250" y="2352675"/>
            <a:ext cx="1771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design space</a:t>
            </a:r>
          </a:p>
        </p:txBody>
      </p:sp>
      <p:sp>
        <p:nvSpPr>
          <p:cNvPr id="10" name="">
            <a:extLst>
              <a:ext uri="{FF2B5EF4-FFF2-40B4-BE49-F238E27FC236}">
                <a16:creationId id="{CFCBF796-F918-4DD5-A6D0-A8ACA6E4988E}"/>
              </a:ext>
            </a:extLst>
          </p:cNvPr>
          <p:cNvSpPr>
            <a:spLocks noGrp="1"/>
          </p:cNvSpPr>
          <p:nvPr/>
        </p:nvSpPr>
        <p:spPr>
          <a:xfrm>
            <a:off x="3600450" y="2247900"/>
            <a:ext cx="2000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a16:creationId id="{8488D77D-A002-48A1-9CEA-D8795170B187}"/>
              </a:ext>
            </a:extLst>
          </p:cNvPr>
          <p:cNvSpPr>
            <a:spLocks noGrp="1"/>
          </p:cNvSpPr>
          <p:nvPr/>
        </p:nvSpPr>
        <p:spPr>
          <a:xfrm>
            <a:off x="3714750" y="2352675"/>
            <a:ext cx="1771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conditions</a:t>
            </a:r>
          </a:p>
        </p:txBody>
      </p:sp>
      <p:sp>
        <p:nvSpPr>
          <p:cNvPr id="12" name="">
            <a:extLst>
              <a:ext uri="{FF2B5EF4-FFF2-40B4-BE49-F238E27FC236}">
                <a16:creationId id="{2407BAFC-E2D3-49D2-A235-4072E5722215}"/>
              </a:ext>
            </a:extLst>
          </p:cNvPr>
          <p:cNvSpPr>
            <a:spLocks noGrp="1"/>
          </p:cNvSpPr>
          <p:nvPr/>
        </p:nvSpPr>
        <p:spPr>
          <a:xfrm>
            <a:off x="6076950" y="2247900"/>
            <a:ext cx="2000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a16:creationId id="{7740CC5D-C3FA-4A61-AD05-F6190B7941D6}"/>
              </a:ext>
            </a:extLst>
          </p:cNvPr>
          <p:cNvSpPr>
            <a:spLocks noGrp="1"/>
          </p:cNvSpPr>
          <p:nvPr/>
        </p:nvSpPr>
        <p:spPr>
          <a:xfrm>
            <a:off x="6191250" y="2352675"/>
            <a:ext cx="1771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14" name="">
            <a:extLst>
              <a:ext uri="{FF2B5EF4-FFF2-40B4-BE49-F238E27FC236}">
                <a16:creationId id="{2F269C8E-D42A-4A97-BA2B-5C8C1D9864A6}"/>
              </a:ext>
            </a:extLst>
          </p:cNvPr>
          <p:cNvSpPr>
            <a:spLocks noGrp="1"/>
          </p:cNvSpPr>
          <p:nvPr/>
        </p:nvSpPr>
        <p:spPr>
          <a:xfrm>
            <a:off x="8553450" y="2247900"/>
            <a:ext cx="2000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a16:creationId id="{AB7FED39-8F6C-4412-87CA-3D0B0E27FC5F}"/>
              </a:ext>
            </a:extLst>
          </p:cNvPr>
          <p:cNvSpPr>
            <a:spLocks noGrp="1"/>
          </p:cNvSpPr>
          <p:nvPr/>
        </p:nvSpPr>
        <p:spPr>
          <a:xfrm>
            <a:off x="8667750" y="2352675"/>
            <a:ext cx="1771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16" name="">
            <a:extLst>
              <a:ext uri="{FF2B5EF4-FFF2-40B4-BE49-F238E27FC236}">
                <a16:creationId id="{AC019176-CA87-488D-A9B8-C21E84F550FA}"/>
              </a:ext>
            </a:extLst>
          </p:cNvPr>
          <p:cNvSpPr>
            <a:spLocks noGrp="1"/>
          </p:cNvSpPr>
          <p:nvPr/>
        </p:nvSpPr>
        <p:spPr>
          <a:xfrm>
            <a:off x="1123950" y="3276600"/>
            <a:ext cx="2000250" cy="400050"/>
          </a:xfrm>
          <a:prstGeom prst="rect">
            <a:avLst/>
          </a:prstGeom>
          <a:solidFill>
            <a:srgbClr val="D7E8F6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a16:creationId id="{792743DF-C61E-4D61-B9E5-1E6A0732079B}"/>
              </a:ext>
            </a:extLst>
          </p:cNvPr>
          <p:cNvSpPr>
            <a:spLocks noGrp="1"/>
          </p:cNvSpPr>
          <p:nvPr/>
        </p:nvSpPr>
        <p:spPr>
          <a:xfrm>
            <a:off x="1238250" y="3381375"/>
            <a:ext cx="1771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18" name="">
            <a:extLst>
              <a:ext uri="{FF2B5EF4-FFF2-40B4-BE49-F238E27FC236}">
                <a16:creationId id="{3B8CFAC7-956A-4EE4-9BB3-0C05D53385EC}"/>
              </a:ext>
            </a:extLst>
          </p:cNvPr>
          <p:cNvSpPr>
            <a:spLocks noGrp="1"/>
          </p:cNvSpPr>
          <p:nvPr/>
        </p:nvSpPr>
        <p:spPr>
          <a:xfrm>
            <a:off x="3600450" y="3276600"/>
            <a:ext cx="2000250" cy="400050"/>
          </a:xfrm>
          <a:prstGeom prst="rect">
            <a:avLst/>
          </a:prstGeom>
          <a:solidFill>
            <a:srgbClr val="D7E8F6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a16:creationId id="{3EDF5190-90C4-475A-AC19-38B39FDDCB88}"/>
              </a:ext>
            </a:extLst>
          </p:cNvPr>
          <p:cNvSpPr>
            <a:spLocks noGrp="1"/>
          </p:cNvSpPr>
          <p:nvPr/>
        </p:nvSpPr>
        <p:spPr>
          <a:xfrm>
            <a:off x="3714750" y="3381375"/>
            <a:ext cx="1771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  <p:sp>
        <p:nvSpPr>
          <p:cNvPr id="20" name="">
            <a:extLst>
              <a:ext uri="{FF2B5EF4-FFF2-40B4-BE49-F238E27FC236}">
                <a16:creationId id="{2BD9C6C3-B672-4848-B2DB-9283B573FB2E}"/>
              </a:ext>
            </a:extLst>
          </p:cNvPr>
          <p:cNvSpPr>
            <a:spLocks noGrp="1"/>
          </p:cNvSpPr>
          <p:nvPr/>
        </p:nvSpPr>
        <p:spPr>
          <a:xfrm>
            <a:off x="6076950" y="3276600"/>
            <a:ext cx="2000250" cy="400050"/>
          </a:xfrm>
          <a:prstGeom prst="rect">
            <a:avLst/>
          </a:prstGeom>
          <a:solidFill>
            <a:srgbClr val="D7E8F6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a16:creationId id="{8ACF03E5-98B0-4894-9A9B-DA2A1306AD93}"/>
              </a:ext>
            </a:extLst>
          </p:cNvPr>
          <p:cNvSpPr>
            <a:spLocks noGrp="1"/>
          </p:cNvSpPr>
          <p:nvPr/>
        </p:nvSpPr>
        <p:spPr>
          <a:xfrm>
            <a:off x="6191250" y="3381375"/>
            <a:ext cx="1771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simulate</a:t>
            </a:r>
          </a:p>
        </p:txBody>
      </p:sp>
      <p:sp>
        <p:nvSpPr>
          <p:cNvPr id="22" name="">
            <a:extLst>
              <a:ext uri="{FF2B5EF4-FFF2-40B4-BE49-F238E27FC236}">
                <a16:creationId id="{0BF5D6BE-A867-47CB-BB69-8E140E613456}"/>
              </a:ext>
            </a:extLst>
          </p:cNvPr>
          <p:cNvSpPr>
            <a:spLocks noGrp="1"/>
          </p:cNvSpPr>
          <p:nvPr/>
        </p:nvSpPr>
        <p:spPr>
          <a:xfrm>
            <a:off x="8553450" y="3276600"/>
            <a:ext cx="2000250" cy="400050"/>
          </a:xfrm>
          <a:prstGeom prst="rect">
            <a:avLst/>
          </a:prstGeom>
          <a:solidFill>
            <a:srgbClr val="D7E8F6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a16:creationId id="{D6CE502F-FF85-4513-B6F4-1D82B07CE7AA}"/>
              </a:ext>
            </a:extLst>
          </p:cNvPr>
          <p:cNvSpPr>
            <a:spLocks noGrp="1"/>
          </p:cNvSpPr>
          <p:nvPr/>
        </p:nvSpPr>
        <p:spPr>
          <a:xfrm>
            <a:off x="8667750" y="3381375"/>
            <a:ext cx="1771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optimize</a:t>
            </a:r>
          </a:p>
        </p:txBody>
      </p:sp>
      <p:sp>
        <p:nvSpPr>
          <p:cNvPr id="24" name="">
            <a:extLst>
              <a:ext uri="{FF2B5EF4-FFF2-40B4-BE49-F238E27FC236}">
                <a16:creationId id="{F93F87D4-E7BF-4BD5-9B87-EB6B7B1B9465}"/>
              </a:ext>
            </a:extLst>
          </p:cNvPr>
          <p:cNvSpPr>
            <a:spLocks noGrp="1"/>
          </p:cNvSpPr>
          <p:nvPr/>
        </p:nvSpPr>
        <p:spPr>
          <a:xfrm>
            <a:off x="2190750" y="4953000"/>
            <a:ext cx="781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If one of these pieces changes, the benchmark result may change too.</a:t>
            </a:r>
          </a:p>
        </p:txBody>
      </p:sp>
    </p:spTree>
    <p:extLst>
      <p:ext uri="{BB962C8B-B14F-4D97-AF65-F5344CB8AC3E}">
        <p14:creationId val="456431502"/>
      </p:ext>
    </p:extLst>
  </p:cSld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AB6A1192-5091-4220-BD94-929FEF4928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58ADCD5B-E9B6-403D-9EAF-552E12B440DF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FE3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E3F3"/>
                </a:solidFill>
                <a:latin typeface="Aptos"/>
                <a:ea typeface="Aptos"/>
                <a:cs typeface="Aptos"/>
              </a:rPr>
              <a:t>Notebook 00</a:t>
            </a:r>
          </a:p>
        </p:txBody>
      </p:sp>
      <p:sp>
        <p:nvSpPr>
          <p:cNvPr id="4" name="">
            <a:extLst>
              <a:ext uri="{FF2B5EF4-FFF2-40B4-BE49-F238E27FC236}">
                <a16:creationId id="{58305ACD-C39F-4EEF-ADE1-7E9571B79920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FE3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E3F3"/>
                </a:solidFill>
                <a:latin typeface="Aptos"/>
                <a:ea typeface="Aptos"/>
                <a:cs typeface="Aptos"/>
              </a:rPr>
              <a:t>00_framing_your_design_problem.ipynb</a:t>
            </a:r>
          </a:p>
        </p:txBody>
      </p:sp>
      <p:sp>
        <p:nvSpPr>
          <p:cNvPr id="5" name="">
            <a:extLst>
              <a:ext uri="{FF2B5EF4-FFF2-40B4-BE49-F238E27FC236}">
                <a16:creationId id="{D63B3CEF-2A63-462E-90BA-99A0A0D2F177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239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Frame your design problem before touching a model.</a:t>
            </a:r>
          </a:p>
        </p:txBody>
      </p:sp>
      <p:sp>
        <p:nvSpPr>
          <p:cNvPr id="6" name="">
            <a:extLst>
              <a:ext uri="{FF2B5EF4-FFF2-40B4-BE49-F238E27FC236}">
                <a16:creationId id="{0E4D354E-EC81-4F93-9503-8E5CB887BA01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690562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You will identify what is designed, what conditions change, what counts as better, and what makes a candidate invalid.</a:t>
            </a:r>
          </a:p>
        </p:txBody>
      </p:sp>
      <p:sp>
        <p:nvSpPr>
          <p:cNvPr id="7" name="">
            <a:extLst>
              <a:ext uri="{FF2B5EF4-FFF2-40B4-BE49-F238E27FC236}">
                <a16:creationId id="{BD393AA9-88FD-4A10-88D2-F51253D34CCB}"/>
              </a:ext>
            </a:extLst>
          </p:cNvPr>
          <p:cNvSpPr>
            <a:spLocks noGrp="1"/>
          </p:cNvSpPr>
          <p:nvPr/>
        </p:nvSpPr>
        <p:spPr>
          <a:xfrm>
            <a:off x="8191500" y="990600"/>
            <a:ext cx="3124200" cy="4438650"/>
          </a:xfrm>
          <a:prstGeom prst="rect">
            <a:avLst/>
          </a:prstGeom>
          <a:solidFill>
            <a:srgbClr val="FFFFFF">
              <a:alpha val="8235"/>
            </a:srgbClr>
          </a:solidFill>
          <a:ln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a16:creationId id="{1C5F7572-4355-4C1D-98C7-D6611B194450}"/>
              </a:ext>
            </a:extLst>
          </p:cNvPr>
          <p:cNvSpPr>
            <a:spLocks noGrp="1"/>
          </p:cNvSpPr>
          <p:nvPr/>
        </p:nvSpPr>
        <p:spPr>
          <a:xfrm>
            <a:off x="8515350" y="13335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You should leave with</a:t>
            </a:r>
          </a:p>
        </p:txBody>
      </p:sp>
      <p:sp>
        <p:nvSpPr>
          <p:cNvPr id="9" name="">
            <a:extLst>
              <a:ext uri="{FF2B5EF4-FFF2-40B4-BE49-F238E27FC236}">
                <a16:creationId id="{B1E18166-CC6B-4333-8CD1-0FECE382C402}"/>
              </a:ext>
            </a:extLst>
          </p:cNvPr>
          <p:cNvSpPr>
            <a:spLocks noGrp="1"/>
          </p:cNvSpPr>
          <p:nvPr/>
        </p:nvSpPr>
        <p:spPr>
          <a:xfrm>
            <a:off x="8534400" y="18478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a16:creationId id="{6C44971E-0C0B-40C7-829D-66C082704224}"/>
              </a:ext>
            </a:extLst>
          </p:cNvPr>
          <p:cNvSpPr>
            <a:spLocks noGrp="1"/>
          </p:cNvSpPr>
          <p:nvPr/>
        </p:nvSpPr>
        <p:spPr>
          <a:xfrm>
            <a:off x="8782050" y="1752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problem object</a:t>
            </a:r>
          </a:p>
        </p:txBody>
      </p:sp>
      <p:sp>
        <p:nvSpPr>
          <p:cNvPr id="11" name="">
            <a:extLst>
              <a:ext uri="{FF2B5EF4-FFF2-40B4-BE49-F238E27FC236}">
                <a16:creationId id="{58B3A130-57D7-49AF-A2CA-823A29042A59}"/>
              </a:ext>
            </a:extLst>
          </p:cNvPr>
          <p:cNvSpPr>
            <a:spLocks noGrp="1"/>
          </p:cNvSpPr>
          <p:nvPr/>
        </p:nvSpPr>
        <p:spPr>
          <a:xfrm>
            <a:off x="8534400" y="23050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a16:creationId id="{263733C4-86E1-41E9-85F6-319AAC141C65}"/>
              </a:ext>
            </a:extLst>
          </p:cNvPr>
          <p:cNvSpPr>
            <a:spLocks noGrp="1"/>
          </p:cNvSpPr>
          <p:nvPr/>
        </p:nvSpPr>
        <p:spPr>
          <a:xfrm>
            <a:off x="8782050" y="22098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dataset sample</a:t>
            </a:r>
          </a:p>
        </p:txBody>
      </p:sp>
      <p:sp>
        <p:nvSpPr>
          <p:cNvPr id="13" name="">
            <a:extLst>
              <a:ext uri="{FF2B5EF4-FFF2-40B4-BE49-F238E27FC236}">
                <a16:creationId id="{6770AEDE-AA7D-44DE-B232-39AFC450326C}"/>
              </a:ext>
            </a:extLst>
          </p:cNvPr>
          <p:cNvSpPr>
            <a:spLocks noGrp="1"/>
          </p:cNvSpPr>
          <p:nvPr/>
        </p:nvSpPr>
        <p:spPr>
          <a:xfrm>
            <a:off x="8534400" y="27622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a16:creationId id="{3614407E-6CDA-4CC5-8C30-3B668EFEED60}"/>
              </a:ext>
            </a:extLst>
          </p:cNvPr>
          <p:cNvSpPr>
            <a:spLocks noGrp="1"/>
          </p:cNvSpPr>
          <p:nvPr/>
        </p:nvSpPr>
        <p:spPr>
          <a:xfrm>
            <a:off x="8782050" y="26670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rendered design</a:t>
            </a:r>
          </a:p>
        </p:txBody>
      </p:sp>
      <p:sp>
        <p:nvSpPr>
          <p:cNvPr id="15" name="">
            <a:extLst>
              <a:ext uri="{FF2B5EF4-FFF2-40B4-BE49-F238E27FC236}">
                <a16:creationId id="{6303B464-CE45-46E5-8B14-ACB31722FB8F}"/>
              </a:ext>
            </a:extLst>
          </p:cNvPr>
          <p:cNvSpPr>
            <a:spLocks noGrp="1"/>
          </p:cNvSpPr>
          <p:nvPr/>
        </p:nvSpPr>
        <p:spPr>
          <a:xfrm>
            <a:off x="8534400" y="32194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a16:creationId id="{DC09E360-C2A9-4C1A-912A-A3994BD784E1}"/>
              </a:ext>
            </a:extLst>
          </p:cNvPr>
          <p:cNvSpPr>
            <a:spLocks noGrp="1"/>
          </p:cNvSpPr>
          <p:nvPr/>
        </p:nvSpPr>
        <p:spPr>
          <a:xfrm>
            <a:off x="8782050" y="31242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constraint check</a:t>
            </a:r>
          </a:p>
        </p:txBody>
      </p:sp>
    </p:spTree>
    <p:extLst>
      <p:ext uri="{BB962C8B-B14F-4D97-AF65-F5344CB8AC3E}">
        <p14:creationId val="949820180"/>
      </p:ext>
    </p:extLst>
  </p:cSld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CA336201-A78A-43AA-BA4F-473E41F273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A7E1F42B-C256-4D56-9855-C27E786B33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E356BDF4-1812-4FD6-BD97-8D288D5C029F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Notebook 00</a:t>
            </a:r>
          </a:p>
        </p:txBody>
      </p:sp>
      <p:sp>
        <p:nvSpPr>
          <p:cNvPr id="5" name="">
            <a:extLst>
              <a:ext uri="{FF2B5EF4-FFF2-40B4-BE49-F238E27FC236}">
                <a16:creationId id="{A0A109A4-1A6A-4D7F-89BC-DF7A0DF6FE93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BFA72FDC-9FAF-4D1A-9C76-E01D5C76D4BB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Notebook 00 anchor</a:t>
            </a:r>
          </a:p>
        </p:txBody>
      </p:sp>
      <p:sp>
        <p:nvSpPr>
          <p:cNvPr id="7" name="">
            <a:extLst>
              <a:ext uri="{FF2B5EF4-FFF2-40B4-BE49-F238E27FC236}">
                <a16:creationId id="{F9FD8C29-9EDC-48F0-AA9F-FEE7463D29F6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first concrete task is Beams2D: place material so a loaded beam is stiff.</a:t>
            </a:r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87e6972518054f50"/>
          <a:stretch/>
        </p:blipFill>
        <p:spPr>
          <a:xfrm>
            <a:off x="704850" y="2247900"/>
            <a:ext cx="5334000" cy="2667000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a16:creationId id="{ED84FB75-162A-4357-948F-7218A0328D69}"/>
              </a:ext>
            </a:extLst>
          </p:cNvPr>
          <p:cNvSpPr>
            <a:spLocks noGrp="1"/>
          </p:cNvSpPr>
          <p:nvPr/>
        </p:nvSpPr>
        <p:spPr>
          <a:xfrm>
            <a:off x="6858000" y="2095500"/>
            <a:ext cx="3714750" cy="60960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a16:creationId id="{AFD51E75-D41A-4350-BBFF-5647DCE4096D}"/>
              </a:ext>
            </a:extLst>
          </p:cNvPr>
          <p:cNvSpPr>
            <a:spLocks noGrp="1"/>
          </p:cNvSpPr>
          <p:nvPr/>
        </p:nvSpPr>
        <p:spPr>
          <a:xfrm>
            <a:off x="7048500" y="2266950"/>
            <a:ext cx="3333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11" name="">
            <a:extLst>
              <a:ext uri="{FF2B5EF4-FFF2-40B4-BE49-F238E27FC236}">
                <a16:creationId id="{9E359388-A19A-4D12-87D0-539F5BF82797}"/>
              </a:ext>
            </a:extLst>
          </p:cNvPr>
          <p:cNvSpPr>
            <a:spLocks noGrp="1"/>
          </p:cNvSpPr>
          <p:nvPr/>
        </p:nvSpPr>
        <p:spPr>
          <a:xfrm>
            <a:off x="7048500" y="2628900"/>
            <a:ext cx="3333750" cy="-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a material density field</a:t>
            </a:r>
          </a:p>
        </p:txBody>
      </p:sp>
      <p:sp>
        <p:nvSpPr>
          <p:cNvPr id="12" name="">
            <a:extLst>
              <a:ext uri="{FF2B5EF4-FFF2-40B4-BE49-F238E27FC236}">
                <a16:creationId id="{DEE55835-66A5-4B0E-904A-EDD65FAEBA54}"/>
              </a:ext>
            </a:extLst>
          </p:cNvPr>
          <p:cNvSpPr>
            <a:spLocks noGrp="1"/>
          </p:cNvSpPr>
          <p:nvPr/>
        </p:nvSpPr>
        <p:spPr>
          <a:xfrm>
            <a:off x="6858000" y="2876550"/>
            <a:ext cx="3714750" cy="60960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a16:creationId id="{A7AAAFEC-EC0B-4047-8EB4-857F6788705E}"/>
              </a:ext>
            </a:extLst>
          </p:cNvPr>
          <p:cNvSpPr>
            <a:spLocks noGrp="1"/>
          </p:cNvSpPr>
          <p:nvPr/>
        </p:nvSpPr>
        <p:spPr>
          <a:xfrm>
            <a:off x="7048500" y="3048000"/>
            <a:ext cx="3333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Conditions</a:t>
            </a:r>
          </a:p>
        </p:txBody>
      </p:sp>
      <p:sp>
        <p:nvSpPr>
          <p:cNvPr id="14" name="">
            <a:extLst>
              <a:ext uri="{FF2B5EF4-FFF2-40B4-BE49-F238E27FC236}">
                <a16:creationId id="{2922D067-D250-4BCE-857A-DB19D8D600A8}"/>
              </a:ext>
            </a:extLst>
          </p:cNvPr>
          <p:cNvSpPr>
            <a:spLocks noGrp="1"/>
          </p:cNvSpPr>
          <p:nvPr/>
        </p:nvSpPr>
        <p:spPr>
          <a:xfrm>
            <a:off x="7048500" y="3409950"/>
            <a:ext cx="3333750" cy="-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volume fraction, load position, filter radius</a:t>
            </a:r>
          </a:p>
        </p:txBody>
      </p:sp>
      <p:sp>
        <p:nvSpPr>
          <p:cNvPr id="15" name="">
            <a:extLst>
              <a:ext uri="{FF2B5EF4-FFF2-40B4-BE49-F238E27FC236}">
                <a16:creationId id="{A39AC225-887A-4B8B-9CDF-CFD404B677E4}"/>
              </a:ext>
            </a:extLst>
          </p:cNvPr>
          <p:cNvSpPr>
            <a:spLocks noGrp="1"/>
          </p:cNvSpPr>
          <p:nvPr/>
        </p:nvSpPr>
        <p:spPr>
          <a:xfrm>
            <a:off x="6858000" y="3657600"/>
            <a:ext cx="3714750" cy="60960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a16:creationId id="{B3404493-E1A0-49B7-975A-A633AB3853A4}"/>
              </a:ext>
            </a:extLst>
          </p:cNvPr>
          <p:cNvSpPr>
            <a:spLocks noGrp="1"/>
          </p:cNvSpPr>
          <p:nvPr/>
        </p:nvSpPr>
        <p:spPr>
          <a:xfrm>
            <a:off x="7048500" y="3829050"/>
            <a:ext cx="3333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17" name="">
            <a:extLst>
              <a:ext uri="{FF2B5EF4-FFF2-40B4-BE49-F238E27FC236}">
                <a16:creationId id="{7FF50A5E-AB8E-4498-BCE1-690C1D89138F}"/>
              </a:ext>
            </a:extLst>
          </p:cNvPr>
          <p:cNvSpPr>
            <a:spLocks noGrp="1"/>
          </p:cNvSpPr>
          <p:nvPr/>
        </p:nvSpPr>
        <p:spPr>
          <a:xfrm>
            <a:off x="7048500" y="4191000"/>
            <a:ext cx="3333750" cy="-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minimize compliance</a:t>
            </a:r>
          </a:p>
        </p:txBody>
      </p:sp>
      <p:sp>
        <p:nvSpPr>
          <p:cNvPr id="18" name="">
            <a:extLst>
              <a:ext uri="{FF2B5EF4-FFF2-40B4-BE49-F238E27FC236}">
                <a16:creationId id="{922D24F5-4C78-4052-B109-A675E5D485B4}"/>
              </a:ext>
            </a:extLst>
          </p:cNvPr>
          <p:cNvSpPr>
            <a:spLocks noGrp="1"/>
          </p:cNvSpPr>
          <p:nvPr/>
        </p:nvSpPr>
        <p:spPr>
          <a:xfrm>
            <a:off x="6858000" y="4438650"/>
            <a:ext cx="3714750" cy="60960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a16:creationId id="{55451854-2270-4D19-A3CF-D4CD62A20E7A}"/>
              </a:ext>
            </a:extLst>
          </p:cNvPr>
          <p:cNvSpPr>
            <a:spLocks noGrp="1"/>
          </p:cNvSpPr>
          <p:nvPr/>
        </p:nvSpPr>
        <p:spPr>
          <a:xfrm>
            <a:off x="7048500" y="4610100"/>
            <a:ext cx="3333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Validity</a:t>
            </a:r>
          </a:p>
        </p:txBody>
      </p:sp>
      <p:sp>
        <p:nvSpPr>
          <p:cNvPr id="20" name="">
            <a:extLst>
              <a:ext uri="{FF2B5EF4-FFF2-40B4-BE49-F238E27FC236}">
                <a16:creationId id="{95FE92AC-6B2C-4582-BDBA-1A4933D23256}"/>
              </a:ext>
            </a:extLst>
          </p:cNvPr>
          <p:cNvSpPr>
            <a:spLocks noGrp="1"/>
          </p:cNvSpPr>
          <p:nvPr/>
        </p:nvSpPr>
        <p:spPr>
          <a:xfrm>
            <a:off x="7048500" y="4972050"/>
            <a:ext cx="3333750" cy="-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material and geometry rules</a:t>
            </a:r>
          </a:p>
        </p:txBody>
      </p:sp>
    </p:spTree>
    <p:extLst>
      <p:ext uri="{BB962C8B-B14F-4D97-AF65-F5344CB8AC3E}">
        <p14:creationId val="197155408"/>
      </p:ext>
    </p:extLst>
  </p:cSld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B6839C76-0C21-40B4-88CD-951F17A4A4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9F093083-47E7-4D7E-985F-D4CB287C82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A29860B5-BD14-481F-87CE-0B67C550A112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Notebook 00</a:t>
            </a:r>
          </a:p>
        </p:txBody>
      </p:sp>
      <p:sp>
        <p:nvSpPr>
          <p:cNvPr id="5" name="">
            <a:extLst>
              <a:ext uri="{FF2B5EF4-FFF2-40B4-BE49-F238E27FC236}">
                <a16:creationId id="{2B14F0ED-A6E2-42DF-992D-F45D856881B2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458E232B-25C8-4391-A558-333DA44A389A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What the API gives you</a:t>
            </a:r>
          </a:p>
        </p:txBody>
      </p:sp>
      <p:sp>
        <p:nvSpPr>
          <p:cNvPr id="7" name="">
            <a:extLst>
              <a:ext uri="{FF2B5EF4-FFF2-40B4-BE49-F238E27FC236}">
                <a16:creationId id="{C05CC20F-788E-4301-98EF-28B582A4A79A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EngiBench turns design-problem questions into Python calls.</a:t>
            </a:r>
          </a:p>
        </p:txBody>
      </p:sp>
      <p:sp>
        <p:nvSpPr>
          <p:cNvPr id="8" name="">
            <a:extLst>
              <a:ext uri="{FF2B5EF4-FFF2-40B4-BE49-F238E27FC236}">
                <a16:creationId id="{4C36AAF0-F942-422D-B86C-B3E549ACCFCC}"/>
              </a:ext>
            </a:extLst>
          </p:cNvPr>
          <p:cNvSpPr>
            <a:spLocks noGrp="1"/>
          </p:cNvSpPr>
          <p:nvPr/>
        </p:nvSpPr>
        <p:spPr>
          <a:xfrm>
            <a:off x="781050" y="2019300"/>
            <a:ext cx="7239000" cy="3333750"/>
          </a:xfrm>
          <a:prstGeom prst="rect">
            <a:avLst/>
          </a:prstGeom>
          <a:solidFill>
            <a:srgbClr val="102033"/>
          </a:solidFill>
          <a:ln w="9525">
            <a:solidFill>
              <a:srgbClr val="102033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a16:creationId id="{8FC9B281-964C-4E95-8466-083474864526}"/>
              </a:ext>
            </a:extLst>
          </p:cNvPr>
          <p:cNvSpPr>
            <a:spLocks noGrp="1"/>
          </p:cNvSpPr>
          <p:nvPr/>
        </p:nvSpPr>
        <p:spPr>
          <a:xfrm>
            <a:off x="1066800" y="2266950"/>
            <a:ext cx="6667500" cy="2724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rPr>
              <a:t>problem = BUILTIN_PROBLEMS['beams2d'](seed=7)</a:t>
            </a:r>
          </a:p>
          <a:p>
            <a:r>
              <a:t/>
            </a:r>
          </a:p>
          <a:p>
            <a:pPr algn="l">
              <a:def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rPr>
              <a:t>problem.design_space</a:t>
            </a:r>
          </a:p>
          <a:p>
            <a:pPr algn="l">
              <a:def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rPr>
              <a:t>problem.conditions_keys</a:t>
            </a:r>
          </a:p>
          <a:p>
            <a:pPr algn="l">
              <a:def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rPr>
              <a:t>problem.objectives</a:t>
            </a:r>
          </a:p>
          <a:p>
            <a:pPr algn="l">
              <a:def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rPr>
              <a:t>problem.dataset</a:t>
            </a:r>
          </a:p>
          <a:p>
            <a:r>
              <a:t/>
            </a:r>
          </a:p>
          <a:p>
            <a:pPr algn="l">
              <a:def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rPr>
              <a:t>problem.check_constraints(design, config)</a:t>
            </a:r>
          </a:p>
          <a:p>
            <a:pPr algn="l">
              <a:def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rPr>
              <a:t>problem.simulate(design, config)</a:t>
            </a:r>
          </a:p>
          <a:p>
            <a:pPr algn="l">
              <a:def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rPr>
              <a:t>problem.optimize(starting_point, config)</a:t>
            </a:r>
          </a:p>
          <a:p>
            <a:pPr algn="l">
              <a:def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7EEF7"/>
                </a:solidFill>
                <a:latin typeface="Aptos Mono"/>
                <a:ea typeface="Aptos Mono"/>
                <a:cs typeface="Aptos Mono"/>
              </a:rPr>
              <a:t>problem.render(design)</a:t>
            </a:r>
          </a:p>
        </p:txBody>
      </p:sp>
      <p:sp>
        <p:nvSpPr>
          <p:cNvPr id="10" name="">
            <a:extLst>
              <a:ext uri="{FF2B5EF4-FFF2-40B4-BE49-F238E27FC236}">
                <a16:creationId id="{9AD5CC60-2BD6-4C5B-9F03-3645E2489B89}"/>
              </a:ext>
            </a:extLst>
          </p:cNvPr>
          <p:cNvSpPr>
            <a:spLocks noGrp="1"/>
          </p:cNvSpPr>
          <p:nvPr/>
        </p:nvSpPr>
        <p:spPr>
          <a:xfrm>
            <a:off x="8591550" y="2190750"/>
            <a:ext cx="2381250" cy="400050"/>
          </a:xfrm>
          <a:prstGeom prst="rect">
            <a:avLst/>
          </a:prstGeom>
          <a:solidFill>
            <a:srgbClr val="D7E8F6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a16:creationId id="{9A6D6D7E-09D7-4943-99CB-B5B9558350C7}"/>
              </a:ext>
            </a:extLst>
          </p:cNvPr>
          <p:cNvSpPr>
            <a:spLocks noGrp="1"/>
          </p:cNvSpPr>
          <p:nvPr/>
        </p:nvSpPr>
        <p:spPr>
          <a:xfrm>
            <a:off x="8705850" y="2295525"/>
            <a:ext cx="2152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What can I design?</a:t>
            </a:r>
          </a:p>
        </p:txBody>
      </p:sp>
      <p:sp>
        <p:nvSpPr>
          <p:cNvPr id="12" name="">
            <a:extLst>
              <a:ext uri="{FF2B5EF4-FFF2-40B4-BE49-F238E27FC236}">
                <a16:creationId id="{D0CF9CF5-F770-4987-AEBD-42A40B81F2EB}"/>
              </a:ext>
            </a:extLst>
          </p:cNvPr>
          <p:cNvSpPr>
            <a:spLocks noGrp="1"/>
          </p:cNvSpPr>
          <p:nvPr/>
        </p:nvSpPr>
        <p:spPr>
          <a:xfrm>
            <a:off x="8591550" y="2743200"/>
            <a:ext cx="2381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a16:creationId id="{2DAC6326-0005-4AF2-8A42-264D0A8E3F36}"/>
              </a:ext>
            </a:extLst>
          </p:cNvPr>
          <p:cNvSpPr>
            <a:spLocks noGrp="1"/>
          </p:cNvSpPr>
          <p:nvPr/>
        </p:nvSpPr>
        <p:spPr>
          <a:xfrm>
            <a:off x="8705850" y="2847975"/>
            <a:ext cx="2152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scenarios matter?</a:t>
            </a:r>
          </a:p>
        </p:txBody>
      </p:sp>
      <p:sp>
        <p:nvSpPr>
          <p:cNvPr id="14" name="">
            <a:extLst>
              <a:ext uri="{FF2B5EF4-FFF2-40B4-BE49-F238E27FC236}">
                <a16:creationId id="{63F59420-0CD0-4870-A1FB-04065B795E17}"/>
              </a:ext>
            </a:extLst>
          </p:cNvPr>
          <p:cNvSpPr>
            <a:spLocks noGrp="1"/>
          </p:cNvSpPr>
          <p:nvPr/>
        </p:nvSpPr>
        <p:spPr>
          <a:xfrm>
            <a:off x="8591550" y="3295650"/>
            <a:ext cx="2381250" cy="400050"/>
          </a:xfrm>
          <a:prstGeom prst="rect">
            <a:avLst/>
          </a:prstGeom>
          <a:solidFill>
            <a:srgbClr val="D7E8F6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a16:creationId id="{B2615DF0-E7E6-4008-BB66-7964F3F414B6}"/>
              </a:ext>
            </a:extLst>
          </p:cNvPr>
          <p:cNvSpPr>
            <a:spLocks noGrp="1"/>
          </p:cNvSpPr>
          <p:nvPr/>
        </p:nvSpPr>
        <p:spPr>
          <a:xfrm>
            <a:off x="8705850" y="3400425"/>
            <a:ext cx="2152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What is better?</a:t>
            </a:r>
          </a:p>
        </p:txBody>
      </p:sp>
      <p:sp>
        <p:nvSpPr>
          <p:cNvPr id="16" name="">
            <a:extLst>
              <a:ext uri="{FF2B5EF4-FFF2-40B4-BE49-F238E27FC236}">
                <a16:creationId id="{B02E330A-B0A3-487B-8619-7DACBCD0CCE3}"/>
              </a:ext>
            </a:extLst>
          </p:cNvPr>
          <p:cNvSpPr>
            <a:spLocks noGrp="1"/>
          </p:cNvSpPr>
          <p:nvPr/>
        </p:nvSpPr>
        <p:spPr>
          <a:xfrm>
            <a:off x="8591550" y="3848100"/>
            <a:ext cx="2381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a16:creationId id="{ED656BE3-BE41-42C3-BDC0-B6D218650D3F}"/>
              </a:ext>
            </a:extLst>
          </p:cNvPr>
          <p:cNvSpPr>
            <a:spLocks noGrp="1"/>
          </p:cNvSpPr>
          <p:nvPr/>
        </p:nvSpPr>
        <p:spPr>
          <a:xfrm>
            <a:off x="8705850" y="3952875"/>
            <a:ext cx="2152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Is it valid?</a:t>
            </a:r>
          </a:p>
        </p:txBody>
      </p:sp>
      <p:sp>
        <p:nvSpPr>
          <p:cNvPr id="18" name="">
            <a:extLst>
              <a:ext uri="{FF2B5EF4-FFF2-40B4-BE49-F238E27FC236}">
                <a16:creationId id="{17DD21AA-BC9C-4689-83EC-2B8885EB2622}"/>
              </a:ext>
            </a:extLst>
          </p:cNvPr>
          <p:cNvSpPr>
            <a:spLocks noGrp="1"/>
          </p:cNvSpPr>
          <p:nvPr/>
        </p:nvSpPr>
        <p:spPr>
          <a:xfrm>
            <a:off x="8591550" y="4400550"/>
            <a:ext cx="2381250" cy="400050"/>
          </a:xfrm>
          <a:prstGeom prst="rect">
            <a:avLst/>
          </a:prstGeom>
          <a:solidFill>
            <a:srgbClr val="D7E8F6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a16:creationId id="{3908AAFD-F0AC-4B21-9621-830D2954867E}"/>
              </a:ext>
            </a:extLst>
          </p:cNvPr>
          <p:cNvSpPr>
            <a:spLocks noGrp="1"/>
          </p:cNvSpPr>
          <p:nvPr/>
        </p:nvSpPr>
        <p:spPr>
          <a:xfrm>
            <a:off x="8705850" y="4505325"/>
            <a:ext cx="2152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What does it look like?</a:t>
            </a:r>
          </a:p>
        </p:txBody>
      </p:sp>
    </p:spTree>
    <p:extLst>
      <p:ext uri="{BB962C8B-B14F-4D97-AF65-F5344CB8AC3E}">
        <p14:creationId val="883897359"/>
      </p:ext>
    </p:extLst>
  </p:cSld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55AADB7E-BB03-4CAA-8CF9-62AE078889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D3ED518F-C130-46BB-B498-8555FB8EEE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391A7B4D-D0DC-4D19-B61D-8EA598B39839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Notebook 00</a:t>
            </a:r>
          </a:p>
        </p:txBody>
      </p:sp>
      <p:sp>
        <p:nvSpPr>
          <p:cNvPr id="5" name="">
            <a:extLst>
              <a:ext uri="{FF2B5EF4-FFF2-40B4-BE49-F238E27FC236}">
                <a16:creationId id="{A4612EDC-0B8E-41C3-B84B-1587393D8339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3103E5AC-9F5B-4F30-9EDF-CA2BDBB6B83C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What to notice in Notebook 00</a:t>
            </a:r>
          </a:p>
        </p:txBody>
      </p:sp>
      <p:sp>
        <p:nvSpPr>
          <p:cNvPr id="7" name="">
            <a:extLst>
              <a:ext uri="{FF2B5EF4-FFF2-40B4-BE49-F238E27FC236}">
                <a16:creationId id="{1AEE288C-C314-4439-9605-D89C95C15B14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same design can be inspected visually, checked for validity, simulated, and optimized.</a:t>
            </a:r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220331918f814537"/>
          <a:stretch/>
        </p:blipFill>
        <p:spPr>
          <a:xfrm>
            <a:off x="781050" y="2176463"/>
            <a:ext cx="5429250" cy="2714625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a16:creationId id="{8CD2E3FB-A60C-4AB0-BB80-CC3211877913}"/>
              </a:ext>
            </a:extLst>
          </p:cNvPr>
          <p:cNvSpPr>
            <a:spLocks noGrp="1"/>
          </p:cNvSpPr>
          <p:nvPr/>
        </p:nvSpPr>
        <p:spPr>
          <a:xfrm>
            <a:off x="7048500" y="2095500"/>
            <a:ext cx="3143250" cy="60960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a16:creationId id="{E0CD2B0A-7F2C-4E50-A49E-656B142A71FA}"/>
              </a:ext>
            </a:extLst>
          </p:cNvPr>
          <p:cNvSpPr>
            <a:spLocks noGrp="1"/>
          </p:cNvSpPr>
          <p:nvPr/>
        </p:nvSpPr>
        <p:spPr>
          <a:xfrm>
            <a:off x="7239000" y="226695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Look</a:t>
            </a:r>
          </a:p>
        </p:txBody>
      </p:sp>
      <p:sp>
        <p:nvSpPr>
          <p:cNvPr id="11" name="">
            <a:extLst>
              <a:ext uri="{FF2B5EF4-FFF2-40B4-BE49-F238E27FC236}">
                <a16:creationId id="{91A2DE1A-DEE3-429F-A9ED-A09E2CB37D44}"/>
              </a:ext>
            </a:extLst>
          </p:cNvPr>
          <p:cNvSpPr>
            <a:spLocks noGrp="1"/>
          </p:cNvSpPr>
          <p:nvPr/>
        </p:nvSpPr>
        <p:spPr>
          <a:xfrm>
            <a:off x="7239000" y="2628900"/>
            <a:ext cx="2762250" cy="-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render a design</a:t>
            </a:r>
          </a:p>
        </p:txBody>
      </p:sp>
      <p:sp>
        <p:nvSpPr>
          <p:cNvPr id="12" name="">
            <a:extLst>
              <a:ext uri="{FF2B5EF4-FFF2-40B4-BE49-F238E27FC236}">
                <a16:creationId id="{3035FDD7-4296-43DF-8FDD-9EFC1E607F5C}"/>
              </a:ext>
            </a:extLst>
          </p:cNvPr>
          <p:cNvSpPr>
            <a:spLocks noGrp="1"/>
          </p:cNvSpPr>
          <p:nvPr/>
        </p:nvSpPr>
        <p:spPr>
          <a:xfrm>
            <a:off x="7048500" y="2876550"/>
            <a:ext cx="3143250" cy="60960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a16:creationId id="{7DA6811A-439A-4205-B682-5506C4A1BC54}"/>
              </a:ext>
            </a:extLst>
          </p:cNvPr>
          <p:cNvSpPr>
            <a:spLocks noGrp="1"/>
          </p:cNvSpPr>
          <p:nvPr/>
        </p:nvSpPr>
        <p:spPr>
          <a:xfrm>
            <a:off x="7239000" y="30480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C8483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4837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14" name="">
            <a:extLst>
              <a:ext uri="{FF2B5EF4-FFF2-40B4-BE49-F238E27FC236}">
                <a16:creationId id="{1C71DEC0-9AF8-4D12-9507-1EED9C10578B}"/>
              </a:ext>
            </a:extLst>
          </p:cNvPr>
          <p:cNvSpPr>
            <a:spLocks noGrp="1"/>
          </p:cNvSpPr>
          <p:nvPr/>
        </p:nvSpPr>
        <p:spPr>
          <a:xfrm>
            <a:off x="7239000" y="3409950"/>
            <a:ext cx="2762250" cy="-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find violated constraints</a:t>
            </a:r>
          </a:p>
        </p:txBody>
      </p:sp>
      <p:sp>
        <p:nvSpPr>
          <p:cNvPr id="15" name="">
            <a:extLst>
              <a:ext uri="{FF2B5EF4-FFF2-40B4-BE49-F238E27FC236}">
                <a16:creationId id="{54A7A1BC-1786-4990-86F5-20E5A5DD9F93}"/>
              </a:ext>
            </a:extLst>
          </p:cNvPr>
          <p:cNvSpPr>
            <a:spLocks noGrp="1"/>
          </p:cNvSpPr>
          <p:nvPr/>
        </p:nvSpPr>
        <p:spPr>
          <a:xfrm>
            <a:off x="7048500" y="3657600"/>
            <a:ext cx="3143250" cy="60960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a16:creationId id="{A3A5CF8E-7D4A-402A-95E7-0D0B29F87B3E}"/>
              </a:ext>
            </a:extLst>
          </p:cNvPr>
          <p:cNvSpPr>
            <a:spLocks noGrp="1"/>
          </p:cNvSpPr>
          <p:nvPr/>
        </p:nvSpPr>
        <p:spPr>
          <a:xfrm>
            <a:off x="7239000" y="382905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F7D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7D62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7" name="">
            <a:extLst>
              <a:ext uri="{FF2B5EF4-FFF2-40B4-BE49-F238E27FC236}">
                <a16:creationId id="{E95EF2DB-F44E-4A3A-8DC6-8502EE2C7BF2}"/>
              </a:ext>
            </a:extLst>
          </p:cNvPr>
          <p:cNvSpPr>
            <a:spLocks noGrp="1"/>
          </p:cNvSpPr>
          <p:nvPr/>
        </p:nvSpPr>
        <p:spPr>
          <a:xfrm>
            <a:off x="7239000" y="4191000"/>
            <a:ext cx="2762250" cy="-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run the simulator</a:t>
            </a:r>
          </a:p>
        </p:txBody>
      </p:sp>
      <p:sp>
        <p:nvSpPr>
          <p:cNvPr id="18" name="">
            <a:extLst>
              <a:ext uri="{FF2B5EF4-FFF2-40B4-BE49-F238E27FC236}">
                <a16:creationId id="{E6F53231-377F-4708-BDE8-B72874D5830A}"/>
              </a:ext>
            </a:extLst>
          </p:cNvPr>
          <p:cNvSpPr>
            <a:spLocks noGrp="1"/>
          </p:cNvSpPr>
          <p:nvPr/>
        </p:nvSpPr>
        <p:spPr>
          <a:xfrm>
            <a:off x="7048500" y="4438650"/>
            <a:ext cx="3143250" cy="60960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a16:creationId id="{23AD2460-E688-4F0E-8A17-FB65F494B9F7}"/>
              </a:ext>
            </a:extLst>
          </p:cNvPr>
          <p:cNvSpPr>
            <a:spLocks noGrp="1"/>
          </p:cNvSpPr>
          <p:nvPr/>
        </p:nvSpPr>
        <p:spPr>
          <a:xfrm>
            <a:off x="7239000" y="461010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C47B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47B20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0" name="">
            <a:extLst>
              <a:ext uri="{FF2B5EF4-FFF2-40B4-BE49-F238E27FC236}">
                <a16:creationId id="{85460780-21BD-4224-A596-E6570DCD7BBF}"/>
              </a:ext>
            </a:extLst>
          </p:cNvPr>
          <p:cNvSpPr>
            <a:spLocks noGrp="1"/>
          </p:cNvSpPr>
          <p:nvPr/>
        </p:nvSpPr>
        <p:spPr>
          <a:xfrm>
            <a:off x="7239000" y="4972050"/>
            <a:ext cx="2762250" cy="-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call a classical baseline</a:t>
            </a:r>
          </a:p>
        </p:txBody>
      </p:sp>
    </p:spTree>
    <p:extLst>
      <p:ext uri="{BB962C8B-B14F-4D97-AF65-F5344CB8AC3E}">
        <p14:creationId val="1113204217"/>
      </p:ext>
    </p:extLst>
  </p:cSld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211905E0-098C-4F4A-A1A5-DF28F14949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1210B5C9-B4B3-4388-B496-08582AB4F9BD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FE3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E3F3"/>
                </a:solidFill>
                <a:latin typeface="Aptos"/>
                <a:ea typeface="Aptos"/>
                <a:cs typeface="Aptos"/>
              </a:rPr>
              <a:t>Notebook 01</a:t>
            </a:r>
          </a:p>
        </p:txBody>
      </p:sp>
      <p:sp>
        <p:nvSpPr>
          <p:cNvPr id="4" name="">
            <a:extLst>
              <a:ext uri="{FF2B5EF4-FFF2-40B4-BE49-F238E27FC236}">
                <a16:creationId id="{46406600-3AA3-4354-BBB2-7D72EF919F14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FE3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E3F3"/>
                </a:solidFill>
                <a:latin typeface="Aptos"/>
                <a:ea typeface="Aptos"/>
                <a:cs typeface="Aptos"/>
              </a:rPr>
              <a:t>01_training_a_generative_model.ipynb</a:t>
            </a:r>
          </a:p>
        </p:txBody>
      </p:sp>
      <p:sp>
        <p:nvSpPr>
          <p:cNvPr id="5" name="">
            <a:extLst>
              <a:ext uri="{FF2B5EF4-FFF2-40B4-BE49-F238E27FC236}">
                <a16:creationId id="{1FD8095C-60B8-4DEA-9224-D5CB09420A92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239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Train a generative model against the optimizer's answers.</a:t>
            </a:r>
          </a:p>
        </p:txBody>
      </p:sp>
      <p:sp>
        <p:nvSpPr>
          <p:cNvPr id="6" name="">
            <a:extLst>
              <a:ext uri="{FF2B5EF4-FFF2-40B4-BE49-F238E27FC236}">
                <a16:creationId id="{F7866E72-D4F6-4003-837A-710329BAA7FB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690562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This is intentionally lightweight: the point is to see the full workflow, not to win the benchmark in one notebook.</a:t>
            </a:r>
          </a:p>
        </p:txBody>
      </p:sp>
      <p:sp>
        <p:nvSpPr>
          <p:cNvPr id="7" name="">
            <a:extLst>
              <a:ext uri="{FF2B5EF4-FFF2-40B4-BE49-F238E27FC236}">
                <a16:creationId id="{7CC6DB5D-A965-42D5-AE9E-1EE468E5D2FA}"/>
              </a:ext>
            </a:extLst>
          </p:cNvPr>
          <p:cNvSpPr>
            <a:spLocks noGrp="1"/>
          </p:cNvSpPr>
          <p:nvPr/>
        </p:nvSpPr>
        <p:spPr>
          <a:xfrm>
            <a:off x="8191500" y="990600"/>
            <a:ext cx="3124200" cy="4438650"/>
          </a:xfrm>
          <a:prstGeom prst="rect">
            <a:avLst/>
          </a:prstGeom>
          <a:solidFill>
            <a:srgbClr val="FFFFFF">
              <a:alpha val="8235"/>
            </a:srgbClr>
          </a:solidFill>
          <a:ln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a16:creationId id="{E660A45E-5A9F-4869-8064-90AA431674AA}"/>
              </a:ext>
            </a:extLst>
          </p:cNvPr>
          <p:cNvSpPr>
            <a:spLocks noGrp="1"/>
          </p:cNvSpPr>
          <p:nvPr/>
        </p:nvSpPr>
        <p:spPr>
          <a:xfrm>
            <a:off x="8515350" y="13335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You should leave with</a:t>
            </a:r>
          </a:p>
        </p:txBody>
      </p:sp>
      <p:sp>
        <p:nvSpPr>
          <p:cNvPr id="9" name="">
            <a:extLst>
              <a:ext uri="{FF2B5EF4-FFF2-40B4-BE49-F238E27FC236}">
                <a16:creationId id="{A5558B22-765B-4CED-A35D-EBDA4E761778}"/>
              </a:ext>
            </a:extLst>
          </p:cNvPr>
          <p:cNvSpPr>
            <a:spLocks noGrp="1"/>
          </p:cNvSpPr>
          <p:nvPr/>
        </p:nvSpPr>
        <p:spPr>
          <a:xfrm>
            <a:off x="8534400" y="18478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a16:creationId id="{287E691C-5BBE-4781-A8D8-E4503BC28DF9}"/>
              </a:ext>
            </a:extLst>
          </p:cNvPr>
          <p:cNvSpPr>
            <a:spLocks noGrp="1"/>
          </p:cNvSpPr>
          <p:nvPr/>
        </p:nvSpPr>
        <p:spPr>
          <a:xfrm>
            <a:off x="8782050" y="1752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training loss</a:t>
            </a:r>
          </a:p>
        </p:txBody>
      </p:sp>
      <p:sp>
        <p:nvSpPr>
          <p:cNvPr id="11" name="">
            <a:extLst>
              <a:ext uri="{FF2B5EF4-FFF2-40B4-BE49-F238E27FC236}">
                <a16:creationId id="{5FFC0E3C-19BC-4C03-9AF9-A733FE4CC63F}"/>
              </a:ext>
            </a:extLst>
          </p:cNvPr>
          <p:cNvSpPr>
            <a:spLocks noGrp="1"/>
          </p:cNvSpPr>
          <p:nvPr/>
        </p:nvSpPr>
        <p:spPr>
          <a:xfrm>
            <a:off x="8534400" y="23050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a16:creationId id="{8178B94E-2745-4849-8390-29F4DB4A1F91}"/>
              </a:ext>
            </a:extLst>
          </p:cNvPr>
          <p:cNvSpPr>
            <a:spLocks noGrp="1"/>
          </p:cNvSpPr>
          <p:nvPr/>
        </p:nvSpPr>
        <p:spPr>
          <a:xfrm>
            <a:off x="8782050" y="22098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generated designs</a:t>
            </a:r>
          </a:p>
        </p:txBody>
      </p:sp>
      <p:sp>
        <p:nvSpPr>
          <p:cNvPr id="13" name="">
            <a:extLst>
              <a:ext uri="{FF2B5EF4-FFF2-40B4-BE49-F238E27FC236}">
                <a16:creationId id="{3572D5F8-3213-412B-A168-72E33207CDDB}"/>
              </a:ext>
            </a:extLst>
          </p:cNvPr>
          <p:cNvSpPr>
            <a:spLocks noGrp="1"/>
          </p:cNvSpPr>
          <p:nvPr/>
        </p:nvSpPr>
        <p:spPr>
          <a:xfrm>
            <a:off x="8534400" y="27622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a16:creationId id="{8DCDFF40-998C-4763-B179-06C166129123}"/>
              </a:ext>
            </a:extLst>
          </p:cNvPr>
          <p:cNvSpPr>
            <a:spLocks noGrp="1"/>
          </p:cNvSpPr>
          <p:nvPr/>
        </p:nvSpPr>
        <p:spPr>
          <a:xfrm>
            <a:off x="8782050" y="26670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baseline designs</a:t>
            </a:r>
          </a:p>
        </p:txBody>
      </p:sp>
      <p:sp>
        <p:nvSpPr>
          <p:cNvPr id="15" name="">
            <a:extLst>
              <a:ext uri="{FF2B5EF4-FFF2-40B4-BE49-F238E27FC236}">
                <a16:creationId id="{C8D82D1D-F61C-483D-87E4-6277BA2E3909}"/>
              </a:ext>
            </a:extLst>
          </p:cNvPr>
          <p:cNvSpPr>
            <a:spLocks noGrp="1"/>
          </p:cNvSpPr>
          <p:nvPr/>
        </p:nvSpPr>
        <p:spPr>
          <a:xfrm>
            <a:off x="8534400" y="32194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a16:creationId id="{16C0DD10-D84B-4FC6-9A40-A49724B13F74}"/>
              </a:ext>
            </a:extLst>
          </p:cNvPr>
          <p:cNvSpPr>
            <a:spLocks noGrp="1"/>
          </p:cNvSpPr>
          <p:nvPr/>
        </p:nvSpPr>
        <p:spPr>
          <a:xfrm>
            <a:off x="8782050" y="31242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artifact bundle</a:t>
            </a:r>
          </a:p>
        </p:txBody>
      </p:sp>
    </p:spTree>
    <p:extLst>
      <p:ext uri="{BB962C8B-B14F-4D97-AF65-F5344CB8AC3E}">
        <p14:creationId val="1808208185"/>
      </p:ext>
    </p:extLst>
  </p:cSld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43B0FE4A-B9C4-40FE-81A6-0A01FD7CF6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AB980C4F-9BB6-4E39-A3E2-784C12094F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D03450E6-6CA1-4325-8032-C0A60C9CC4E1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Notebook 01</a:t>
            </a:r>
          </a:p>
        </p:txBody>
      </p:sp>
      <p:sp>
        <p:nvSpPr>
          <p:cNvPr id="5" name="">
            <a:extLst>
              <a:ext uri="{FF2B5EF4-FFF2-40B4-BE49-F238E27FC236}">
                <a16:creationId id="{AB358AA4-BF2C-4021-AAB1-9960DF1BE7B2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3CC292D2-F477-4073-9930-CEA67360C89F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Notebook 01</a:t>
            </a:r>
          </a:p>
        </p:txBody>
      </p:sp>
      <p:sp>
        <p:nvSpPr>
          <p:cNvPr id="7" name="">
            <a:extLst>
              <a:ext uri="{FF2B5EF4-FFF2-40B4-BE49-F238E27FC236}">
                <a16:creationId id="{E060C166-78A1-4C23-988E-8574E3DA3E03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Training loss is a learning signal, not an engineering verdict.</a:t>
            </a:r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e757ad4daadf4e5c"/>
          <a:stretch/>
        </p:blipFill>
        <p:spPr>
          <a:xfrm>
            <a:off x="757918" y="2152650"/>
            <a:ext cx="5551714" cy="3238500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a16:creationId id="{AB6A5224-DB78-4019-B30F-850BE4DD9A22}"/>
              </a:ext>
            </a:extLst>
          </p:cNvPr>
          <p:cNvSpPr>
            <a:spLocks noGrp="1"/>
          </p:cNvSpPr>
          <p:nvPr/>
        </p:nvSpPr>
        <p:spPr>
          <a:xfrm>
            <a:off x="7067550" y="2324100"/>
            <a:ext cx="3314700" cy="8953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a16:creationId id="{6A51AA19-01A6-4D4C-A63D-C50FE2896255}"/>
              </a:ext>
            </a:extLst>
          </p:cNvPr>
          <p:cNvSpPr>
            <a:spLocks noGrp="1"/>
          </p:cNvSpPr>
          <p:nvPr/>
        </p:nvSpPr>
        <p:spPr>
          <a:xfrm>
            <a:off x="7258050" y="2495550"/>
            <a:ext cx="2933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What the model sees</a:t>
            </a:r>
          </a:p>
        </p:txBody>
      </p:sp>
      <p:sp>
        <p:nvSpPr>
          <p:cNvPr id="11" name="">
            <a:extLst>
              <a:ext uri="{FF2B5EF4-FFF2-40B4-BE49-F238E27FC236}">
                <a16:creationId id="{3097EC22-10FB-4434-A219-F123D8186DDB}"/>
              </a:ext>
            </a:extLst>
          </p:cNvPr>
          <p:cNvSpPr>
            <a:spLocks noGrp="1"/>
          </p:cNvSpPr>
          <p:nvPr/>
        </p:nvSpPr>
        <p:spPr>
          <a:xfrm>
            <a:off x="7258050" y="2857500"/>
            <a:ext cx="2933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condition tensors plus optimized Beams2D designs</a:t>
            </a:r>
          </a:p>
        </p:txBody>
      </p:sp>
      <p:sp>
        <p:nvSpPr>
          <p:cNvPr id="12" name="">
            <a:extLst>
              <a:ext uri="{FF2B5EF4-FFF2-40B4-BE49-F238E27FC236}">
                <a16:creationId id="{BE206B76-F195-4FB0-9B1C-A0BA68A45FD4}"/>
              </a:ext>
            </a:extLst>
          </p:cNvPr>
          <p:cNvSpPr>
            <a:spLocks noGrp="1"/>
          </p:cNvSpPr>
          <p:nvPr/>
        </p:nvSpPr>
        <p:spPr>
          <a:xfrm>
            <a:off x="7067550" y="3429000"/>
            <a:ext cx="3314700" cy="8953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a16:creationId id="{7C59CF99-E59E-4E88-8011-8D6D9E4626EC}"/>
              </a:ext>
            </a:extLst>
          </p:cNvPr>
          <p:cNvSpPr>
            <a:spLocks noGrp="1"/>
          </p:cNvSpPr>
          <p:nvPr/>
        </p:nvSpPr>
        <p:spPr>
          <a:xfrm>
            <a:off x="7258050" y="3600450"/>
            <a:ext cx="2933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F7D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7D62"/>
                </a:solidFill>
                <a:latin typeface="Aptos"/>
                <a:ea typeface="Aptos"/>
                <a:cs typeface="Aptos"/>
              </a:rPr>
              <a:t>What the loss says</a:t>
            </a:r>
          </a:p>
        </p:txBody>
      </p:sp>
      <p:sp>
        <p:nvSpPr>
          <p:cNvPr id="14" name="">
            <a:extLst>
              <a:ext uri="{FF2B5EF4-FFF2-40B4-BE49-F238E27FC236}">
                <a16:creationId id="{514C1EC7-E10E-4E62-BDED-E5703590F94F}"/>
              </a:ext>
            </a:extLst>
          </p:cNvPr>
          <p:cNvSpPr>
            <a:spLocks noGrp="1"/>
          </p:cNvSpPr>
          <p:nvPr/>
        </p:nvSpPr>
        <p:spPr>
          <a:xfrm>
            <a:off x="7258050" y="3962400"/>
            <a:ext cx="2933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whether generated images resemble optimizer answers</a:t>
            </a:r>
          </a:p>
        </p:txBody>
      </p:sp>
      <p:sp>
        <p:nvSpPr>
          <p:cNvPr id="15" name="">
            <a:extLst>
              <a:ext uri="{FF2B5EF4-FFF2-40B4-BE49-F238E27FC236}">
                <a16:creationId id="{EDB61520-5C81-4611-B862-0FC8C8E04B84}"/>
              </a:ext>
            </a:extLst>
          </p:cNvPr>
          <p:cNvSpPr>
            <a:spLocks noGrp="1"/>
          </p:cNvSpPr>
          <p:nvPr/>
        </p:nvSpPr>
        <p:spPr>
          <a:xfrm>
            <a:off x="7067550" y="4533900"/>
            <a:ext cx="3314700" cy="8953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a16:creationId id="{B1FEC1AA-81EA-4B20-818D-4056E32D60AA}"/>
              </a:ext>
            </a:extLst>
          </p:cNvPr>
          <p:cNvSpPr>
            <a:spLocks noGrp="1"/>
          </p:cNvSpPr>
          <p:nvPr/>
        </p:nvSpPr>
        <p:spPr>
          <a:xfrm>
            <a:off x="7258050" y="4705350"/>
            <a:ext cx="2933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C8483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4837"/>
                </a:solidFill>
                <a:latin typeface="Aptos"/>
                <a:ea typeface="Aptos"/>
                <a:cs typeface="Aptos"/>
              </a:rPr>
              <a:t>What it does not say</a:t>
            </a:r>
          </a:p>
        </p:txBody>
      </p:sp>
      <p:sp>
        <p:nvSpPr>
          <p:cNvPr id="17" name="">
            <a:extLst>
              <a:ext uri="{FF2B5EF4-FFF2-40B4-BE49-F238E27FC236}">
                <a16:creationId id="{6DF76456-ABC4-4BEE-A872-965A04B13D2A}"/>
              </a:ext>
            </a:extLst>
          </p:cNvPr>
          <p:cNvSpPr>
            <a:spLocks noGrp="1"/>
          </p:cNvSpPr>
          <p:nvPr/>
        </p:nvSpPr>
        <p:spPr>
          <a:xfrm>
            <a:off x="7258050" y="5067300"/>
            <a:ext cx="2933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whether the design obeys constraints or performs well</a:t>
            </a:r>
          </a:p>
        </p:txBody>
      </p:sp>
    </p:spTree>
    <p:extLst>
      <p:ext uri="{BB962C8B-B14F-4D97-AF65-F5344CB8AC3E}">
        <p14:creationId val="1627211921"/>
      </p:ext>
    </p:extLst>
  </p:cSld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77BA4390-FDC8-4FF2-B4E8-45031C5560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20971862-5589-419D-BA76-78666ADE7F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5A45C628-05AE-4411-9D9C-DDE36A423431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Notebook 01</a:t>
            </a:r>
          </a:p>
        </p:txBody>
      </p:sp>
      <p:sp>
        <p:nvSpPr>
          <p:cNvPr id="5" name="">
            <a:extLst>
              <a:ext uri="{FF2B5EF4-FFF2-40B4-BE49-F238E27FC236}">
                <a16:creationId id="{0009BBDE-D3E1-4C29-BF44-E0F3E7792B89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FA052CDF-ECDA-4E1E-924F-6920205EFD51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Generated vs baseline</a:t>
            </a:r>
          </a:p>
        </p:txBody>
      </p:sp>
      <p:sp>
        <p:nvSpPr>
          <p:cNvPr id="7" name="">
            <a:extLst>
              <a:ext uri="{FF2B5EF4-FFF2-40B4-BE49-F238E27FC236}">
                <a16:creationId id="{E3215E7A-272C-42F3-89C4-13DF3E7A7368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Look at the designs, but do not stop at the eye test.</a:t>
            </a:r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7ec9818c2d564b96"/>
          <a:stretch/>
        </p:blipFill>
        <p:spPr>
          <a:xfrm>
            <a:off x="3267075" y="1962150"/>
            <a:ext cx="5600700" cy="3733800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a16:creationId id="{0AC83D5B-D459-4F5D-BD7D-01EE861BF564}"/>
              </a:ext>
            </a:extLst>
          </p:cNvPr>
          <p:cNvSpPr>
            <a:spLocks noGrp="1"/>
          </p:cNvSpPr>
          <p:nvPr/>
        </p:nvSpPr>
        <p:spPr>
          <a:xfrm>
            <a:off x="2238375" y="5867400"/>
            <a:ext cx="7715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Notebook 02 will turn this visual comparison into engineering evidence.</a:t>
            </a:r>
          </a:p>
        </p:txBody>
      </p:sp>
    </p:spTree>
    <p:extLst>
      <p:ext uri="{BB962C8B-B14F-4D97-AF65-F5344CB8AC3E}">
        <p14:creationId val="869526897"/>
      </p:ext>
    </p:extLst>
  </p:cSld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0421A48A-D921-4A08-B84A-5B796437CD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56581819-EDF0-49A0-9E0F-67FBFF6AA62A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FE3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E3F3"/>
                </a:solidFill>
                <a:latin typeface="Aptos"/>
                <a:ea typeface="Aptos"/>
                <a:cs typeface="Aptos"/>
              </a:rPr>
              <a:t>Notebook 02</a:t>
            </a:r>
          </a:p>
        </p:txBody>
      </p:sp>
      <p:sp>
        <p:nvSpPr>
          <p:cNvPr id="4" name="">
            <a:extLst>
              <a:ext uri="{FF2B5EF4-FFF2-40B4-BE49-F238E27FC236}">
                <a16:creationId id="{BF91D147-A908-45C5-8E53-2CE5FF5B063E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FE3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E3F3"/>
                </a:solidFill>
                <a:latin typeface="Aptos"/>
                <a:ea typeface="Aptos"/>
                <a:cs typeface="Aptos"/>
              </a:rPr>
              <a:t>02_evaluating_your_generated_designs.ipynb</a:t>
            </a:r>
          </a:p>
        </p:txBody>
      </p:sp>
      <p:sp>
        <p:nvSpPr>
          <p:cNvPr id="5" name="">
            <a:extLst>
              <a:ext uri="{FF2B5EF4-FFF2-40B4-BE49-F238E27FC236}">
                <a16:creationId id="{C72FCCF5-0B68-470C-A79A-214903B1E778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239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Evaluate generated designs as engineering candidates.</a:t>
            </a:r>
          </a:p>
        </p:txBody>
      </p:sp>
      <p:sp>
        <p:nvSpPr>
          <p:cNvPr id="6" name="">
            <a:extLst>
              <a:ext uri="{FF2B5EF4-FFF2-40B4-BE49-F238E27FC236}">
                <a16:creationId id="{53DA714E-ACFA-4B16-9AAA-27DE5D87E912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690562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You will check rules, run performance comparisons, measure diversity, and ask whether generation helps optimization.</a:t>
            </a:r>
          </a:p>
        </p:txBody>
      </p:sp>
      <p:sp>
        <p:nvSpPr>
          <p:cNvPr id="7" name="">
            <a:extLst>
              <a:ext uri="{FF2B5EF4-FFF2-40B4-BE49-F238E27FC236}">
                <a16:creationId id="{CA96BE46-BF9D-4FF7-832F-C06E3489424D}"/>
              </a:ext>
            </a:extLst>
          </p:cNvPr>
          <p:cNvSpPr>
            <a:spLocks noGrp="1"/>
          </p:cNvSpPr>
          <p:nvPr/>
        </p:nvSpPr>
        <p:spPr>
          <a:xfrm>
            <a:off x="8191500" y="990600"/>
            <a:ext cx="3124200" cy="4438650"/>
          </a:xfrm>
          <a:prstGeom prst="rect">
            <a:avLst/>
          </a:prstGeom>
          <a:solidFill>
            <a:srgbClr val="FFFFFF">
              <a:alpha val="8235"/>
            </a:srgbClr>
          </a:solidFill>
          <a:ln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a16:creationId id="{68A07A05-82C7-4BE6-A4C1-B756243AE4C9}"/>
              </a:ext>
            </a:extLst>
          </p:cNvPr>
          <p:cNvSpPr>
            <a:spLocks noGrp="1"/>
          </p:cNvSpPr>
          <p:nvPr/>
        </p:nvSpPr>
        <p:spPr>
          <a:xfrm>
            <a:off x="8515350" y="13335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You should leave with</a:t>
            </a:r>
          </a:p>
        </p:txBody>
      </p:sp>
      <p:sp>
        <p:nvSpPr>
          <p:cNvPr id="9" name="">
            <a:extLst>
              <a:ext uri="{FF2B5EF4-FFF2-40B4-BE49-F238E27FC236}">
                <a16:creationId id="{07895795-35DE-472A-B793-FDC0BBAA4DE0}"/>
              </a:ext>
            </a:extLst>
          </p:cNvPr>
          <p:cNvSpPr>
            <a:spLocks noGrp="1"/>
          </p:cNvSpPr>
          <p:nvPr/>
        </p:nvSpPr>
        <p:spPr>
          <a:xfrm>
            <a:off x="8534400" y="18478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a16:creationId id="{F937A2BB-FA91-4900-A423-0100DD0845B9}"/>
              </a:ext>
            </a:extLst>
          </p:cNvPr>
          <p:cNvSpPr>
            <a:spLocks noGrp="1"/>
          </p:cNvSpPr>
          <p:nvPr/>
        </p:nvSpPr>
        <p:spPr>
          <a:xfrm>
            <a:off x="8782050" y="1752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feasibility rates</a:t>
            </a:r>
          </a:p>
        </p:txBody>
      </p:sp>
      <p:sp>
        <p:nvSpPr>
          <p:cNvPr id="11" name="">
            <a:extLst>
              <a:ext uri="{FF2B5EF4-FFF2-40B4-BE49-F238E27FC236}">
                <a16:creationId id="{7A73A6F1-3C28-4868-BA1D-1C3E4EBE2440}"/>
              </a:ext>
            </a:extLst>
          </p:cNvPr>
          <p:cNvSpPr>
            <a:spLocks noGrp="1"/>
          </p:cNvSpPr>
          <p:nvPr/>
        </p:nvSpPr>
        <p:spPr>
          <a:xfrm>
            <a:off x="8534400" y="23050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a16:creationId id="{05BE7C86-8D0D-47CB-9F85-55F207D1AC2D}"/>
              </a:ext>
            </a:extLst>
          </p:cNvPr>
          <p:cNvSpPr>
            <a:spLocks noGrp="1"/>
          </p:cNvSpPr>
          <p:nvPr/>
        </p:nvSpPr>
        <p:spPr>
          <a:xfrm>
            <a:off x="8782050" y="22098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objective comparison</a:t>
            </a:r>
          </a:p>
        </p:txBody>
      </p:sp>
      <p:sp>
        <p:nvSpPr>
          <p:cNvPr id="13" name="">
            <a:extLst>
              <a:ext uri="{FF2B5EF4-FFF2-40B4-BE49-F238E27FC236}">
                <a16:creationId id="{11FB7693-0D6D-455C-8A4A-50304095CF9A}"/>
              </a:ext>
            </a:extLst>
          </p:cNvPr>
          <p:cNvSpPr>
            <a:spLocks noGrp="1"/>
          </p:cNvSpPr>
          <p:nvPr/>
        </p:nvSpPr>
        <p:spPr>
          <a:xfrm>
            <a:off x="8534400" y="27622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a16:creationId id="{89E826B0-5444-497F-98A1-E4EBB5DDD4AB}"/>
              </a:ext>
            </a:extLst>
          </p:cNvPr>
          <p:cNvSpPr>
            <a:spLocks noGrp="1"/>
          </p:cNvSpPr>
          <p:nvPr/>
        </p:nvSpPr>
        <p:spPr>
          <a:xfrm>
            <a:off x="8782050" y="26670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diversity proxy</a:t>
            </a:r>
          </a:p>
        </p:txBody>
      </p:sp>
      <p:sp>
        <p:nvSpPr>
          <p:cNvPr id="15" name="">
            <a:extLst>
              <a:ext uri="{FF2B5EF4-FFF2-40B4-BE49-F238E27FC236}">
                <a16:creationId id="{4E63A0CA-70EB-445D-A31E-4F57B390A276}"/>
              </a:ext>
            </a:extLst>
          </p:cNvPr>
          <p:cNvSpPr>
            <a:spLocks noGrp="1"/>
          </p:cNvSpPr>
          <p:nvPr/>
        </p:nvSpPr>
        <p:spPr>
          <a:xfrm>
            <a:off x="8534400" y="32194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a16:creationId id="{D87302AE-8248-4E1F-B754-E3E85238AC18}"/>
              </a:ext>
            </a:extLst>
          </p:cNvPr>
          <p:cNvSpPr>
            <a:spLocks noGrp="1"/>
          </p:cNvSpPr>
          <p:nvPr/>
        </p:nvSpPr>
        <p:spPr>
          <a:xfrm>
            <a:off x="8782050" y="31242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warm-start curves</a:t>
            </a:r>
          </a:p>
        </p:txBody>
      </p:sp>
    </p:spTree>
    <p:extLst>
      <p:ext uri="{BB962C8B-B14F-4D97-AF65-F5344CB8AC3E}">
        <p14:creationId val="1093219875"/>
      </p:ext>
    </p:extLst>
  </p:cSld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AAAB6E77-77E6-4AF9-A90B-BE834EAC7A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C5298CAD-D124-4468-8BB4-E87F32525A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E5A4577A-CD31-496C-AA5D-095EA2F184CF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Notebook 02</a:t>
            </a:r>
          </a:p>
        </p:txBody>
      </p:sp>
      <p:sp>
        <p:nvSpPr>
          <p:cNvPr id="5" name="">
            <a:extLst>
              <a:ext uri="{FF2B5EF4-FFF2-40B4-BE49-F238E27FC236}">
                <a16:creationId id="{87C38C71-8A49-4380-97F0-3A5BDECF82E4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C9B69212-26FC-459F-8528-25B55E7A5DAB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Notebook 02</a:t>
            </a:r>
          </a:p>
        </p:txBody>
      </p:sp>
      <p:sp>
        <p:nvSpPr>
          <p:cNvPr id="7" name="">
            <a:extLst>
              <a:ext uri="{FF2B5EF4-FFF2-40B4-BE49-F238E27FC236}">
                <a16:creationId id="{858FD7A0-C3D9-43B9-9DC3-443F82FB9BB9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 benchmark turns model outputs into evidence.</a:t>
            </a:r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7dee77296ecc4901"/>
          <a:stretch/>
        </p:blipFill>
        <p:spPr>
          <a:xfrm>
            <a:off x="1713406" y="2095500"/>
            <a:ext cx="8422287" cy="3429000"/>
          </a:xfrm>
          <a:prstGeom prst="rect">
            <a:avLst/>
          </a:prstGeom>
        </p:spPr>
      </p:pic>
    </p:spTree>
    <p:extLst>
      <p:ext uri="{BB962C8B-B14F-4D97-AF65-F5344CB8AC3E}">
        <p14:creationId val="272957893"/>
      </p:ext>
    </p:extLst>
  </p:cSld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01804DCB-040D-4B2F-9695-964C850DED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24004DFA-A506-4645-9B1C-282751C4C8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85A92021-B2F5-4072-B988-6BC27D75B40E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Notebook 02</a:t>
            </a:r>
          </a:p>
        </p:txBody>
      </p:sp>
      <p:sp>
        <p:nvSpPr>
          <p:cNvPr id="5" name="">
            <a:extLst>
              <a:ext uri="{FF2B5EF4-FFF2-40B4-BE49-F238E27FC236}">
                <a16:creationId id="{BF50B2B1-36AA-414F-B685-FA747FC4B1D8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802AFACD-64EE-45DB-B451-A0EF5738C59A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A useful failure mode</a:t>
            </a:r>
          </a:p>
        </p:txBody>
      </p:sp>
      <p:sp>
        <p:nvSpPr>
          <p:cNvPr id="7" name="">
            <a:extLst>
              <a:ext uri="{FF2B5EF4-FFF2-40B4-BE49-F238E27FC236}">
                <a16:creationId id="{F5AC885E-90D8-4247-8F9A-CF840AB07F88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In the saved workshop run, visual plausibility did not imply feasibility or performance.</a:t>
            </a:r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01c491f5fa5d49a9"/>
          <a:stretch/>
        </p:blipFill>
        <p:spPr>
          <a:xfrm>
            <a:off x="1333500" y="1981200"/>
            <a:ext cx="3810000" cy="3810000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>
          <a:blip r:embed="Rc81248044b2643ea"/>
          <a:stretch/>
        </p:blipFill>
        <p:spPr>
          <a:xfrm>
            <a:off x="6191250" y="2389414"/>
            <a:ext cx="4572000" cy="2612571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a16:creationId id="{709FBE1E-768C-4485-9AB3-4C1E8C2F60DA}"/>
              </a:ext>
            </a:extLst>
          </p:cNvPr>
          <p:cNvSpPr>
            <a:spLocks noGrp="1"/>
          </p:cNvSpPr>
          <p:nvPr/>
        </p:nvSpPr>
        <p:spPr>
          <a:xfrm>
            <a:off x="1638300" y="5810250"/>
            <a:ext cx="891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This is the point of the workshop: engineering validity is measured, not assumed.</a:t>
            </a:r>
          </a:p>
        </p:txBody>
      </p:sp>
    </p:spTree>
    <p:extLst>
      <p:ext uri="{BB962C8B-B14F-4D97-AF65-F5344CB8AC3E}">
        <p14:creationId val="287582205"/>
      </p:ext>
    </p:extLst>
  </p:cSld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EE77ABF3-51C2-44B0-8BC2-2FD9380B6B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55156684-B334-4E63-ACD5-0243C4D02B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73CED2D9-FB87-4CCE-AF96-7D15A64DEFA8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Notebook 02</a:t>
            </a:r>
          </a:p>
        </p:txBody>
      </p:sp>
      <p:sp>
        <p:nvSpPr>
          <p:cNvPr id="5" name="">
            <a:extLst>
              <a:ext uri="{FF2B5EF4-FFF2-40B4-BE49-F238E27FC236}">
                <a16:creationId id="{AD99EAFC-1E28-46FD-A7E6-8BD3897499F9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95BE308E-38EA-4344-8520-66090BEEE6D7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Warm-starting</a:t>
            </a:r>
          </a:p>
        </p:txBody>
      </p:sp>
      <p:sp>
        <p:nvSpPr>
          <p:cNvPr id="7" name="">
            <a:extLst>
              <a:ext uri="{FF2B5EF4-FFF2-40B4-BE49-F238E27FC236}">
                <a16:creationId id="{4E8100AB-3904-477E-B2CC-AA7F1BAB5247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 generator can still be useful if it gives the optimizer a better starting point.</a:t>
            </a:r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132e75a55a5840f1"/>
          <a:stretch/>
        </p:blipFill>
        <p:spPr>
          <a:xfrm>
            <a:off x="2184143" y="1885950"/>
            <a:ext cx="7709413" cy="3810000"/>
          </a:xfrm>
          <a:prstGeom prst="rect">
            <a:avLst/>
          </a:prstGeom>
        </p:spPr>
      </p:pic>
    </p:spTree>
    <p:extLst>
      <p:ext uri="{BB962C8B-B14F-4D97-AF65-F5344CB8AC3E}">
        <p14:creationId val="165660550"/>
      </p:ext>
    </p:extLst>
  </p:cSld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B068ADA0-19EC-477E-A47A-E16F2BBEC0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9225AF61-C329-4DA6-A3C4-0986DA1ECB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A2601F08-E924-4614-B451-3940EC9DFF41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5" name="">
            <a:extLst>
              <a:ext uri="{FF2B5EF4-FFF2-40B4-BE49-F238E27FC236}">
                <a16:creationId id="{5A92D53E-9605-4275-8DCE-417680EDA06A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399B56DD-E21B-4512-B7B7-F9B90FEB0BC6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7" name="">
            <a:extLst>
              <a:ext uri="{FF2B5EF4-FFF2-40B4-BE49-F238E27FC236}">
                <a16:creationId id="{9B9187E7-32ED-408A-AC08-897B9B3089F7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Which metric would change the conclusion in your design domain?</a:t>
            </a:r>
          </a:p>
        </p:txBody>
      </p:sp>
      <p:sp>
        <p:nvSpPr>
          <p:cNvPr id="8" name="">
            <a:extLst>
              <a:ext uri="{FF2B5EF4-FFF2-40B4-BE49-F238E27FC236}">
                <a16:creationId id="{B657FEBD-C332-40F8-BFFB-999705F517D7}"/>
              </a:ext>
            </a:extLst>
          </p:cNvPr>
          <p:cNvSpPr>
            <a:spLocks noGrp="1"/>
          </p:cNvSpPr>
          <p:nvPr/>
        </p:nvSpPr>
        <p:spPr>
          <a:xfrm>
            <a:off x="809625" y="2781300"/>
            <a:ext cx="1714500" cy="400050"/>
          </a:xfrm>
          <a:prstGeom prst="rect">
            <a:avLst/>
          </a:prstGeom>
          <a:solidFill>
            <a:srgbClr val="DDEDE6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a16:creationId id="{192E29E8-FFB3-470C-8C5A-37AD0972F82A}"/>
              </a:ext>
            </a:extLst>
          </p:cNvPr>
          <p:cNvSpPr>
            <a:spLocks noGrp="1"/>
          </p:cNvSpPr>
          <p:nvPr/>
        </p:nvSpPr>
        <p:spPr>
          <a:xfrm>
            <a:off x="923925" y="288607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F7D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D62"/>
                </a:solidFill>
                <a:latin typeface="Aptos"/>
                <a:ea typeface="Aptos"/>
                <a:cs typeface="Aptos"/>
              </a:rPr>
              <a:t>Feasibility</a:t>
            </a:r>
          </a:p>
        </p:txBody>
      </p:sp>
      <p:sp>
        <p:nvSpPr>
          <p:cNvPr id="10" name="">
            <a:extLst>
              <a:ext uri="{FF2B5EF4-FFF2-40B4-BE49-F238E27FC236}">
                <a16:creationId id="{370B873A-35C2-42C9-9161-8B8664B0FDFF}"/>
              </a:ext>
            </a:extLst>
          </p:cNvPr>
          <p:cNvSpPr>
            <a:spLocks noGrp="1"/>
          </p:cNvSpPr>
          <p:nvPr/>
        </p:nvSpPr>
        <p:spPr>
          <a:xfrm>
            <a:off x="3000375" y="2781300"/>
            <a:ext cx="1714500" cy="400050"/>
          </a:xfrm>
          <a:prstGeom prst="rect">
            <a:avLst/>
          </a:prstGeom>
          <a:solidFill>
            <a:srgbClr val="F7D9D4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a16:creationId id="{4D32D903-9EFB-40F7-8A9D-73197837DAB9}"/>
              </a:ext>
            </a:extLst>
          </p:cNvPr>
          <p:cNvSpPr>
            <a:spLocks noGrp="1"/>
          </p:cNvSpPr>
          <p:nvPr/>
        </p:nvSpPr>
        <p:spPr>
          <a:xfrm>
            <a:off x="3114675" y="288607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C848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837"/>
                </a:solidFill>
                <a:latin typeface="Aptos"/>
                <a:ea typeface="Aptos"/>
                <a:cs typeface="Aptos"/>
              </a:rPr>
              <a:t>Objective gap</a:t>
            </a:r>
          </a:p>
        </p:txBody>
      </p:sp>
      <p:sp>
        <p:nvSpPr>
          <p:cNvPr id="12" name="">
            <a:extLst>
              <a:ext uri="{FF2B5EF4-FFF2-40B4-BE49-F238E27FC236}">
                <a16:creationId id="{D2843B77-E26F-4D16-83AB-814BB6D3834D}"/>
              </a:ext>
            </a:extLst>
          </p:cNvPr>
          <p:cNvSpPr>
            <a:spLocks noGrp="1"/>
          </p:cNvSpPr>
          <p:nvPr/>
        </p:nvSpPr>
        <p:spPr>
          <a:xfrm>
            <a:off x="5191125" y="2781300"/>
            <a:ext cx="1714500" cy="400050"/>
          </a:xfrm>
          <a:prstGeom prst="rect">
            <a:avLst/>
          </a:prstGeom>
          <a:solidFill>
            <a:srgbClr val="D7E8F6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a16:creationId id="{79E1F826-C653-4EC5-88A2-D88058DDAF62}"/>
              </a:ext>
            </a:extLst>
          </p:cNvPr>
          <p:cNvSpPr>
            <a:spLocks noGrp="1"/>
          </p:cNvSpPr>
          <p:nvPr/>
        </p:nvSpPr>
        <p:spPr>
          <a:xfrm>
            <a:off x="5305425" y="288607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Diversity</a:t>
            </a:r>
          </a:p>
        </p:txBody>
      </p:sp>
      <p:sp>
        <p:nvSpPr>
          <p:cNvPr id="14" name="">
            <a:extLst>
              <a:ext uri="{FF2B5EF4-FFF2-40B4-BE49-F238E27FC236}">
                <a16:creationId id="{EBFBD51E-E28F-4AD9-AAF7-59C12F6B2C30}"/>
              </a:ext>
            </a:extLst>
          </p:cNvPr>
          <p:cNvSpPr>
            <a:spLocks noGrp="1"/>
          </p:cNvSpPr>
          <p:nvPr/>
        </p:nvSpPr>
        <p:spPr>
          <a:xfrm>
            <a:off x="7381875" y="2781300"/>
            <a:ext cx="1714500" cy="400050"/>
          </a:xfrm>
          <a:prstGeom prst="rect">
            <a:avLst/>
          </a:prstGeom>
          <a:solidFill>
            <a:srgbClr val="F6E3C7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a16:creationId id="{9145C545-CF3A-4469-A7B6-672D6BC45907}"/>
              </a:ext>
            </a:extLst>
          </p:cNvPr>
          <p:cNvSpPr>
            <a:spLocks noGrp="1"/>
          </p:cNvSpPr>
          <p:nvPr/>
        </p:nvSpPr>
        <p:spPr>
          <a:xfrm>
            <a:off x="7496175" y="288607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C47B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47B20"/>
                </a:solidFill>
                <a:latin typeface="Aptos"/>
                <a:ea typeface="Aptos"/>
                <a:cs typeface="Aptos"/>
              </a:rPr>
              <a:t>Novelty</a:t>
            </a:r>
          </a:p>
        </p:txBody>
      </p:sp>
      <p:sp>
        <p:nvSpPr>
          <p:cNvPr id="16" name="">
            <a:extLst>
              <a:ext uri="{FF2B5EF4-FFF2-40B4-BE49-F238E27FC236}">
                <a16:creationId id="{737776DD-8917-4A1A-A080-0B56AE2DD069}"/>
              </a:ext>
            </a:extLst>
          </p:cNvPr>
          <p:cNvSpPr>
            <a:spLocks noGrp="1"/>
          </p:cNvSpPr>
          <p:nvPr/>
        </p:nvSpPr>
        <p:spPr>
          <a:xfrm>
            <a:off x="9572625" y="2781300"/>
            <a:ext cx="1714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D3E8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a16:creationId id="{36B76C57-775A-422B-8A05-E9BFAF5AE7B5}"/>
              </a:ext>
            </a:extLst>
          </p:cNvPr>
          <p:cNvSpPr>
            <a:spLocks noGrp="1"/>
          </p:cNvSpPr>
          <p:nvPr/>
        </p:nvSpPr>
        <p:spPr>
          <a:xfrm>
            <a:off x="9686925" y="288607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Warm-start value</a:t>
            </a:r>
          </a:p>
        </p:txBody>
      </p:sp>
      <p:sp>
        <p:nvSpPr>
          <p:cNvPr id="18" name="">
            <a:extLst>
              <a:ext uri="{FF2B5EF4-FFF2-40B4-BE49-F238E27FC236}">
                <a16:creationId id="{17627A97-DD43-4761-80A4-1F7799A3F727}"/>
              </a:ext>
            </a:extLst>
          </p:cNvPr>
          <p:cNvSpPr>
            <a:spLocks noGrp="1"/>
          </p:cNvSpPr>
          <p:nvPr/>
        </p:nvSpPr>
        <p:spPr>
          <a:xfrm>
            <a:off x="1524000" y="4705350"/>
            <a:ext cx="9144000" cy="876300"/>
          </a:xfrm>
          <a:prstGeom prst="rect">
            <a:avLst/>
          </a:prstGeom>
          <a:solidFill>
            <a:srgbClr val="225E9B"/>
          </a:solidFill>
          <a:ln w="9525">
            <a:solidFill>
              <a:srgbClr val="225E9B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a16:creationId id="{3CCE61CF-E553-4D35-9350-B541CB1F8E54}"/>
              </a:ext>
            </a:extLst>
          </p:cNvPr>
          <p:cNvSpPr>
            <a:spLocks noGrp="1"/>
          </p:cNvSpPr>
          <p:nvPr/>
        </p:nvSpPr>
        <p:spPr>
          <a:xfrm>
            <a:off x="2076450" y="4953000"/>
            <a:ext cx="8039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 your field, what would make a generated design scientifically convincing?</a:t>
            </a:r>
          </a:p>
        </p:txBody>
      </p:sp>
    </p:spTree>
    <p:extLst>
      <p:ext uri="{BB962C8B-B14F-4D97-AF65-F5344CB8AC3E}">
        <p14:creationId val="871514453"/>
      </p:ext>
    </p:extLst>
  </p:cSld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254607BB-02F5-4AF4-95E7-53FDAEFF85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092F8983-61DE-4F79-ACE1-B202AC451415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FE3F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FE3F3"/>
                </a:solidFill>
                <a:latin typeface="Aptos"/>
                <a:ea typeface="Aptos"/>
                <a:cs typeface="Aptos"/>
              </a:rPr>
              <a:t>Notebook 03</a:t>
            </a:r>
          </a:p>
        </p:txBody>
      </p:sp>
      <p:sp>
        <p:nvSpPr>
          <p:cNvPr id="4" name="">
            <a:extLst>
              <a:ext uri="{FF2B5EF4-FFF2-40B4-BE49-F238E27FC236}">
                <a16:creationId id="{6C9EDAF6-1572-436B-8854-0FEAF9C0D630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FE3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E3F3"/>
                </a:solidFill>
                <a:latin typeface="Aptos"/>
                <a:ea typeface="Aptos"/>
                <a:cs typeface="Aptos"/>
              </a:rPr>
              <a:t>03_writing_your_own_problem.ipynb</a:t>
            </a:r>
          </a:p>
        </p:txBody>
      </p:sp>
      <p:sp>
        <p:nvSpPr>
          <p:cNvPr id="5" name="">
            <a:extLst>
              <a:ext uri="{FF2B5EF4-FFF2-40B4-BE49-F238E27FC236}">
                <a16:creationId id="{578FE8E3-EB04-4AFC-B1FD-51776D332A9B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239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Write your own design problem behind the same interface.</a:t>
            </a:r>
          </a:p>
        </p:txBody>
      </p:sp>
      <p:sp>
        <p:nvSpPr>
          <p:cNvPr id="6" name="">
            <a:extLst>
              <a:ext uri="{FF2B5EF4-FFF2-40B4-BE49-F238E27FC236}">
                <a16:creationId id="{871D4176-1431-4E64-A756-C9232600F7CA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690562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You will wrap a tiny physics problem, then use it exactly like Beams2D.</a:t>
            </a:r>
          </a:p>
        </p:txBody>
      </p:sp>
      <p:sp>
        <p:nvSpPr>
          <p:cNvPr id="7" name="">
            <a:extLst>
              <a:ext uri="{FF2B5EF4-FFF2-40B4-BE49-F238E27FC236}">
                <a16:creationId id="{075DBD5D-73BC-4331-8BA1-0A8F4A5CE936}"/>
              </a:ext>
            </a:extLst>
          </p:cNvPr>
          <p:cNvSpPr>
            <a:spLocks noGrp="1"/>
          </p:cNvSpPr>
          <p:nvPr/>
        </p:nvSpPr>
        <p:spPr>
          <a:xfrm>
            <a:off x="8191500" y="990600"/>
            <a:ext cx="3124200" cy="4438650"/>
          </a:xfrm>
          <a:prstGeom prst="rect">
            <a:avLst/>
          </a:prstGeom>
          <a:solidFill>
            <a:srgbClr val="FFFFFF">
              <a:alpha val="8235"/>
            </a:srgbClr>
          </a:solidFill>
          <a:ln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a16:creationId id="{1AC38042-2EF7-4E53-90C0-E3CA6F5D7DC5}"/>
              </a:ext>
            </a:extLst>
          </p:cNvPr>
          <p:cNvSpPr>
            <a:spLocks noGrp="1"/>
          </p:cNvSpPr>
          <p:nvPr/>
        </p:nvSpPr>
        <p:spPr>
          <a:xfrm>
            <a:off x="8515350" y="13335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You should leave with</a:t>
            </a:r>
          </a:p>
        </p:txBody>
      </p:sp>
      <p:sp>
        <p:nvSpPr>
          <p:cNvPr id="9" name="">
            <a:extLst>
              <a:ext uri="{FF2B5EF4-FFF2-40B4-BE49-F238E27FC236}">
                <a16:creationId id="{D8F3BABF-4371-4360-94FC-7ECDF922E772}"/>
              </a:ext>
            </a:extLst>
          </p:cNvPr>
          <p:cNvSpPr>
            <a:spLocks noGrp="1"/>
          </p:cNvSpPr>
          <p:nvPr/>
        </p:nvSpPr>
        <p:spPr>
          <a:xfrm>
            <a:off x="8534400" y="18478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a16:creationId id="{ED66D9E7-358D-4D5E-B6D1-15A808A11577}"/>
              </a:ext>
            </a:extLst>
          </p:cNvPr>
          <p:cNvSpPr>
            <a:spLocks noGrp="1"/>
          </p:cNvSpPr>
          <p:nvPr/>
        </p:nvSpPr>
        <p:spPr>
          <a:xfrm>
            <a:off x="8782050" y="1752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design space</a:t>
            </a:r>
          </a:p>
        </p:txBody>
      </p:sp>
      <p:sp>
        <p:nvSpPr>
          <p:cNvPr id="11" name="">
            <a:extLst>
              <a:ext uri="{FF2B5EF4-FFF2-40B4-BE49-F238E27FC236}">
                <a16:creationId id="{B2B0B4D4-77A0-4434-BCCF-43EBDF8B8F27}"/>
              </a:ext>
            </a:extLst>
          </p:cNvPr>
          <p:cNvSpPr>
            <a:spLocks noGrp="1"/>
          </p:cNvSpPr>
          <p:nvPr/>
        </p:nvSpPr>
        <p:spPr>
          <a:xfrm>
            <a:off x="8534400" y="23050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a16:creationId id="{112BDC99-78F1-467B-82A7-F5E4CA52C50D}"/>
              </a:ext>
            </a:extLst>
          </p:cNvPr>
          <p:cNvSpPr>
            <a:spLocks noGrp="1"/>
          </p:cNvSpPr>
          <p:nvPr/>
        </p:nvSpPr>
        <p:spPr>
          <a:xfrm>
            <a:off x="8782050" y="22098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conditions</a:t>
            </a:r>
          </a:p>
        </p:txBody>
      </p:sp>
      <p:sp>
        <p:nvSpPr>
          <p:cNvPr id="13" name="">
            <a:extLst>
              <a:ext uri="{FF2B5EF4-FFF2-40B4-BE49-F238E27FC236}">
                <a16:creationId id="{D15EE8E7-F63D-458A-A2B3-A71CD6487BB9}"/>
              </a:ext>
            </a:extLst>
          </p:cNvPr>
          <p:cNvSpPr>
            <a:spLocks noGrp="1"/>
          </p:cNvSpPr>
          <p:nvPr/>
        </p:nvSpPr>
        <p:spPr>
          <a:xfrm>
            <a:off x="8534400" y="27622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a16:creationId id="{8AB75F48-A6D4-4F67-9D2E-48F1658044C2}"/>
              </a:ext>
            </a:extLst>
          </p:cNvPr>
          <p:cNvSpPr>
            <a:spLocks noGrp="1"/>
          </p:cNvSpPr>
          <p:nvPr/>
        </p:nvSpPr>
        <p:spPr>
          <a:xfrm>
            <a:off x="8782050" y="26670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15" name="">
            <a:extLst>
              <a:ext uri="{FF2B5EF4-FFF2-40B4-BE49-F238E27FC236}">
                <a16:creationId id="{9D213DEF-7F61-4E53-98E4-73CEA5905FC8}"/>
              </a:ext>
            </a:extLst>
          </p:cNvPr>
          <p:cNvSpPr>
            <a:spLocks noGrp="1"/>
          </p:cNvSpPr>
          <p:nvPr/>
        </p:nvSpPr>
        <p:spPr>
          <a:xfrm>
            <a:off x="8534400" y="32194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a16:creationId id="{3F40DE5D-6E2F-49EF-88D5-5F799BA369F7}"/>
              </a:ext>
            </a:extLst>
          </p:cNvPr>
          <p:cNvSpPr>
            <a:spLocks noGrp="1"/>
          </p:cNvSpPr>
          <p:nvPr/>
        </p:nvSpPr>
        <p:spPr>
          <a:xfrm>
            <a:off x="8782050" y="31242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17" name="">
            <a:extLst>
              <a:ext uri="{FF2B5EF4-FFF2-40B4-BE49-F238E27FC236}">
                <a16:creationId id="{853D1390-F4AD-4ABF-B76D-78BE36AFE56F}"/>
              </a:ext>
            </a:extLst>
          </p:cNvPr>
          <p:cNvSpPr>
            <a:spLocks noGrp="1"/>
          </p:cNvSpPr>
          <p:nvPr/>
        </p:nvSpPr>
        <p:spPr>
          <a:xfrm>
            <a:off x="8534400" y="36766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a16:creationId id="{8AC73E56-CCAB-49B0-B0A0-36E2C373FD50}"/>
              </a:ext>
            </a:extLst>
          </p:cNvPr>
          <p:cNvSpPr>
            <a:spLocks noGrp="1"/>
          </p:cNvSpPr>
          <p:nvPr/>
        </p:nvSpPr>
        <p:spPr>
          <a:xfrm>
            <a:off x="8782050" y="35814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simulate</a:t>
            </a:r>
          </a:p>
        </p:txBody>
      </p:sp>
      <p:sp>
        <p:nvSpPr>
          <p:cNvPr id="19" name="">
            <a:extLst>
              <a:ext uri="{FF2B5EF4-FFF2-40B4-BE49-F238E27FC236}">
                <a16:creationId id="{D9A831F9-BF2B-47F6-B35A-DC6F9C820725}"/>
              </a:ext>
            </a:extLst>
          </p:cNvPr>
          <p:cNvSpPr>
            <a:spLocks noGrp="1"/>
          </p:cNvSpPr>
          <p:nvPr/>
        </p:nvSpPr>
        <p:spPr>
          <a:xfrm>
            <a:off x="8534400" y="41338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a16:creationId id="{FCC064E2-1393-403D-9B64-467CA25A90D1}"/>
              </a:ext>
            </a:extLst>
          </p:cNvPr>
          <p:cNvSpPr>
            <a:spLocks noGrp="1"/>
          </p:cNvSpPr>
          <p:nvPr/>
        </p:nvSpPr>
        <p:spPr>
          <a:xfrm>
            <a:off x="8782050" y="4038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optimize</a:t>
            </a:r>
          </a:p>
        </p:txBody>
      </p:sp>
      <p:sp>
        <p:nvSpPr>
          <p:cNvPr id="21" name="">
            <a:extLst>
              <a:ext uri="{FF2B5EF4-FFF2-40B4-BE49-F238E27FC236}">
                <a16:creationId id="{3A411604-CE46-42DF-8319-F99DDA8DA579}"/>
              </a:ext>
            </a:extLst>
          </p:cNvPr>
          <p:cNvSpPr>
            <a:spLocks noGrp="1"/>
          </p:cNvSpPr>
          <p:nvPr/>
        </p:nvSpPr>
        <p:spPr>
          <a:xfrm>
            <a:off x="8534400" y="4591050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a16:creationId id="{E3738B7D-4E40-4DD6-96B0-EBBE32EFCD2F}"/>
              </a:ext>
            </a:extLst>
          </p:cNvPr>
          <p:cNvSpPr>
            <a:spLocks noGrp="1"/>
          </p:cNvSpPr>
          <p:nvPr/>
        </p:nvSpPr>
        <p:spPr>
          <a:xfrm>
            <a:off x="8782050" y="44958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</p:spTree>
    <p:extLst>
      <p:ext uri="{BB962C8B-B14F-4D97-AF65-F5344CB8AC3E}">
        <p14:creationId val="1883559827"/>
      </p:ext>
    </p:extLst>
  </p:cSld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E36CF910-D833-4331-AF33-5D8AF3B4D5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CE1CBFFA-45A0-4F6E-9066-632155168E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886D4C67-349D-47DA-9E2D-228B737A42C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Notebook 03</a:t>
            </a:r>
          </a:p>
        </p:txBody>
      </p:sp>
      <p:sp>
        <p:nvSpPr>
          <p:cNvPr id="5" name="">
            <a:extLst>
              <a:ext uri="{FF2B5EF4-FFF2-40B4-BE49-F238E27FC236}">
                <a16:creationId id="{E7304774-41FE-4A37-892E-82FB880E336B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2BB5A6D9-3CD0-4DA1-9CBC-C86829499B63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Notebook 03 anchor</a:t>
            </a:r>
          </a:p>
        </p:txBody>
      </p:sp>
      <p:sp>
        <p:nvSpPr>
          <p:cNvPr id="7" name="">
            <a:extLst>
              <a:ext uri="{FF2B5EF4-FFF2-40B4-BE49-F238E27FC236}">
                <a16:creationId id="{2C6630EF-FFC3-47DA-84F8-6E5E1B085B0F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example problem is small on purpose: a cantilever beam with real engineering checks.</a:t>
            </a:r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82943a78cca544ba"/>
          <a:stretch/>
        </p:blipFill>
        <p:spPr>
          <a:xfrm>
            <a:off x="666750" y="1940411"/>
            <a:ext cx="10572750" cy="3891578"/>
          </a:xfrm>
          <a:prstGeom prst="rect">
            <a:avLst/>
          </a:prstGeom>
        </p:spPr>
      </p:pic>
    </p:spTree>
    <p:extLst>
      <p:ext uri="{BB962C8B-B14F-4D97-AF65-F5344CB8AC3E}">
        <p14:creationId val="255192472"/>
      </p:ext>
    </p:extLst>
  </p:cSld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3F81823B-2186-4879-9E57-47297F58D8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28F75391-2DEB-45A2-ABC5-4A82AA1A49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43E9D97A-EBCC-4623-B7ED-932F2D06FE40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Notebook 03</a:t>
            </a:r>
          </a:p>
        </p:txBody>
      </p:sp>
      <p:sp>
        <p:nvSpPr>
          <p:cNvPr id="5" name="">
            <a:extLst>
              <a:ext uri="{FF2B5EF4-FFF2-40B4-BE49-F238E27FC236}">
                <a16:creationId id="{CEF47260-3669-4F3E-8A0B-E062A1BCF5F3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C5532D8F-EB14-478D-A508-6B31DE449422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Your implementation checklist</a:t>
            </a:r>
          </a:p>
        </p:txBody>
      </p:sp>
      <p:sp>
        <p:nvSpPr>
          <p:cNvPr id="7" name="">
            <a:extLst>
              <a:ext uri="{FF2B5EF4-FFF2-40B4-BE49-F238E27FC236}">
                <a16:creationId id="{C9E9378E-213B-4BCB-8B71-08846A5A8CDB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 reusable problem needs a small set of explicit promises.</a:t>
            </a:r>
          </a:p>
        </p:txBody>
      </p:sp>
      <p:sp>
        <p:nvSpPr>
          <p:cNvPr id="8" name="">
            <a:extLst>
              <a:ext uri="{FF2B5EF4-FFF2-40B4-BE49-F238E27FC236}">
                <a16:creationId id="{6CE1413F-3DE9-406C-8D3B-BA77C9DF329F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428625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a16:creationId id="{E53F6AE7-62D8-44A2-81CA-839278D9AD85}"/>
              </a:ext>
            </a:extLst>
          </p:cNvPr>
          <p:cNvSpPr>
            <a:spLocks noGrp="1"/>
          </p:cNvSpPr>
          <p:nvPr/>
        </p:nvSpPr>
        <p:spPr>
          <a:xfrm>
            <a:off x="1238250" y="21717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design_space</a:t>
            </a:r>
          </a:p>
        </p:txBody>
      </p:sp>
      <p:sp>
        <p:nvSpPr>
          <p:cNvPr id="10" name="">
            <a:extLst>
              <a:ext uri="{FF2B5EF4-FFF2-40B4-BE49-F238E27FC236}">
                <a16:creationId id="{805DF3F2-D0C4-4185-BDA5-6F62001823C4}"/>
              </a:ext>
            </a:extLst>
          </p:cNvPr>
          <p:cNvSpPr>
            <a:spLocks noGrp="1"/>
          </p:cNvSpPr>
          <p:nvPr/>
        </p:nvSpPr>
        <p:spPr>
          <a:xfrm>
            <a:off x="1238250" y="2533650"/>
            <a:ext cx="3905250" cy="-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What values may the design take?</a:t>
            </a:r>
          </a:p>
        </p:txBody>
      </p:sp>
      <p:sp>
        <p:nvSpPr>
          <p:cNvPr id="11" name="">
            <a:extLst>
              <a:ext uri="{FF2B5EF4-FFF2-40B4-BE49-F238E27FC236}">
                <a16:creationId id="{9367DD36-D393-436F-A006-948BF16060B1}"/>
              </a:ext>
            </a:extLst>
          </p:cNvPr>
          <p:cNvSpPr>
            <a:spLocks noGrp="1"/>
          </p:cNvSpPr>
          <p:nvPr/>
        </p:nvSpPr>
        <p:spPr>
          <a:xfrm>
            <a:off x="1047750" y="2838450"/>
            <a:ext cx="428625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a16:creationId id="{3E5A49E9-2E7A-4B4E-8899-A5E9778491C3}"/>
              </a:ext>
            </a:extLst>
          </p:cNvPr>
          <p:cNvSpPr>
            <a:spLocks noGrp="1"/>
          </p:cNvSpPr>
          <p:nvPr/>
        </p:nvSpPr>
        <p:spPr>
          <a:xfrm>
            <a:off x="1238250" y="30099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conditions</a:t>
            </a:r>
          </a:p>
        </p:txBody>
      </p:sp>
      <p:sp>
        <p:nvSpPr>
          <p:cNvPr id="13" name="">
            <a:extLst>
              <a:ext uri="{FF2B5EF4-FFF2-40B4-BE49-F238E27FC236}">
                <a16:creationId id="{9D448729-6EA4-4B15-9C6E-B458692049B0}"/>
              </a:ext>
            </a:extLst>
          </p:cNvPr>
          <p:cNvSpPr>
            <a:spLocks noGrp="1"/>
          </p:cNvSpPr>
          <p:nvPr/>
        </p:nvSpPr>
        <p:spPr>
          <a:xfrm>
            <a:off x="1238250" y="3371850"/>
            <a:ext cx="3905250" cy="-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What scenario must it work under?</a:t>
            </a:r>
          </a:p>
        </p:txBody>
      </p:sp>
      <p:sp>
        <p:nvSpPr>
          <p:cNvPr id="14" name="">
            <a:extLst>
              <a:ext uri="{FF2B5EF4-FFF2-40B4-BE49-F238E27FC236}">
                <a16:creationId id="{96A2B569-C196-4B53-8074-C738ED8A3DD5}"/>
              </a:ext>
            </a:extLst>
          </p:cNvPr>
          <p:cNvSpPr>
            <a:spLocks noGrp="1"/>
          </p:cNvSpPr>
          <p:nvPr/>
        </p:nvSpPr>
        <p:spPr>
          <a:xfrm>
            <a:off x="1047750" y="3676650"/>
            <a:ext cx="428625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a16:creationId id="{969A02A7-2166-4F7C-BE3A-F1FB6CF8B85B}"/>
              </a:ext>
            </a:extLst>
          </p:cNvPr>
          <p:cNvSpPr>
            <a:spLocks noGrp="1"/>
          </p:cNvSpPr>
          <p:nvPr/>
        </p:nvSpPr>
        <p:spPr>
          <a:xfrm>
            <a:off x="1238250" y="38481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16" name="">
            <a:extLst>
              <a:ext uri="{FF2B5EF4-FFF2-40B4-BE49-F238E27FC236}">
                <a16:creationId id="{3008AEE4-190D-48D8-9DF4-D1DE310DE0E0}"/>
              </a:ext>
            </a:extLst>
          </p:cNvPr>
          <p:cNvSpPr>
            <a:spLocks noGrp="1"/>
          </p:cNvSpPr>
          <p:nvPr/>
        </p:nvSpPr>
        <p:spPr>
          <a:xfrm>
            <a:off x="1238250" y="4210050"/>
            <a:ext cx="3905250" cy="-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What should be minimized or maximized?</a:t>
            </a:r>
          </a:p>
        </p:txBody>
      </p:sp>
      <p:sp>
        <p:nvSpPr>
          <p:cNvPr id="17" name="">
            <a:extLst>
              <a:ext uri="{FF2B5EF4-FFF2-40B4-BE49-F238E27FC236}">
                <a16:creationId id="{6D40FB91-7FAA-4B04-B2D2-21F9BAD094EC}"/>
              </a:ext>
            </a:extLst>
          </p:cNvPr>
          <p:cNvSpPr>
            <a:spLocks noGrp="1"/>
          </p:cNvSpPr>
          <p:nvPr/>
        </p:nvSpPr>
        <p:spPr>
          <a:xfrm>
            <a:off x="1047750" y="4514850"/>
            <a:ext cx="428625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a16:creationId id="{329F2176-2A1A-402F-B1AC-4ABAF4932D4E}"/>
              </a:ext>
            </a:extLst>
          </p:cNvPr>
          <p:cNvSpPr>
            <a:spLocks noGrp="1"/>
          </p:cNvSpPr>
          <p:nvPr/>
        </p:nvSpPr>
        <p:spPr>
          <a:xfrm>
            <a:off x="1238250" y="46863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check_constraints</a:t>
            </a:r>
          </a:p>
        </p:txBody>
      </p:sp>
      <p:sp>
        <p:nvSpPr>
          <p:cNvPr id="19" name="">
            <a:extLst>
              <a:ext uri="{FF2B5EF4-FFF2-40B4-BE49-F238E27FC236}">
                <a16:creationId id="{F72CE564-01F7-4561-AB67-B21F20F5E15B}"/>
              </a:ext>
            </a:extLst>
          </p:cNvPr>
          <p:cNvSpPr>
            <a:spLocks noGrp="1"/>
          </p:cNvSpPr>
          <p:nvPr/>
        </p:nvSpPr>
        <p:spPr>
          <a:xfrm>
            <a:off x="1238250" y="5048250"/>
            <a:ext cx="3905250" cy="-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When is a candidate invalid?</a:t>
            </a:r>
          </a:p>
        </p:txBody>
      </p:sp>
      <p:sp>
        <p:nvSpPr>
          <p:cNvPr id="20" name="">
            <a:extLst>
              <a:ext uri="{FF2B5EF4-FFF2-40B4-BE49-F238E27FC236}">
                <a16:creationId id="{DAE82AE2-902C-4E3C-AA29-8D475C4E8F65}"/>
              </a:ext>
            </a:extLst>
          </p:cNvPr>
          <p:cNvSpPr>
            <a:spLocks noGrp="1"/>
          </p:cNvSpPr>
          <p:nvPr/>
        </p:nvSpPr>
        <p:spPr>
          <a:xfrm>
            <a:off x="6381750" y="2000250"/>
            <a:ext cx="428625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a16:creationId id="{FD052739-B563-4F62-9F4B-F3304E4A6B57}"/>
              </a:ext>
            </a:extLst>
          </p:cNvPr>
          <p:cNvSpPr>
            <a:spLocks noGrp="1"/>
          </p:cNvSpPr>
          <p:nvPr/>
        </p:nvSpPr>
        <p:spPr>
          <a:xfrm>
            <a:off x="6572250" y="21717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7D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62"/>
                </a:solidFill>
                <a:latin typeface="Aptos"/>
                <a:ea typeface="Aptos"/>
                <a:cs typeface="Aptos"/>
              </a:rPr>
              <a:t>simulate</a:t>
            </a:r>
          </a:p>
        </p:txBody>
      </p:sp>
      <p:sp>
        <p:nvSpPr>
          <p:cNvPr id="22" name="">
            <a:extLst>
              <a:ext uri="{FF2B5EF4-FFF2-40B4-BE49-F238E27FC236}">
                <a16:creationId id="{21187414-EA2A-4203-BFD8-90654451AA61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3905250" cy="-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How do we score a candidate?</a:t>
            </a:r>
          </a:p>
        </p:txBody>
      </p:sp>
      <p:sp>
        <p:nvSpPr>
          <p:cNvPr id="23" name="">
            <a:extLst>
              <a:ext uri="{FF2B5EF4-FFF2-40B4-BE49-F238E27FC236}">
                <a16:creationId id="{5E9006C8-E7F5-495B-BEDC-1339EC56E376}"/>
              </a:ext>
            </a:extLst>
          </p:cNvPr>
          <p:cNvSpPr>
            <a:spLocks noGrp="1"/>
          </p:cNvSpPr>
          <p:nvPr/>
        </p:nvSpPr>
        <p:spPr>
          <a:xfrm>
            <a:off x="6381750" y="2838450"/>
            <a:ext cx="428625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a16:creationId id="{8079EFCB-7797-492C-9158-AFBCFA6FFAA8}"/>
              </a:ext>
            </a:extLst>
          </p:cNvPr>
          <p:cNvSpPr>
            <a:spLocks noGrp="1"/>
          </p:cNvSpPr>
          <p:nvPr/>
        </p:nvSpPr>
        <p:spPr>
          <a:xfrm>
            <a:off x="6572250" y="30099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7D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62"/>
                </a:solidFill>
                <a:latin typeface="Aptos"/>
                <a:ea typeface="Aptos"/>
                <a:cs typeface="Aptos"/>
              </a:rPr>
              <a:t>optimize</a:t>
            </a:r>
          </a:p>
        </p:txBody>
      </p:sp>
      <p:sp>
        <p:nvSpPr>
          <p:cNvPr id="25" name="">
            <a:extLst>
              <a:ext uri="{FF2B5EF4-FFF2-40B4-BE49-F238E27FC236}">
                <a16:creationId id="{6D7A24B8-A197-4777-ABC4-0F7C3AF1AC0C}"/>
              </a:ext>
            </a:extLst>
          </p:cNvPr>
          <p:cNvSpPr>
            <a:spLocks noGrp="1"/>
          </p:cNvSpPr>
          <p:nvPr/>
        </p:nvSpPr>
        <p:spPr>
          <a:xfrm>
            <a:off x="6572250" y="3371850"/>
            <a:ext cx="3905250" cy="-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What classical baseline should we compare with?</a:t>
            </a:r>
          </a:p>
        </p:txBody>
      </p:sp>
      <p:sp>
        <p:nvSpPr>
          <p:cNvPr id="26" name="">
            <a:extLst>
              <a:ext uri="{FF2B5EF4-FFF2-40B4-BE49-F238E27FC236}">
                <a16:creationId id="{658F703F-6A5B-47C0-85C4-4C271FD94D87}"/>
              </a:ext>
            </a:extLst>
          </p:cNvPr>
          <p:cNvSpPr>
            <a:spLocks noGrp="1"/>
          </p:cNvSpPr>
          <p:nvPr/>
        </p:nvSpPr>
        <p:spPr>
          <a:xfrm>
            <a:off x="6381750" y="3676650"/>
            <a:ext cx="428625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a16:creationId id="{71DFBD9E-14C3-4939-96D2-37C31BB7C5F1}"/>
              </a:ext>
            </a:extLst>
          </p:cNvPr>
          <p:cNvSpPr>
            <a:spLocks noGrp="1"/>
          </p:cNvSpPr>
          <p:nvPr/>
        </p:nvSpPr>
        <p:spPr>
          <a:xfrm>
            <a:off x="6572250" y="38481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F7D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62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  <p:sp>
        <p:nvSpPr>
          <p:cNvPr id="28" name="">
            <a:extLst>
              <a:ext uri="{FF2B5EF4-FFF2-40B4-BE49-F238E27FC236}">
                <a16:creationId id="{746EF362-C759-4425-8986-0D1421442A3F}"/>
              </a:ext>
            </a:extLst>
          </p:cNvPr>
          <p:cNvSpPr>
            <a:spLocks noGrp="1"/>
          </p:cNvSpPr>
          <p:nvPr/>
        </p:nvSpPr>
        <p:spPr>
          <a:xfrm>
            <a:off x="6572250" y="4210050"/>
            <a:ext cx="3905250" cy="-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Can humans inspect the design?</a:t>
            </a:r>
          </a:p>
        </p:txBody>
      </p:sp>
    </p:spTree>
    <p:extLst>
      <p:ext uri="{BB962C8B-B14F-4D97-AF65-F5344CB8AC3E}">
        <p14:creationId val="1339982688"/>
      </p:ext>
    </p:extLst>
  </p:cSld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2645770C-FBDD-4293-AE57-21102421A6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2D1C1AC4-5161-496D-A41A-A1ABCFBC5A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C40FEFCA-8C03-4DBC-8602-C35A4CDB1B94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5" name="">
            <a:extLst>
              <a:ext uri="{FF2B5EF4-FFF2-40B4-BE49-F238E27FC236}">
                <a16:creationId id="{FEF13203-B6A7-4E55-BF07-C9663D0F2DFE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A71B9681-3F22-4BEB-8E20-FCF6C17D76F6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Use this for your own research</a:t>
            </a:r>
          </a:p>
        </p:txBody>
      </p:sp>
      <p:sp>
        <p:nvSpPr>
          <p:cNvPr id="7" name="">
            <a:extLst>
              <a:ext uri="{FF2B5EF4-FFF2-40B4-BE49-F238E27FC236}">
                <a16:creationId id="{9A62BE8A-45CE-48BB-85BD-21D1D8C4CD16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Translate your domain into the benchmark contract.</a:t>
            </a:r>
          </a:p>
        </p:txBody>
      </p:sp>
      <p:sp>
        <p:nvSpPr>
          <p:cNvPr id="8" name="">
            <a:extLst>
              <a:ext uri="{FF2B5EF4-FFF2-40B4-BE49-F238E27FC236}">
                <a16:creationId id="{A569B23C-0A1F-4CDF-90A3-F13B8250DA10}"/>
              </a:ext>
            </a:extLst>
          </p:cNvPr>
          <p:cNvSpPr>
            <a:spLocks noGrp="1"/>
          </p:cNvSpPr>
          <p:nvPr/>
        </p:nvSpPr>
        <p:spPr>
          <a:xfrm>
            <a:off x="971550" y="2095500"/>
            <a:ext cx="4476750" cy="742950"/>
          </a:xfrm>
          <a:prstGeom prst="rect">
            <a:avLst/>
          </a:prstGeom>
          <a:solidFill>
            <a:srgbClr val="D7E8F6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a16:creationId id="{945641A4-936E-45F2-855D-D54B22DAB072}"/>
              </a:ext>
            </a:extLst>
          </p:cNvPr>
          <p:cNvSpPr>
            <a:spLocks noGrp="1"/>
          </p:cNvSpPr>
          <p:nvPr/>
        </p:nvSpPr>
        <p:spPr>
          <a:xfrm>
            <a:off x="1143000" y="22669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>
              <a:ext uri="{FF2B5EF4-FFF2-40B4-BE49-F238E27FC236}">
                <a16:creationId id="{8B92C7EE-A888-4897-9493-786F59CE8E56}"/>
              </a:ext>
            </a:extLst>
          </p:cNvPr>
          <p:cNvSpPr>
            <a:spLocks noGrp="1"/>
          </p:cNvSpPr>
          <p:nvPr/>
        </p:nvSpPr>
        <p:spPr>
          <a:xfrm>
            <a:off x="1638300" y="23241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is the design representation?</a:t>
            </a:r>
          </a:p>
        </p:txBody>
      </p:sp>
      <p:sp>
        <p:nvSpPr>
          <p:cNvPr id="11" name="">
            <a:extLst>
              <a:ext uri="{FF2B5EF4-FFF2-40B4-BE49-F238E27FC236}">
                <a16:creationId id="{83A8D2AA-4274-401F-B624-65470ACA9A0F}"/>
              </a:ext>
            </a:extLst>
          </p:cNvPr>
          <p:cNvSpPr>
            <a:spLocks noGrp="1"/>
          </p:cNvSpPr>
          <p:nvPr/>
        </p:nvSpPr>
        <p:spPr>
          <a:xfrm>
            <a:off x="6115050" y="2095500"/>
            <a:ext cx="4476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a16:creationId id="{A5672BD5-A7E6-43C5-A421-A49249446D27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>
              <a:ext uri="{FF2B5EF4-FFF2-40B4-BE49-F238E27FC236}">
                <a16:creationId id="{1FCDB930-B119-4D41-A20F-997954990F59}"/>
              </a:ext>
            </a:extLst>
          </p:cNvPr>
          <p:cNvSpPr>
            <a:spLocks noGrp="1"/>
          </p:cNvSpPr>
          <p:nvPr/>
        </p:nvSpPr>
        <p:spPr>
          <a:xfrm>
            <a:off x="6781800" y="23241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conditions vary between scenarios?</a:t>
            </a:r>
          </a:p>
        </p:txBody>
      </p:sp>
      <p:sp>
        <p:nvSpPr>
          <p:cNvPr id="14" name="">
            <a:extLst>
              <a:ext uri="{FF2B5EF4-FFF2-40B4-BE49-F238E27FC236}">
                <a16:creationId id="{B05BB713-76D4-4236-991A-D10D7EDD968D}"/>
              </a:ext>
            </a:extLst>
          </p:cNvPr>
          <p:cNvSpPr>
            <a:spLocks noGrp="1"/>
          </p:cNvSpPr>
          <p:nvPr/>
        </p:nvSpPr>
        <p:spPr>
          <a:xfrm>
            <a:off x="971550" y="3200400"/>
            <a:ext cx="4476750" cy="742950"/>
          </a:xfrm>
          <a:prstGeom prst="rect">
            <a:avLst/>
          </a:prstGeom>
          <a:solidFill>
            <a:srgbClr val="D7E8F6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a16:creationId id="{D7820E9F-4AB7-460B-A67D-19E1AE723DCC}"/>
              </a:ext>
            </a:extLst>
          </p:cNvPr>
          <p:cNvSpPr>
            <a:spLocks noGrp="1"/>
          </p:cNvSpPr>
          <p:nvPr/>
        </p:nvSpPr>
        <p:spPr>
          <a:xfrm>
            <a:off x="1143000" y="33718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>
              <a:ext uri="{FF2B5EF4-FFF2-40B4-BE49-F238E27FC236}">
                <a16:creationId id="{C69DA1D1-A2D7-4F6A-896D-AC43CDB5CF37}"/>
              </a:ext>
            </a:extLst>
          </p:cNvPr>
          <p:cNvSpPr>
            <a:spLocks noGrp="1"/>
          </p:cNvSpPr>
          <p:nvPr/>
        </p:nvSpPr>
        <p:spPr>
          <a:xfrm>
            <a:off x="1638300" y="34290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objective would an engineer trust?</a:t>
            </a:r>
          </a:p>
        </p:txBody>
      </p:sp>
      <p:sp>
        <p:nvSpPr>
          <p:cNvPr id="17" name="">
            <a:extLst>
              <a:ext uri="{FF2B5EF4-FFF2-40B4-BE49-F238E27FC236}">
                <a16:creationId id="{9A2C662E-3AC4-4D4D-AE47-194CE1221EE0}"/>
              </a:ext>
            </a:extLst>
          </p:cNvPr>
          <p:cNvSpPr>
            <a:spLocks noGrp="1"/>
          </p:cNvSpPr>
          <p:nvPr/>
        </p:nvSpPr>
        <p:spPr>
          <a:xfrm>
            <a:off x="6115050" y="3200400"/>
            <a:ext cx="4476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a16:creationId id="{4D10EE85-9750-4AE7-AADA-ACF786ED1E77}"/>
              </a:ext>
            </a:extLst>
          </p:cNvPr>
          <p:cNvSpPr>
            <a:spLocks noGrp="1"/>
          </p:cNvSpPr>
          <p:nvPr/>
        </p:nvSpPr>
        <p:spPr>
          <a:xfrm>
            <a:off x="6286500" y="33718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>
              <a:ext uri="{FF2B5EF4-FFF2-40B4-BE49-F238E27FC236}">
                <a16:creationId id="{643C2BA8-5337-494D-89AA-BC4E0AA9524F}"/>
              </a:ext>
            </a:extLst>
          </p:cNvPr>
          <p:cNvSpPr>
            <a:spLocks noGrp="1"/>
          </p:cNvSpPr>
          <p:nvPr/>
        </p:nvSpPr>
        <p:spPr>
          <a:xfrm>
            <a:off x="6781800" y="34290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makes a design invalid?</a:t>
            </a:r>
          </a:p>
        </p:txBody>
      </p:sp>
      <p:sp>
        <p:nvSpPr>
          <p:cNvPr id="20" name="">
            <a:extLst>
              <a:ext uri="{FF2B5EF4-FFF2-40B4-BE49-F238E27FC236}">
                <a16:creationId id="{ECB53027-61ED-43B4-B93D-E926AD91D4EE}"/>
              </a:ext>
            </a:extLst>
          </p:cNvPr>
          <p:cNvSpPr>
            <a:spLocks noGrp="1"/>
          </p:cNvSpPr>
          <p:nvPr/>
        </p:nvSpPr>
        <p:spPr>
          <a:xfrm>
            <a:off x="971550" y="4305300"/>
            <a:ext cx="4476750" cy="742950"/>
          </a:xfrm>
          <a:prstGeom prst="rect">
            <a:avLst/>
          </a:prstGeom>
          <a:solidFill>
            <a:srgbClr val="D7E8F6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a16:creationId id="{E51F6108-34A8-48BF-B4DB-D42F33D1FA1D}"/>
              </a:ext>
            </a:extLst>
          </p:cNvPr>
          <p:cNvSpPr>
            <a:spLocks noGrp="1"/>
          </p:cNvSpPr>
          <p:nvPr/>
        </p:nvSpPr>
        <p:spPr>
          <a:xfrm>
            <a:off x="1143000" y="44767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>
              <a:ext uri="{FF2B5EF4-FFF2-40B4-BE49-F238E27FC236}">
                <a16:creationId id="{1848A5FE-D39B-405A-92F3-058B88009A45}"/>
              </a:ext>
            </a:extLst>
          </p:cNvPr>
          <p:cNvSpPr>
            <a:spLocks noGrp="1"/>
          </p:cNvSpPr>
          <p:nvPr/>
        </p:nvSpPr>
        <p:spPr>
          <a:xfrm>
            <a:off x="1638300" y="45339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baseline would be hard to beat?</a:t>
            </a:r>
          </a:p>
        </p:txBody>
      </p:sp>
      <p:sp>
        <p:nvSpPr>
          <p:cNvPr id="23" name="">
            <a:extLst>
              <a:ext uri="{FF2B5EF4-FFF2-40B4-BE49-F238E27FC236}">
                <a16:creationId id="{5BE0AF6F-EFA8-4CDF-A322-06C8DF801267}"/>
              </a:ext>
            </a:extLst>
          </p:cNvPr>
          <p:cNvSpPr>
            <a:spLocks noGrp="1"/>
          </p:cNvSpPr>
          <p:nvPr/>
        </p:nvSpPr>
        <p:spPr>
          <a:xfrm>
            <a:off x="6115050" y="4305300"/>
            <a:ext cx="4476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a16:creationId id="{20DC6BDD-473C-4CFD-8D3C-7CE3FE6E9D72}"/>
              </a:ext>
            </a:extLst>
          </p:cNvPr>
          <p:cNvSpPr>
            <a:spLocks noGrp="1"/>
          </p:cNvSpPr>
          <p:nvPr/>
        </p:nvSpPr>
        <p:spPr>
          <a:xfrm>
            <a:off x="6286500" y="4476750"/>
            <a:ext cx="342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5" name="">
            <a:extLst>
              <a:ext uri="{FF2B5EF4-FFF2-40B4-BE49-F238E27FC236}">
                <a16:creationId id="{88CB0A6A-EE46-48A8-8612-F9C41A4C2434}"/>
              </a:ext>
            </a:extLst>
          </p:cNvPr>
          <p:cNvSpPr>
            <a:spLocks noGrp="1"/>
          </p:cNvSpPr>
          <p:nvPr/>
        </p:nvSpPr>
        <p:spPr>
          <a:xfrm>
            <a:off x="6781800" y="45339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figure would reveal a bad design instantly?</a:t>
            </a:r>
          </a:p>
        </p:txBody>
      </p:sp>
    </p:spTree>
    <p:extLst>
      <p:ext uri="{BB962C8B-B14F-4D97-AF65-F5344CB8AC3E}">
        <p14:creationId val="1567900986"/>
      </p:ext>
    </p:extLst>
  </p:cSld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86BCFD0E-CBA5-4C02-B4A0-AE72F6D546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2DF1CC06-4734-44FE-9374-1C5DE1FBE8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37198A4C-999C-4913-AFA0-F5B59D38B02A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Workshop logistics</a:t>
            </a:r>
          </a:p>
        </p:txBody>
      </p:sp>
      <p:sp>
        <p:nvSpPr>
          <p:cNvPr id="5" name="">
            <a:extLst>
              <a:ext uri="{FF2B5EF4-FFF2-40B4-BE49-F238E27FC236}">
                <a16:creationId id="{56A396CF-122A-43C5-96F9-D00286056FDF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1380AE6C-CAF5-482B-B5DD-464C13DF84B8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Workshop logistics</a:t>
            </a:r>
          </a:p>
        </p:txBody>
      </p:sp>
      <p:sp>
        <p:nvSpPr>
          <p:cNvPr id="7" name="">
            <a:extLst>
              <a:ext uri="{FF2B5EF4-FFF2-40B4-BE49-F238E27FC236}">
                <a16:creationId id="{87334F60-34DD-4452-829C-96E7B6CC802E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Use the simple notebooks; keep the solution notebooks as facilitator references.</a:t>
            </a:r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6f9a4232dbe347af"/>
          <a:stretch/>
        </p:blipFill>
        <p:spPr>
          <a:xfrm>
            <a:off x="1725238" y="1924050"/>
            <a:ext cx="8741524" cy="2667000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a16:creationId id="{F8E34603-8375-43A6-A11C-6AC05192E6F4}"/>
              </a:ext>
            </a:extLst>
          </p:cNvPr>
          <p:cNvSpPr>
            <a:spLocks noGrp="1"/>
          </p:cNvSpPr>
          <p:nvPr/>
        </p:nvSpPr>
        <p:spPr>
          <a:xfrm>
            <a:off x="1676400" y="5238750"/>
            <a:ext cx="3905250" cy="7048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a16:creationId id="{D511DE3B-5BD5-4593-B1B7-ADBCA8B40571}"/>
              </a:ext>
            </a:extLst>
          </p:cNvPr>
          <p:cNvSpPr>
            <a:spLocks noGrp="1"/>
          </p:cNvSpPr>
          <p:nvPr/>
        </p:nvSpPr>
        <p:spPr>
          <a:xfrm>
            <a:off x="1866900" y="5410200"/>
            <a:ext cx="3524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Participant path</a:t>
            </a:r>
          </a:p>
        </p:txBody>
      </p:sp>
      <p:sp>
        <p:nvSpPr>
          <p:cNvPr id="11" name="">
            <a:extLst>
              <a:ext uri="{FF2B5EF4-FFF2-40B4-BE49-F238E27FC236}">
                <a16:creationId id="{642F1E4F-6E97-4109-9B72-0AF1D8765FDB}"/>
              </a:ext>
            </a:extLst>
          </p:cNvPr>
          <p:cNvSpPr>
            <a:spLocks noGrp="1"/>
          </p:cNvSpPr>
          <p:nvPr/>
        </p:nvSpPr>
        <p:spPr>
          <a:xfrm>
            <a:off x="1866900" y="5772150"/>
            <a:ext cx="352425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Use notebooks in workshops/dcc26/simple/</a:t>
            </a:r>
          </a:p>
        </p:txBody>
      </p:sp>
      <p:sp>
        <p:nvSpPr>
          <p:cNvPr id="12" name="">
            <a:extLst>
              <a:ext uri="{FF2B5EF4-FFF2-40B4-BE49-F238E27FC236}">
                <a16:creationId id="{25F8BDE7-4054-416D-A9D9-C2AB344D1DF3}"/>
              </a:ext>
            </a:extLst>
          </p:cNvPr>
          <p:cNvSpPr>
            <a:spLocks noGrp="1"/>
          </p:cNvSpPr>
          <p:nvPr/>
        </p:nvSpPr>
        <p:spPr>
          <a:xfrm>
            <a:off x="6572250" y="5238750"/>
            <a:ext cx="4095750" cy="7048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a16:creationId id="{AE5FD403-2033-4BE1-828E-FE1676F745B7}"/>
              </a:ext>
            </a:extLst>
          </p:cNvPr>
          <p:cNvSpPr>
            <a:spLocks noGrp="1"/>
          </p:cNvSpPr>
          <p:nvPr/>
        </p:nvSpPr>
        <p:spPr>
          <a:xfrm>
            <a:off x="6762750" y="54102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F7D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7D62"/>
                </a:solidFill>
                <a:latin typeface="Aptos"/>
                <a:ea typeface="Aptos"/>
                <a:cs typeface="Aptos"/>
              </a:rPr>
              <a:t>Facilitator reference</a:t>
            </a:r>
          </a:p>
        </p:txBody>
      </p:sp>
      <p:sp>
        <p:nvSpPr>
          <p:cNvPr id="14" name="">
            <a:extLst>
              <a:ext uri="{FF2B5EF4-FFF2-40B4-BE49-F238E27FC236}">
                <a16:creationId id="{1F606AB4-E166-455B-B7AF-E9211138AF09}"/>
              </a:ext>
            </a:extLst>
          </p:cNvPr>
          <p:cNvSpPr>
            <a:spLocks noGrp="1"/>
          </p:cNvSpPr>
          <p:nvPr/>
        </p:nvSpPr>
        <p:spPr>
          <a:xfrm>
            <a:off x="6762750" y="5772150"/>
            <a:ext cx="371475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Use participant/ and solutions/ only when we need a completed version.</a:t>
            </a:r>
          </a:p>
        </p:txBody>
      </p:sp>
    </p:spTree>
    <p:extLst>
      <p:ext uri="{BB962C8B-B14F-4D97-AF65-F5344CB8AC3E}">
        <p14:creationId val="2134764762"/>
      </p:ext>
    </p:extLst>
  </p:cSld>
</p:sld>
</file>

<file path=ppt/slides/slide2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4EC42FC3-7BCC-4BC1-A4D2-09EC07BB0B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96056D2B-5C27-4A3D-AF9E-ED0B96B809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BC2C4C25-7B6C-4D54-8A76-DDAF6308D0E0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Workshop logistics</a:t>
            </a:r>
          </a:p>
        </p:txBody>
      </p:sp>
      <p:sp>
        <p:nvSpPr>
          <p:cNvPr id="5" name="">
            <a:extLst>
              <a:ext uri="{FF2B5EF4-FFF2-40B4-BE49-F238E27FC236}">
                <a16:creationId id="{4ED25C7C-9076-4AED-8D28-ED63AC8C8C88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D8415CC4-EA72-4EFB-8D9D-695FDEA065CC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When Colab or local runtime is slow</a:t>
            </a:r>
          </a:p>
        </p:txBody>
      </p:sp>
      <p:sp>
        <p:nvSpPr>
          <p:cNvPr id="7" name="">
            <a:extLst>
              <a:ext uri="{FF2B5EF4-FFF2-40B4-BE49-F238E27FC236}">
                <a16:creationId id="{CA3CBE2B-975F-4AC4-A09D-9FE94A70156A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workshop still works if training or optimization takes longer than expected.</a:t>
            </a:r>
          </a:p>
        </p:txBody>
      </p:sp>
      <p:sp>
        <p:nvSpPr>
          <p:cNvPr id="8" name="">
            <a:extLst>
              <a:ext uri="{FF2B5EF4-FFF2-40B4-BE49-F238E27FC236}">
                <a16:creationId id="{D7360AD6-454F-4118-8753-609FBE1BA485}"/>
              </a:ext>
            </a:extLst>
          </p:cNvPr>
          <p:cNvSpPr>
            <a:spLocks noGrp="1"/>
          </p:cNvSpPr>
          <p:nvPr/>
        </p:nvSpPr>
        <p:spPr>
          <a:xfrm>
            <a:off x="1638300" y="1962150"/>
            <a:ext cx="8915400" cy="6667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a16:creationId id="{D1FA0B89-F5D1-42BC-ABFE-CA0A006B1069}"/>
              </a:ext>
            </a:extLst>
          </p:cNvPr>
          <p:cNvSpPr>
            <a:spLocks noGrp="1"/>
          </p:cNvSpPr>
          <p:nvPr/>
        </p:nvSpPr>
        <p:spPr>
          <a:xfrm>
            <a:off x="1828800" y="2133600"/>
            <a:ext cx="853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If setup is slow</a:t>
            </a:r>
          </a:p>
        </p:txBody>
      </p:sp>
      <p:sp>
        <p:nvSpPr>
          <p:cNvPr id="10" name="">
            <a:extLst>
              <a:ext uri="{FF2B5EF4-FFF2-40B4-BE49-F238E27FC236}">
                <a16:creationId id="{7F8D4691-9866-4932-AE3E-C34A9C8DC156}"/>
              </a:ext>
            </a:extLst>
          </p:cNvPr>
          <p:cNvSpPr>
            <a:spLocks noGrp="1"/>
          </p:cNvSpPr>
          <p:nvPr/>
        </p:nvSpPr>
        <p:spPr>
          <a:xfrm>
            <a:off x="1828800" y="2495550"/>
            <a:ext cx="8534400" cy="-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stay in the notebook prose and inspect the already generated figures</a:t>
            </a:r>
          </a:p>
        </p:txBody>
      </p:sp>
      <p:sp>
        <p:nvSpPr>
          <p:cNvPr id="11" name="">
            <a:extLst>
              <a:ext uri="{FF2B5EF4-FFF2-40B4-BE49-F238E27FC236}">
                <a16:creationId id="{FD4E3D5E-8088-4B44-BDFA-935D191B10B5}"/>
              </a:ext>
            </a:extLst>
          </p:cNvPr>
          <p:cNvSpPr>
            <a:spLocks noGrp="1"/>
          </p:cNvSpPr>
          <p:nvPr/>
        </p:nvSpPr>
        <p:spPr>
          <a:xfrm>
            <a:off x="1638300" y="2895600"/>
            <a:ext cx="8915400" cy="6667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a16:creationId id="{9E0EBC1F-8623-4F46-BB32-3D0C9C84E45C}"/>
              </a:ext>
            </a:extLst>
          </p:cNvPr>
          <p:cNvSpPr>
            <a:spLocks noGrp="1"/>
          </p:cNvSpPr>
          <p:nvPr/>
        </p:nvSpPr>
        <p:spPr>
          <a:xfrm>
            <a:off x="1828800" y="3067050"/>
            <a:ext cx="853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F7D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7D62"/>
                </a:solidFill>
                <a:latin typeface="Aptos"/>
                <a:ea typeface="Aptos"/>
                <a:cs typeface="Aptos"/>
              </a:rPr>
              <a:t>If training is slow</a:t>
            </a:r>
          </a:p>
        </p:txBody>
      </p:sp>
      <p:sp>
        <p:nvSpPr>
          <p:cNvPr id="13" name="">
            <a:extLst>
              <a:ext uri="{FF2B5EF4-FFF2-40B4-BE49-F238E27FC236}">
                <a16:creationId id="{5616E5C2-CAAD-4E48-A482-11B51731DCD8}"/>
              </a:ext>
            </a:extLst>
          </p:cNvPr>
          <p:cNvSpPr>
            <a:spLocks noGrp="1"/>
          </p:cNvSpPr>
          <p:nvPr/>
        </p:nvSpPr>
        <p:spPr>
          <a:xfrm>
            <a:off x="1828800" y="3429000"/>
            <a:ext cx="8534400" cy="-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use the saved artifact bundle and continue to evaluation</a:t>
            </a:r>
          </a:p>
        </p:txBody>
      </p:sp>
      <p:sp>
        <p:nvSpPr>
          <p:cNvPr id="14" name="">
            <a:extLst>
              <a:ext uri="{FF2B5EF4-FFF2-40B4-BE49-F238E27FC236}">
                <a16:creationId id="{71A0C459-B6E3-4727-A261-6EE4CDDB2DA8}"/>
              </a:ext>
            </a:extLst>
          </p:cNvPr>
          <p:cNvSpPr>
            <a:spLocks noGrp="1"/>
          </p:cNvSpPr>
          <p:nvPr/>
        </p:nvSpPr>
        <p:spPr>
          <a:xfrm>
            <a:off x="1638300" y="3829050"/>
            <a:ext cx="8915400" cy="6667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a16:creationId id="{92E14D84-052B-4ECE-86B6-AE39CABBF8D4}"/>
              </a:ext>
            </a:extLst>
          </p:cNvPr>
          <p:cNvSpPr>
            <a:spLocks noGrp="1"/>
          </p:cNvSpPr>
          <p:nvPr/>
        </p:nvSpPr>
        <p:spPr>
          <a:xfrm>
            <a:off x="1828800" y="4000500"/>
            <a:ext cx="853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C47B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47B20"/>
                </a:solidFill>
                <a:latin typeface="Aptos"/>
                <a:ea typeface="Aptos"/>
                <a:cs typeface="Aptos"/>
              </a:rPr>
              <a:t>If optimization is slow</a:t>
            </a:r>
          </a:p>
        </p:txBody>
      </p:sp>
      <p:sp>
        <p:nvSpPr>
          <p:cNvPr id="16" name="">
            <a:extLst>
              <a:ext uri="{FF2B5EF4-FFF2-40B4-BE49-F238E27FC236}">
                <a16:creationId id="{E21201CE-5834-40E3-B1EF-3A59E7857E3D}"/>
              </a:ext>
            </a:extLst>
          </p:cNvPr>
          <p:cNvSpPr>
            <a:spLocks noGrp="1"/>
          </p:cNvSpPr>
          <p:nvPr/>
        </p:nvSpPr>
        <p:spPr>
          <a:xfrm>
            <a:off x="1828800" y="4362450"/>
            <a:ext cx="8534400" cy="-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run fewer warm-start examples and focus on interpretation</a:t>
            </a:r>
          </a:p>
        </p:txBody>
      </p:sp>
      <p:sp>
        <p:nvSpPr>
          <p:cNvPr id="17" name="">
            <a:extLst>
              <a:ext uri="{FF2B5EF4-FFF2-40B4-BE49-F238E27FC236}">
                <a16:creationId id="{B8FF5D3A-E0E0-4526-97AD-3AECBB8AE196}"/>
              </a:ext>
            </a:extLst>
          </p:cNvPr>
          <p:cNvSpPr>
            <a:spLocks noGrp="1"/>
          </p:cNvSpPr>
          <p:nvPr/>
        </p:nvSpPr>
        <p:spPr>
          <a:xfrm>
            <a:off x="1638300" y="4762500"/>
            <a:ext cx="8915400" cy="6667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a16:creationId id="{B23EF03E-54E5-48B6-8895-8BA5F7D3A837}"/>
              </a:ext>
            </a:extLst>
          </p:cNvPr>
          <p:cNvSpPr>
            <a:spLocks noGrp="1"/>
          </p:cNvSpPr>
          <p:nvPr/>
        </p:nvSpPr>
        <p:spPr>
          <a:xfrm>
            <a:off x="1828800" y="4933950"/>
            <a:ext cx="853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C8483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4837"/>
                </a:solidFill>
                <a:latin typeface="Aptos"/>
                <a:ea typeface="Aptos"/>
                <a:cs typeface="Aptos"/>
              </a:rPr>
              <a:t>If widgets fail</a:t>
            </a:r>
          </a:p>
        </p:txBody>
      </p:sp>
      <p:sp>
        <p:nvSpPr>
          <p:cNvPr id="19" name="">
            <a:extLst>
              <a:ext uri="{FF2B5EF4-FFF2-40B4-BE49-F238E27FC236}">
                <a16:creationId id="{9C9E7CA8-9585-4827-890A-AC3B3C971C1B}"/>
              </a:ext>
            </a:extLst>
          </p:cNvPr>
          <p:cNvSpPr>
            <a:spLocks noGrp="1"/>
          </p:cNvSpPr>
          <p:nvPr/>
        </p:nvSpPr>
        <p:spPr>
          <a:xfrm>
            <a:off x="1828800" y="5295900"/>
            <a:ext cx="8534400" cy="-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use the static galleries; the benchmark questions are the same</a:t>
            </a:r>
          </a:p>
        </p:txBody>
      </p:sp>
    </p:spTree>
    <p:extLst>
      <p:ext uri="{BB962C8B-B14F-4D97-AF65-F5344CB8AC3E}">
        <p14:creationId val="1362328550"/>
      </p:ext>
    </p:extLst>
  </p:cSld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87EEB165-F3BB-4836-848D-53D3AEF595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CB977F3C-3828-4458-B5CE-6A9809BDB9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a16:creationId id="{9C77E92A-4759-4D81-B141-898F0B398634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Workshop resources</a:t>
            </a:r>
          </a:p>
        </p:txBody>
      </p:sp>
      <p:sp>
        <p:nvSpPr>
          <p:cNvPr id="5" name="">
            <a:extLst>
              <a:ext uri="{FF2B5EF4-FFF2-40B4-BE49-F238E27FC236}">
                <a16:creationId id="{62ED81D6-3ED3-416A-ACC9-67D5F4A7CA68}"/>
              </a:ext>
            </a:extLst>
          </p:cNvPr>
          <p:cNvSpPr>
            <a:spLocks noGrp="1"/>
          </p:cNvSpPr>
          <p:nvPr/>
        </p:nvSpPr>
        <p:spPr>
          <a:xfrm>
            <a:off x="7810500" y="641985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DCC 2026 workshop  |  EngiBench + EngiOpt</a:t>
            </a:r>
          </a:p>
        </p:txBody>
      </p:sp>
      <p:sp>
        <p:nvSpPr>
          <p:cNvPr id="6" name="">
            <a:extLst>
              <a:ext uri="{FF2B5EF4-FFF2-40B4-BE49-F238E27FC236}">
                <a16:creationId id="{FA7E0B4A-B000-41C8-AA43-D3078C2BE78F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619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Resources during the workshop</a:t>
            </a:r>
          </a:p>
        </p:txBody>
      </p:sp>
      <p:sp>
        <p:nvSpPr>
          <p:cNvPr id="7" name="">
            <a:extLst>
              <a:ext uri="{FF2B5EF4-FFF2-40B4-BE49-F238E27FC236}">
                <a16:creationId id="{4D1C1770-4A94-4F90-8E73-E4F51E622488}"/>
              </a:ext>
            </a:extLst>
          </p:cNvPr>
          <p:cNvSpPr>
            <a:spLocks noGrp="1"/>
          </p:cNvSpPr>
          <p:nvPr/>
        </p:nvSpPr>
        <p:spPr>
          <a:xfrm>
            <a:off x="590550" y="742950"/>
            <a:ext cx="10096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Keep these links nearby while you work.</a:t>
            </a:r>
          </a:p>
        </p:txBody>
      </p:sp>
      <p:sp>
        <p:nvSpPr>
          <p:cNvPr id="8" name="">
            <a:extLst>
              <a:ext uri="{FF2B5EF4-FFF2-40B4-BE49-F238E27FC236}">
                <a16:creationId id="{8627AAF2-D5A7-4D12-B876-670886CD705D}"/>
              </a:ext>
            </a:extLst>
          </p:cNvPr>
          <p:cNvSpPr>
            <a:spLocks noGrp="1"/>
          </p:cNvSpPr>
          <p:nvPr/>
        </p:nvSpPr>
        <p:spPr>
          <a:xfrm>
            <a:off x="1428750" y="2076450"/>
            <a:ext cx="933450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a16:creationId id="{1CED560E-67B2-4D7F-BAD5-C0D05F8FBFA4}"/>
              </a:ext>
            </a:extLst>
          </p:cNvPr>
          <p:cNvSpPr>
            <a:spLocks noGrp="1"/>
          </p:cNvSpPr>
          <p:nvPr/>
        </p:nvSpPr>
        <p:spPr>
          <a:xfrm>
            <a:off x="1619250" y="2247900"/>
            <a:ext cx="895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25E9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5E9B"/>
                </a:solidFill>
                <a:latin typeface="Aptos"/>
                <a:ea typeface="Aptos"/>
                <a:cs typeface="Aptos"/>
              </a:rPr>
              <a:t>Simple notebooks</a:t>
            </a:r>
          </a:p>
        </p:txBody>
      </p:sp>
      <p:sp>
        <p:nvSpPr>
          <p:cNvPr id="10" name="">
            <a:extLst>
              <a:ext uri="{FF2B5EF4-FFF2-40B4-BE49-F238E27FC236}">
                <a16:creationId id="{BC4DEF73-A797-4FCC-B44A-976C46C2E491}"/>
              </a:ext>
            </a:extLst>
          </p:cNvPr>
          <p:cNvSpPr>
            <a:spLocks noGrp="1"/>
          </p:cNvSpPr>
          <p:nvPr/>
        </p:nvSpPr>
        <p:spPr>
          <a:xfrm>
            <a:off x="1619250" y="2609850"/>
            <a:ext cx="8953500" cy="-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EngiOpt/workshops/dcc26/simple/</a:t>
            </a:r>
          </a:p>
        </p:txBody>
      </p:sp>
      <p:sp>
        <p:nvSpPr>
          <p:cNvPr id="11" name="">
            <a:extLst>
              <a:ext uri="{FF2B5EF4-FFF2-40B4-BE49-F238E27FC236}">
                <a16:creationId id="{4B320D13-505D-4119-BCD1-A784E536E4B8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933450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a16:creationId id="{D9AF33C5-E779-4ABC-BBD3-29FA0E365135}"/>
              </a:ext>
            </a:extLst>
          </p:cNvPr>
          <p:cNvSpPr>
            <a:spLocks noGrp="1"/>
          </p:cNvSpPr>
          <p:nvPr/>
        </p:nvSpPr>
        <p:spPr>
          <a:xfrm>
            <a:off x="1619250" y="3143250"/>
            <a:ext cx="895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F7D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7D62"/>
                </a:solidFill>
                <a:latin typeface="Aptos"/>
                <a:ea typeface="Aptos"/>
                <a:cs typeface="Aptos"/>
              </a:rPr>
              <a:t>EngiBench docs</a:t>
            </a:r>
          </a:p>
        </p:txBody>
      </p:sp>
      <p:sp>
        <p:nvSpPr>
          <p:cNvPr id="13" name="">
            <a:extLst>
              <a:ext uri="{FF2B5EF4-FFF2-40B4-BE49-F238E27FC236}">
                <a16:creationId id="{5271056E-0B06-432D-8B27-318231A71795}"/>
              </a:ext>
            </a:extLst>
          </p:cNvPr>
          <p:cNvSpPr>
            <a:spLocks noGrp="1"/>
          </p:cNvSpPr>
          <p:nvPr/>
        </p:nvSpPr>
        <p:spPr>
          <a:xfrm>
            <a:off x="1619250" y="3505200"/>
            <a:ext cx="8953500" cy="-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https://engibench.ethz.ch/</a:t>
            </a:r>
          </a:p>
        </p:txBody>
      </p:sp>
      <p:sp>
        <p:nvSpPr>
          <p:cNvPr id="14" name="">
            <a:extLst>
              <a:ext uri="{FF2B5EF4-FFF2-40B4-BE49-F238E27FC236}">
                <a16:creationId id="{9C9C2324-0772-4F73-9E48-5D2EBD8705BD}"/>
              </a:ext>
            </a:extLst>
          </p:cNvPr>
          <p:cNvSpPr>
            <a:spLocks noGrp="1"/>
          </p:cNvSpPr>
          <p:nvPr/>
        </p:nvSpPr>
        <p:spPr>
          <a:xfrm>
            <a:off x="1428750" y="3867150"/>
            <a:ext cx="933450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a16:creationId id="{938D99FF-8C05-4DB4-AE0B-78A28C300EC8}"/>
              </a:ext>
            </a:extLst>
          </p:cNvPr>
          <p:cNvSpPr>
            <a:spLocks noGrp="1"/>
          </p:cNvSpPr>
          <p:nvPr/>
        </p:nvSpPr>
        <p:spPr>
          <a:xfrm>
            <a:off x="1619250" y="4038600"/>
            <a:ext cx="895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16" name="">
            <a:extLst>
              <a:ext uri="{FF2B5EF4-FFF2-40B4-BE49-F238E27FC236}">
                <a16:creationId id="{B24EDCE0-FDFF-4D7B-967A-10FDDA0243E8}"/>
              </a:ext>
            </a:extLst>
          </p:cNvPr>
          <p:cNvSpPr>
            <a:spLocks noGrp="1"/>
          </p:cNvSpPr>
          <p:nvPr/>
        </p:nvSpPr>
        <p:spPr>
          <a:xfrm>
            <a:off x="1619250" y="4400550"/>
            <a:ext cx="8953500" cy="-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IDEALLab/EngiBench and IDEALLab/EngiOpt</a:t>
            </a:r>
          </a:p>
        </p:txBody>
      </p:sp>
      <p:sp>
        <p:nvSpPr>
          <p:cNvPr id="17" name="">
            <a:extLst>
              <a:ext uri="{FF2B5EF4-FFF2-40B4-BE49-F238E27FC236}">
                <a16:creationId id="{47AD2A43-8B09-4BB6-81BA-BA3B7AEDE23C}"/>
              </a:ext>
            </a:extLst>
          </p:cNvPr>
          <p:cNvSpPr>
            <a:spLocks noGrp="1"/>
          </p:cNvSpPr>
          <p:nvPr/>
        </p:nvSpPr>
        <p:spPr>
          <a:xfrm>
            <a:off x="1428750" y="4762500"/>
            <a:ext cx="933450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D8DEE5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a16:creationId id="{18E12D05-CB8E-4E25-B72C-33EBFB7ECA6B}"/>
              </a:ext>
            </a:extLst>
          </p:cNvPr>
          <p:cNvSpPr>
            <a:spLocks noGrp="1"/>
          </p:cNvSpPr>
          <p:nvPr/>
        </p:nvSpPr>
        <p:spPr>
          <a:xfrm>
            <a:off x="1619250" y="4933950"/>
            <a:ext cx="895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C8483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4837"/>
                </a:solidFill>
                <a:latin typeface="Aptos"/>
                <a:ea typeface="Aptos"/>
                <a:cs typeface="Aptos"/>
              </a:rPr>
              <a:t>Paper</a:t>
            </a:r>
          </a:p>
        </p:txBody>
      </p:sp>
      <p:sp>
        <p:nvSpPr>
          <p:cNvPr id="19" name="">
            <a:extLst>
              <a:ext uri="{FF2B5EF4-FFF2-40B4-BE49-F238E27FC236}">
                <a16:creationId id="{C1B6E248-328C-4AD0-B34E-49324D4F15D7}"/>
              </a:ext>
            </a:extLst>
          </p:cNvPr>
          <p:cNvSpPr>
            <a:spLocks noGrp="1"/>
          </p:cNvSpPr>
          <p:nvPr/>
        </p:nvSpPr>
        <p:spPr>
          <a:xfrm>
            <a:off x="1619250" y="5295900"/>
            <a:ext cx="8953500" cy="-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6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675"/>
                </a:solidFill>
                <a:latin typeface="Aptos"/>
                <a:ea typeface="Aptos"/>
                <a:cs typeface="Aptos"/>
              </a:rPr>
              <a:t>OpenReview: EngiBench, NeurIPS 2025 Datasets and Benchmarks</a:t>
            </a:r>
          </a:p>
        </p:txBody>
      </p:sp>
    </p:spTree>
    <p:extLst>
      <p:ext uri="{BB962C8B-B14F-4D97-AF65-F5344CB8AC3E}">
        <p14:creationId val="581616665"/>
      </p:ext>
    </p:extLst>
  </p:cSld>
</p:sld>
</file>

<file path=ppt/slides/slide2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a16:creationId id="{A4EB8332-5B72-402C-A812-4EF1FD5DEF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5E9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>
              <a:ext uri="{FF2B5EF4-FFF2-40B4-BE49-F238E27FC236}">
                <a16:creationId id="{58D09853-BC6E-469B-ADC4-C979A1F7B29D}"/>
              </a:ext>
            </a:extLst>
          </p:cNvPr>
          <p:cNvSpPr>
            <a:spLocks noGrp="1"/>
          </p:cNvSpPr>
          <p:nvPr/>
        </p:nvSpPr>
        <p:spPr>
          <a:xfrm>
            <a:off x="742950" y="7048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FE3F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FE3F3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4" name="">
            <a:extLst>
              <a:ext uri="{FF2B5EF4-FFF2-40B4-BE49-F238E27FC236}">
                <a16:creationId id="{BFD73C13-2901-49CC-A900-148AEBCDBABE}"/>
              </a:ext>
            </a:extLst>
          </p:cNvPr>
          <p:cNvSpPr>
            <a:spLocks noGrp="1"/>
          </p:cNvSpPr>
          <p:nvPr/>
        </p:nvSpPr>
        <p:spPr>
          <a:xfrm>
            <a:off x="742950" y="1257300"/>
            <a:ext cx="9334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Leave with a way to make your design problem executable, comparable, and reusable.</a:t>
            </a:r>
          </a:p>
        </p:txBody>
      </p:sp>
      <p:sp>
        <p:nvSpPr>
          <p:cNvPr id="5" name="">
            <a:extLst>
              <a:ext uri="{FF2B5EF4-FFF2-40B4-BE49-F238E27FC236}">
                <a16:creationId id="{5A6D219D-AA08-4066-85CB-B393875E1EF5}"/>
              </a:ext>
            </a:extLst>
          </p:cNvPr>
          <p:cNvSpPr>
            <a:spLocks noGrp="1"/>
          </p:cNvSpPr>
          <p:nvPr/>
        </p:nvSpPr>
        <p:spPr>
          <a:xfrm>
            <a:off x="781050" y="2686050"/>
            <a:ext cx="857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That is the contribution of EngiBench + EngiOpt: not another isolated demo, but an executable contract for engineering design research.</a:t>
            </a:r>
          </a:p>
        </p:txBody>
      </p:sp>
      <p:sp>
        <p:nvSpPr>
          <p:cNvPr id="6" name="">
            <a:extLst>
              <a:ext uri="{FF2B5EF4-FFF2-40B4-BE49-F238E27FC236}">
                <a16:creationId id="{FCFC71C6-B2E6-4211-B35E-FDC480645C89}"/>
              </a:ext>
            </a:extLst>
          </p:cNvPr>
          <p:cNvSpPr>
            <a:spLocks noGrp="1"/>
          </p:cNvSpPr>
          <p:nvPr/>
        </p:nvSpPr>
        <p:spPr>
          <a:xfrm>
            <a:off x="1276350" y="3867150"/>
            <a:ext cx="1676400" cy="685800"/>
          </a:xfrm>
          <a:prstGeom prst="rect">
            <a:avLst/>
          </a:prstGeom>
          <a:solidFill>
            <a:srgbClr val="FFFFFF">
              <a:alpha val="9412"/>
            </a:srgbClr>
          </a:solidFill>
          <a:ln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a16:creationId id="{CF2ACE2E-3B1A-4201-A6B4-516B9E551E36}"/>
              </a:ext>
            </a:extLst>
          </p:cNvPr>
          <p:cNvSpPr>
            <a:spLocks noGrp="1"/>
          </p:cNvSpPr>
          <p:nvPr/>
        </p:nvSpPr>
        <p:spPr>
          <a:xfrm>
            <a:off x="1438275" y="40957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8" name="">
            <a:extLst>
              <a:ext uri="{FF2B5EF4-FFF2-40B4-BE49-F238E27FC236}">
                <a16:creationId id="{AAD84328-5C7C-46E9-A2EB-D47B6EDE5B4A}"/>
              </a:ext>
            </a:extLst>
          </p:cNvPr>
          <p:cNvSpPr>
            <a:spLocks noGrp="1"/>
          </p:cNvSpPr>
          <p:nvPr/>
        </p:nvSpPr>
        <p:spPr>
          <a:xfrm>
            <a:off x="3105150" y="4200525"/>
            <a:ext cx="552450" cy="28575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a16:creationId id="{5E9863B2-825A-4977-9159-23AEF9096A7C}"/>
              </a:ext>
            </a:extLst>
          </p:cNvPr>
          <p:cNvSpPr>
            <a:spLocks noGrp="1"/>
          </p:cNvSpPr>
          <p:nvPr/>
        </p:nvSpPr>
        <p:spPr>
          <a:xfrm>
            <a:off x="3619500" y="4162425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a16:creationId id="{2C3C372A-8DE9-4982-BCFB-56DBE6B3E3DC}"/>
              </a:ext>
            </a:extLst>
          </p:cNvPr>
          <p:cNvSpPr>
            <a:spLocks noGrp="1"/>
          </p:cNvSpPr>
          <p:nvPr/>
        </p:nvSpPr>
        <p:spPr>
          <a:xfrm>
            <a:off x="3810000" y="3867150"/>
            <a:ext cx="1676400" cy="685800"/>
          </a:xfrm>
          <a:prstGeom prst="rect">
            <a:avLst/>
          </a:prstGeom>
          <a:solidFill>
            <a:srgbClr val="FFFFFF">
              <a:alpha val="9412"/>
            </a:srgbClr>
          </a:solidFill>
          <a:ln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a16:creationId id="{F60679BD-B9AF-43AC-A909-DE5B5DD1D867}"/>
              </a:ext>
            </a:extLst>
          </p:cNvPr>
          <p:cNvSpPr>
            <a:spLocks noGrp="1"/>
          </p:cNvSpPr>
          <p:nvPr/>
        </p:nvSpPr>
        <p:spPr>
          <a:xfrm>
            <a:off x="3971925" y="40957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2" name="">
            <a:extLst>
              <a:ext uri="{FF2B5EF4-FFF2-40B4-BE49-F238E27FC236}">
                <a16:creationId id="{D0FA877F-8E0B-45DD-A9B8-4A2C82194FC0}"/>
              </a:ext>
            </a:extLst>
          </p:cNvPr>
          <p:cNvSpPr>
            <a:spLocks noGrp="1"/>
          </p:cNvSpPr>
          <p:nvPr/>
        </p:nvSpPr>
        <p:spPr>
          <a:xfrm>
            <a:off x="5638800" y="4200525"/>
            <a:ext cx="552450" cy="28575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a16:creationId id="{A1CE2871-DB7B-4140-8FED-061DE0581CF0}"/>
              </a:ext>
            </a:extLst>
          </p:cNvPr>
          <p:cNvSpPr>
            <a:spLocks noGrp="1"/>
          </p:cNvSpPr>
          <p:nvPr/>
        </p:nvSpPr>
        <p:spPr>
          <a:xfrm>
            <a:off x="6153150" y="4162425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a16:creationId id="{B359D273-4C87-462F-88F7-6FE3EFE099F4}"/>
              </a:ext>
            </a:extLst>
          </p:cNvPr>
          <p:cNvSpPr>
            <a:spLocks noGrp="1"/>
          </p:cNvSpPr>
          <p:nvPr/>
        </p:nvSpPr>
        <p:spPr>
          <a:xfrm>
            <a:off x="6343650" y="3867150"/>
            <a:ext cx="1676400" cy="685800"/>
          </a:xfrm>
          <a:prstGeom prst="rect">
            <a:avLst/>
          </a:prstGeom>
          <a:solidFill>
            <a:srgbClr val="FFFFFF">
              <a:alpha val="9412"/>
            </a:srgbClr>
          </a:solidFill>
          <a:ln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a16:creationId id="{9380D43E-2EAE-426B-B372-5FAB0B73FB42}"/>
              </a:ext>
            </a:extLst>
          </p:cNvPr>
          <p:cNvSpPr>
            <a:spLocks noGrp="1"/>
          </p:cNvSpPr>
          <p:nvPr/>
        </p:nvSpPr>
        <p:spPr>
          <a:xfrm>
            <a:off x="6505575" y="40957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6" name="">
            <a:extLst>
              <a:ext uri="{FF2B5EF4-FFF2-40B4-BE49-F238E27FC236}">
                <a16:creationId id="{C01EC881-DEAF-4BE2-B9A3-FD13BF06A0D2}"/>
              </a:ext>
            </a:extLst>
          </p:cNvPr>
          <p:cNvSpPr>
            <a:spLocks noGrp="1"/>
          </p:cNvSpPr>
          <p:nvPr/>
        </p:nvSpPr>
        <p:spPr>
          <a:xfrm>
            <a:off x="8172450" y="4200525"/>
            <a:ext cx="552450" cy="28575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a16:creationId id="{D27CE3C9-64A3-41B4-86D1-AFC78FE2A2EA}"/>
              </a:ext>
            </a:extLst>
          </p:cNvPr>
          <p:cNvSpPr>
            <a:spLocks noGrp="1"/>
          </p:cNvSpPr>
          <p:nvPr/>
        </p:nvSpPr>
        <p:spPr>
          <a:xfrm>
            <a:off x="8686800" y="4162425"/>
            <a:ext cx="95250" cy="95250"/>
          </a:xfrm>
          <a:prstGeom prst="rect">
            <a:avLst/>
          </a:prstGeom>
          <a:solidFill>
            <a:srgbClr val="CFE3F3"/>
          </a:solidFill>
          <a:ln w="9525">
            <a:solidFill>
              <a:srgbClr val="CFE3F3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a16:creationId id="{E6BE68E9-6B8B-4EF6-A01E-EF166328E700}"/>
              </a:ext>
            </a:extLst>
          </p:cNvPr>
          <p:cNvSpPr>
            <a:spLocks noGrp="1"/>
          </p:cNvSpPr>
          <p:nvPr/>
        </p:nvSpPr>
        <p:spPr>
          <a:xfrm>
            <a:off x="8877300" y="3867150"/>
            <a:ext cx="1676400" cy="685800"/>
          </a:xfrm>
          <a:prstGeom prst="rect">
            <a:avLst/>
          </a:prstGeom>
          <a:solidFill>
            <a:srgbClr val="FFFFFF">
              <a:alpha val="9412"/>
            </a:srgbClr>
          </a:solidFill>
          <a:ln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a16:creationId id="{A9197BE9-4F3C-483C-B8EF-FDE00B43FD93}"/>
              </a:ext>
            </a:extLst>
          </p:cNvPr>
          <p:cNvSpPr>
            <a:spLocks noGrp="1"/>
          </p:cNvSpPr>
          <p:nvPr/>
        </p:nvSpPr>
        <p:spPr>
          <a:xfrm>
            <a:off x="9039225" y="40957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</a:t>
            </a:r>
          </a:p>
        </p:txBody>
      </p:sp>
      <p:sp>
        <p:nvSpPr>
          <p:cNvPr id="20" name="">
            <a:extLst>
              <a:ext uri="{FF2B5EF4-FFF2-40B4-BE49-F238E27FC236}">
                <a16:creationId id="{2ED1650C-8A82-4422-84A8-C062CAC7FD74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3FA"/>
                </a:solidFill>
                <a:latin typeface="Aptos"/>
                <a:ea typeface="Aptos"/>
                <a:cs typeface="Aptos"/>
              </a:rPr>
              <a:t>Matthew Keeler, Soheyl Massoudi, Mark Fuge</a:t>
            </a:r>
          </a:p>
        </p:txBody>
      </p:sp>
      <p:sp>
        <p:nvSpPr>
          <p:cNvPr id="21" name="">
            <a:extLst>
              <a:ext uri="{FF2B5EF4-FFF2-40B4-BE49-F238E27FC236}">
                <a16:creationId id="{3C0490EA-77E0-4067-BFAD-23EAFD411032}"/>
              </a:ext>
            </a:extLst>
          </p:cNvPr>
          <p:cNvSpPr>
            <a:spLocks noGrp="1"/>
          </p:cNvSpPr>
          <p:nvPr/>
        </p:nvSpPr>
        <p:spPr>
          <a:xfrm>
            <a:off x="781050" y="61150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AF3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3FA"/>
                </a:solidFill>
                <a:latin typeface="Aptos"/>
                <a:ea typeface="Aptos"/>
                <a:cs typeface="Aptos"/>
              </a:rPr>
              <a:t>EngiBench + EngiOpt</a:t>
            </a:r>
          </a:p>
        </p:txBody>
      </p:sp>
      <p:pic>
        <p:nvPicPr>
          <p:cNvPr id="22" name=""/>
          <p:cNvPicPr>
            <a:picLocks noChangeAspect="1"/>
          </p:cNvPicPr>
          <p:nvPr/>
        </p:nvPicPr>
        <p:blipFill>
          <a:blip r:embed="R69eeefcb10bb4ad0"/>
          <a:stretch/>
        </p:blipFill>
        <p:spPr>
          <a:xfrm>
            <a:off x="9521028" y="5772150"/>
            <a:ext cx="1512893" cy="552450"/>
          </a:xfrm>
          <a:prstGeom prst="rect">
            <a:avLst/>
          </a:prstGeom>
        </p:spPr>
      </p:pic>
    </p:spTree>
    <p:extLst>
      <p:ext uri="{BB962C8B-B14F-4D97-AF65-F5344CB8AC3E}">
        <p14:creationId val="1346877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2026-05-13T06:41:47.6930000Z</dcterms:created>
  <dcterms:modified xsi:type="dcterms:W3CDTF">2026-05-13T06:41:47.6930000Z</dcterms:modified>
</coreProperties>
</file>