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90088"/>
            <a:ext cx="12191695" cy="3867912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0664" y="3392424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FE3F3"/>
                </a:solidFill>
                <a:latin typeface="Aptos"/>
              </a:rPr>
              <a:t>DCC 2026 Paris workshop  |  Opening keynote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664" y="379476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 Display"/>
              </a:rPr>
              <a:t>Benchmarking Generative AI</a:t>
            </a:r>
          </a:p>
          <a:p>
            <a:pPr algn="l"/>
            <a:r>
              <a:rPr sz="3800" b="1">
                <a:solidFill>
                  <a:srgbClr val="FFFFFF"/>
                </a:solidFill>
                <a:latin typeface="Aptos Display"/>
              </a:rPr>
              <a:t>for Engineering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3492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25" b="0">
                <a:solidFill>
                  <a:srgbClr val="EAF3FA"/>
                </a:solidFill>
                <a:latin typeface="Aptos"/>
              </a:rPr>
              <a:t>Why shared, executable contracts are the missing infrastructure for AI-driven design research.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43600"/>
            <a:ext cx="73152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EAF3FA"/>
                </a:solidFill>
                <a:latin typeface="Aptos"/>
              </a:rPr>
              <a:t>Matthew Keeler, Soheyl Massoudi, Mark Fuge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17920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EAF3FA"/>
                </a:solidFill>
                <a:latin typeface="Aptos"/>
              </a:rPr>
              <a:t>D-MAVT, ETH Zürich  ·  EngiBench + EngiOpt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6419088"/>
            <a:ext cx="400507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5A6675"/>
                </a:solidFill>
                <a:latin typeface="Aptos"/>
              </a:rPr>
              <a:t>Why this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8975" y="6419088"/>
            <a:ext cx="3712463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25" b="0">
                <a:solidFill>
                  <a:srgbClr val="5A6675"/>
                </a:solidFill>
                <a:latin typeface="Aptos"/>
              </a:rPr>
              <a:t>DCC 2026 workshop  |  EngiBench + EngiOpt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38912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225E9B"/>
                </a:solidFill>
                <a:latin typeface="Aptos"/>
              </a:rPr>
              <a:t>The promise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40664"/>
            <a:ext cx="1009497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7212B"/>
                </a:solidFill>
                <a:latin typeface="Aptos Display"/>
              </a:rPr>
              <a:t>Generative AI is already rewriting how engineers design.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5" b="0">
                <a:solidFill>
                  <a:srgbClr val="5A6675"/>
                </a:solidFill>
                <a:latin typeface="Aptos"/>
              </a:rPr>
              <a:t>Across structures, propulsion, optics, and electronics, generative models now propose candidate designs that humans take seriously — and sometimes manufacture.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926080"/>
            <a:ext cx="3557016" cy="2788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2926080"/>
            <a:ext cx="3557016" cy="50292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044952"/>
            <a:ext cx="30998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STRUCTURAL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11880"/>
            <a:ext cx="309981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7212B"/>
                </a:solidFill>
                <a:latin typeface="Aptos"/>
              </a:rPr>
              <a:t>Airbus A320 cabin partition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14800"/>
            <a:ext cx="3099816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Aptos"/>
              </a:rPr>
              <a:t>Generatively designed bionic partition, 45% lighter than the legacy part. Printed in titanium, certified, flown. A concrete proof that generative methods can clear aerospace bars.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5968" y="2926080"/>
            <a:ext cx="3557016" cy="2788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2926080"/>
            <a:ext cx="3557016" cy="502920"/>
          </a:xfrm>
          <a:prstGeom prst="rect">
            <a:avLst/>
          </a:prstGeom>
          <a:solidFill>
            <a:srgbClr val="2F7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3044952"/>
            <a:ext cx="30998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PROPULSION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3611880"/>
            <a:ext cx="309981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7212B"/>
                </a:solidFill>
                <a:latin typeface="Aptos"/>
              </a:rPr>
              <a:t>GE jet-engine bracket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4114800"/>
            <a:ext cx="3099816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Aptos"/>
              </a:rPr>
              <a:t>Open challenge in 2013 reduced an engine bracket by 84% in mass with topology optimization. The legacy that triggered the ML-for-design wave we now ride.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37576" y="2926080"/>
            <a:ext cx="3557016" cy="2788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37576" y="2926080"/>
            <a:ext cx="3557016" cy="502920"/>
          </a:xfrm>
          <a:prstGeom prst="rect">
            <a:avLst/>
          </a:prstGeom>
          <a:solidFill>
            <a:srgbClr val="C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6176" y="3044952"/>
            <a:ext cx="30998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PHOTONICS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6" y="3611880"/>
            <a:ext cx="309981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7212B"/>
                </a:solidFill>
                <a:latin typeface="Aptos"/>
              </a:rPr>
              <a:t>Inverse-designed metasurfaces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6176" y="4114800"/>
            <a:ext cx="3099816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Aptos"/>
              </a:rPr>
              <a:t>Stanford / Fan Group and others use gradient-based and learned inverse design to synthesize metasurfaces and photonic devices that beat hand-crafted baselines.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97864" y="5413248"/>
            <a:ext cx="9793224" cy="59436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00200" y="5586984"/>
            <a:ext cx="89885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These are not toy results — and they raise a follow-up question.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6419088"/>
            <a:ext cx="400507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5A6675"/>
                </a:solidFill>
                <a:latin typeface="Aptos"/>
              </a:rPr>
              <a:t>Why this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8975" y="6419088"/>
            <a:ext cx="3712463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25" b="0">
                <a:solidFill>
                  <a:srgbClr val="5A6675"/>
                </a:solidFill>
                <a:latin typeface="Aptos"/>
              </a:rPr>
              <a:t>DCC 2026 workshop  |  EngiBench + EngiOpt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38912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225E9B"/>
                </a:solidFill>
                <a:latin typeface="Aptos"/>
              </a:rPr>
              <a:t>A renaissance of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40664"/>
            <a:ext cx="1009497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7212B"/>
                </a:solidFill>
                <a:latin typeface="Aptos Display"/>
              </a:rPr>
              <a:t>Every year brings a new generative recipe for engineering design.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5" b="0">
                <a:solidFill>
                  <a:srgbClr val="5A6675"/>
                </a:solidFill>
                <a:latin typeface="Aptos"/>
              </a:rPr>
              <a:t>In under a decade the toolbox went from autoencoders to LLMs guiding solvers. Each method comes with a SOTA claim — and a slightly different setup.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017520"/>
            <a:ext cx="2633472" cy="2697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291840"/>
            <a:ext cx="1097280" cy="329184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3284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2017-2019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30752"/>
            <a:ext cx="226771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7212B"/>
                </a:solidFill>
                <a:latin typeface="Aptos"/>
              </a:rPr>
              <a:t>GAN era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14800"/>
            <a:ext cx="2267712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A6675"/>
                </a:solidFill>
                <a:latin typeface="Aptos"/>
              </a:rPr>
              <a:t>Conditional GANs synthesize 2-D layouts and shapes; first 'inverse design with deep learning' papers appear.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3017520"/>
            <a:ext cx="2633472" cy="2697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11880" y="3291840"/>
            <a:ext cx="1097280" cy="329184"/>
          </a:xfrm>
          <a:prstGeom prst="rect">
            <a:avLst/>
          </a:prstGeom>
          <a:solidFill>
            <a:srgbClr val="2F7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80" y="33284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2019-2021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730752"/>
            <a:ext cx="226771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7212B"/>
                </a:solidFill>
                <a:latin typeface="Aptos"/>
              </a:rPr>
              <a:t>VAE + cVAE era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4114800"/>
            <a:ext cx="2267712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A6675"/>
                </a:solidFill>
                <a:latin typeface="Aptos"/>
              </a:rPr>
              <a:t>Variational autoencoders carry uncertainty, smooth latents, and learned design manifolds.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017520"/>
            <a:ext cx="2633472" cy="2697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3291840"/>
            <a:ext cx="1097280" cy="329184"/>
          </a:xfrm>
          <a:prstGeom prst="rect">
            <a:avLst/>
          </a:prstGeom>
          <a:solidFill>
            <a:srgbClr val="C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3284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2021-2024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730752"/>
            <a:ext cx="226771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7212B"/>
                </a:solidFill>
                <a:latin typeface="Aptos"/>
              </a:rPr>
              <a:t>Diffusion era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114800"/>
            <a:ext cx="2267712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A6675"/>
                </a:solidFill>
                <a:latin typeface="Aptos"/>
              </a:rPr>
              <a:t>Score-based and conditional diffusion models dominate topology and shape generation benchmarks.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0" y="3017520"/>
            <a:ext cx="2633472" cy="2697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89720" y="3291840"/>
            <a:ext cx="1097280" cy="329184"/>
          </a:xfrm>
          <a:prstGeom prst="rect">
            <a:avLst/>
          </a:prstGeom>
          <a:solidFill>
            <a:srgbClr val="C84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9720" y="33284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2024 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3730752"/>
            <a:ext cx="226771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7212B"/>
                </a:solidFill>
                <a:latin typeface="Aptos"/>
              </a:rPr>
              <a:t>LLMs + agents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4114800"/>
            <a:ext cx="2267712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A6675"/>
                </a:solidFill>
                <a:latin typeface="Aptos"/>
              </a:rPr>
              <a:t>Language models propose, critique, and run solvers; code-generating agents author entire design pipelines.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97864" y="5413248"/>
            <a:ext cx="9793224" cy="59436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00200" y="5586984"/>
            <a:ext cx="89885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The methods change quickly. The way we evaluate them barely changes at all.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6419088"/>
            <a:ext cx="400507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5A6675"/>
                </a:solidFill>
                <a:latin typeface="Aptos"/>
              </a:rPr>
              <a:t>Why this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8975" y="6419088"/>
            <a:ext cx="3712463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25" b="0">
                <a:solidFill>
                  <a:srgbClr val="5A6675"/>
                </a:solidFill>
                <a:latin typeface="Aptos"/>
              </a:rPr>
              <a:t>DCC 2026 workshop  |  EngiBench + EngiOpt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38912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225E9B"/>
                </a:solidFill>
                <a:latin typeface="Aptos"/>
              </a:rPr>
              <a:t>The honest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40664"/>
            <a:ext cx="1009497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7212B"/>
                </a:solidFill>
                <a:latin typeface="Aptos Display"/>
              </a:rPr>
              <a:t>When a paper says "we beat the SOTA on topology optimization",
what actually changed?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231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5" b="0">
                <a:solidFill>
                  <a:srgbClr val="5A6675"/>
                </a:solidFill>
                <a:latin typeface="Aptos"/>
              </a:rPr>
              <a:t>Pick any recent generative-design paper. Without leaving the abstract, you cannot tell which of these is true: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246120"/>
            <a:ext cx="2626613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502152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25E9B"/>
                </a:solidFill>
                <a:latin typeface="Aptos Display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216941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25E9B"/>
                </a:solidFill>
                <a:latin typeface="Aptos"/>
              </a:rPr>
              <a:t>Better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526280"/>
            <a:ext cx="2169413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Aptos"/>
              </a:rPr>
              <a:t>A genuinely stronger generator that would also win on your problem.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5565" y="3246120"/>
            <a:ext cx="2626613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4165" y="3502152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C47B20"/>
                </a:solidFill>
                <a:latin typeface="Aptos Display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4165" y="4114800"/>
            <a:ext cx="216941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47B20"/>
                </a:solidFill>
                <a:latin typeface="Aptos"/>
              </a:rPr>
              <a:t>Easier conditions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4165" y="4526280"/>
            <a:ext cx="2169413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Aptos"/>
              </a:rPr>
              <a:t>A narrower or friendlier conditioning distribution than the comparison.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6770" y="3246120"/>
            <a:ext cx="2626613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5370" y="3502152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C84837"/>
                </a:solidFill>
                <a:latin typeface="Aptos Display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5370" y="4114800"/>
            <a:ext cx="216941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84837"/>
                </a:solidFill>
                <a:latin typeface="Aptos"/>
              </a:rPr>
              <a:t>Lower bar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5370" y="4526280"/>
            <a:ext cx="2169413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Aptos"/>
              </a:rPr>
              <a:t>A weaker feasibility check or a coarser simulator than prior work.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7975" y="3246120"/>
            <a:ext cx="2626613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96575" y="3502152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5A6675"/>
                </a:solidFill>
                <a:latin typeface="Aptos Display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96575" y="4114800"/>
            <a:ext cx="216941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5A6675"/>
                </a:solidFill>
                <a:latin typeface="Aptos"/>
              </a:rPr>
              <a:t>All of the above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6575" y="4526280"/>
            <a:ext cx="2169413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Aptos"/>
              </a:rPr>
              <a:t>Some mix of A, B, and C — which is what usually happens in practice.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97864" y="5413248"/>
            <a:ext cx="9793224" cy="59436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00200" y="5586984"/>
            <a:ext cx="89885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Today's literature does not give us a way to know.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6419088"/>
            <a:ext cx="400507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5A6675"/>
                </a:solidFill>
                <a:latin typeface="Aptos"/>
              </a:rPr>
              <a:t>Why we cannot tell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8975" y="6419088"/>
            <a:ext cx="3712463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25" b="0">
                <a:solidFill>
                  <a:srgbClr val="5A6675"/>
                </a:solidFill>
                <a:latin typeface="Aptos"/>
              </a:rPr>
              <a:t>DCC 2026 workshop  |  EngiBench + EngiOpt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38912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225E9B"/>
                </a:solidFill>
                <a:latin typeface="Aptos"/>
              </a:rPr>
              <a:t>Background — ML's own crisis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40664"/>
            <a:ext cx="1009497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7212B"/>
                </a:solidFill>
                <a:latin typeface="Aptos Display"/>
              </a:rPr>
              <a:t>Mainstream machine learning had this fight first.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5" b="0">
                <a:solidFill>
                  <a:srgbClr val="5A6675"/>
                </a:solidFill>
                <a:latin typeface="Aptos"/>
              </a:rPr>
              <a:t>After a decade of "SOTA" claims that did not survive re-implementation, ML had to invent reproducibility infrastructure. Engineering design ML is now standing where ML stood in 2017.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063240"/>
            <a:ext cx="1101852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264408"/>
            <a:ext cx="2103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25E9B"/>
                </a:solidFill>
                <a:latin typeface="Aptos"/>
              </a:rPr>
              <a:t>2017-2019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66160"/>
            <a:ext cx="10515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7212B"/>
                </a:solidFill>
                <a:latin typeface="Aptos"/>
              </a:rPr>
              <a:t>NeurIPS adds a reproducibility checklist; ML Reproducibility Challenge launches.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959352"/>
            <a:ext cx="10332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A6675"/>
                </a:solidFill>
                <a:latin typeface="Aptos"/>
              </a:rPr>
              <a:t>Pineau et al. 2019 — independent replication of accepted RL papers found ~30% could not be reproduced from text alone.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434840"/>
            <a:ext cx="1101852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636008"/>
            <a:ext cx="2103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F7D62"/>
                </a:solidFill>
                <a:latin typeface="Aptos"/>
              </a:rPr>
              <a:t>2020 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937760"/>
            <a:ext cx="10515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7212B"/>
                </a:solidFill>
                <a:latin typeface="Aptos"/>
              </a:rPr>
              <a:t>Shared benchmarks (HuggingFace, OpenAI Gym, Papers-with-Code) become how progress is reported.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330952"/>
            <a:ext cx="10332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A6675"/>
                </a:solidFill>
                <a:latin typeface="Aptos"/>
              </a:rPr>
              <a:t>Method papers ship code, weights, and an evaluation harness by default. A claim without these is treated as an anecdote.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97864" y="5413248"/>
            <a:ext cx="9793224" cy="59436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00200" y="5586984"/>
            <a:ext cx="89885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Engineering design ML inherits all of this — and adds new failure modes.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6419088"/>
            <a:ext cx="400507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5A6675"/>
                </a:solidFill>
                <a:latin typeface="Aptos"/>
              </a:rPr>
              <a:t>Why we cannot tell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8975" y="6419088"/>
            <a:ext cx="3712463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25" b="0">
                <a:solidFill>
                  <a:srgbClr val="5A6675"/>
                </a:solidFill>
                <a:latin typeface="Aptos"/>
              </a:rPr>
              <a:t>DCC 2026 workshop  |  EngiBench + EngiOpt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38912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225E9B"/>
                </a:solidFill>
                <a:latin typeface="Aptos"/>
              </a:rPr>
              <a:t>Background — design is worse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40664"/>
            <a:ext cx="1009497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7212B"/>
                </a:solidFill>
                <a:latin typeface="Aptos Display"/>
              </a:rPr>
              <a:t>Engineering design adds degrees of freedom that ML never had to worry about.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5" b="0">
                <a:solidFill>
                  <a:srgbClr val="5A6675"/>
                </a:solidFill>
                <a:latin typeface="Aptos"/>
              </a:rPr>
              <a:t>A vision paper hides at most a handful of choices. A design paper hides far more — and any one of them can flip the conclusion.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017520"/>
            <a:ext cx="53492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3017520"/>
            <a:ext cx="91440" cy="132588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00400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225E9B"/>
                </a:solidFill>
                <a:latin typeface="Aptos"/>
              </a:rPr>
              <a:t>Simulator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566160"/>
            <a:ext cx="4892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Aptos"/>
              </a:rPr>
              <a:t>Which solver, which mesh, which tolerance? A FEM vs an analytical baseline are not the same evaluator.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3017520"/>
            <a:ext cx="53492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3017520"/>
            <a:ext cx="91440" cy="1325880"/>
          </a:xfrm>
          <a:prstGeom prst="rect">
            <a:avLst/>
          </a:prstGeom>
          <a:solidFill>
            <a:srgbClr val="C84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200400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C84837"/>
                </a:solidFill>
                <a:latin typeface="Aptos"/>
              </a:rPr>
              <a:t>Constraints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566160"/>
            <a:ext cx="4892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Aptos"/>
              </a:rPr>
              <a:t>Volume fraction tolerance, manufacturability, disconnected-material penalties — all easy to silently relax.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507992"/>
            <a:ext cx="53492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4507992"/>
            <a:ext cx="91440" cy="1325880"/>
          </a:xfrm>
          <a:prstGeom prst="rect">
            <a:avLst/>
          </a:prstGeom>
          <a:solidFill>
            <a:srgbClr val="C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69087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C47B20"/>
                </a:solidFill>
                <a:latin typeface="Aptos"/>
              </a:rPr>
              <a:t>Conditions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056632"/>
            <a:ext cx="4892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Aptos"/>
              </a:rPr>
              <a:t>The distribution of loads, boundaries, scenarios. A narrower distribution makes any model look stronger.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4507992"/>
            <a:ext cx="53492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4507992"/>
            <a:ext cx="91440" cy="1325880"/>
          </a:xfrm>
          <a:prstGeom prst="rect">
            <a:avLst/>
          </a:prstGeom>
          <a:solidFill>
            <a:srgbClr val="2F7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690872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2F7D62"/>
                </a:solidFill>
                <a:latin typeface="Aptos"/>
              </a:rPr>
              <a:t>Baselines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056632"/>
            <a:ext cx="4892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Aptos"/>
              </a:rPr>
              <a:t>Random search vs. SIMP topology optimizer vs. CMA-ES define very different bars to clear.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998464"/>
            <a:ext cx="53492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5998464"/>
            <a:ext cx="91440" cy="132588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6181344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225E9B"/>
                </a:solidFill>
                <a:latin typeface="Aptos"/>
              </a:rPr>
              <a:t>Representation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6547104"/>
            <a:ext cx="4892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Aptos"/>
              </a:rPr>
              <a:t>Pixels, meshes, B-splines, Bézier curves — the encoding determines what "diversity" even means.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5998464"/>
            <a:ext cx="53492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26480" y="5998464"/>
            <a:ext cx="91440" cy="1325880"/>
          </a:xfrm>
          <a:prstGeom prst="rect">
            <a:avLst/>
          </a:prstGeom>
          <a:solidFill>
            <a:srgbClr val="C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6181344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C47B20"/>
                </a:solidFill>
                <a:latin typeface="Aptos"/>
              </a:rPr>
              <a:t>Units &amp; scaling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6547104"/>
            <a:ext cx="4892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Aptos"/>
              </a:rPr>
              <a:t>Compliance, stress, dB, dBi — silent normalization choices can move numbers by orders of magnitude.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6419088"/>
            <a:ext cx="400507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5A6675"/>
                </a:solidFill>
                <a:latin typeface="Aptos"/>
              </a:rPr>
              <a:t>Why we cannot tell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8975" y="6419088"/>
            <a:ext cx="3712463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25" b="0">
                <a:solidFill>
                  <a:srgbClr val="5A6675"/>
                </a:solidFill>
                <a:latin typeface="Aptos"/>
              </a:rPr>
              <a:t>DCC 2026 workshop  |  EngiBench + EngiOpt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38912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225E9B"/>
                </a:solidFill>
                <a:latin typeface="Aptos"/>
              </a:rPr>
              <a:t>A concrete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40664"/>
            <a:ext cx="1009497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7212B"/>
                </a:solidFill>
                <a:latin typeface="Aptos Display"/>
              </a:rPr>
              <a:t>Two "Beams2D" papers. Same headline number. Different problem.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5" b="0">
                <a:solidFill>
                  <a:srgbClr val="5A6675"/>
                </a:solidFill>
                <a:latin typeface="Aptos"/>
              </a:rPr>
              <a:t>Imagine reading two recent papers that both report MSE = 0.04 on a Beams2D topology task. Are they comparable?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926080"/>
            <a:ext cx="5440680" cy="2514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2926080"/>
            <a:ext cx="5440680" cy="45720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026664"/>
            <a:ext cx="4983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PAPER A — "Diffusion for topology"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7212B"/>
                </a:solidFill>
                <a:latin typeface="Aptos"/>
              </a:rPr>
              <a:t>Volume fraction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356616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A6675"/>
                </a:solidFill>
                <a:latin typeface="Aptos"/>
              </a:rPr>
              <a:t>fixed at 0.50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13632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7212B"/>
                </a:solidFill>
                <a:latin typeface="Aptos"/>
              </a:rPr>
              <a:t>Filter radius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3913632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A6675"/>
                </a:solidFill>
                <a:latin typeface="Aptos"/>
              </a:rPr>
              <a:t>1.5 px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61104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7212B"/>
                </a:solidFill>
                <a:latin typeface="Aptos"/>
              </a:rPr>
              <a:t>Feasibility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4261104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A6675"/>
                </a:solidFill>
                <a:latin typeface="Aptos"/>
              </a:rPr>
              <a:t>soft, mean penalty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608576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7212B"/>
                </a:solidFill>
                <a:latin typeface="Aptos"/>
              </a:rPr>
              <a:t>Solver tolerance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4608576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A6675"/>
                </a:solidFill>
                <a:latin typeface="Aptos"/>
              </a:rPr>
              <a:t>1e-3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956048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7212B"/>
                </a:solidFill>
                <a:latin typeface="Aptos"/>
              </a:rPr>
              <a:t>Test conditions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495604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A6675"/>
                </a:solidFill>
                <a:latin typeface="Aptos"/>
              </a:rPr>
              <a:t>near training mean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6208" y="2926080"/>
            <a:ext cx="5440680" cy="2514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2926080"/>
            <a:ext cx="5440680" cy="457200"/>
          </a:xfrm>
          <a:prstGeom prst="rect">
            <a:avLst/>
          </a:prstGeom>
          <a:solidFill>
            <a:srgbClr val="C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8" y="3026664"/>
            <a:ext cx="4983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PAPER B — "cVAE for inverse design"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8" y="356616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7212B"/>
                </a:solidFill>
                <a:latin typeface="Aptos"/>
              </a:rPr>
              <a:t>Volume fraction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05088" y="356616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A6675"/>
                </a:solidFill>
                <a:latin typeface="Aptos"/>
              </a:rPr>
              <a:t>sampled in [0.30, 0.55]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4808" y="3913632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7212B"/>
                </a:solidFill>
                <a:latin typeface="Aptos"/>
              </a:rPr>
              <a:t>Filter radius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05088" y="3913632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A6675"/>
                </a:solidFill>
                <a:latin typeface="Aptos"/>
              </a:rPr>
              <a:t>2.5 px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4808" y="4261104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7212B"/>
                </a:solidFill>
                <a:latin typeface="Aptos"/>
              </a:rPr>
              <a:t>Feasibility 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05088" y="4261104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A6675"/>
                </a:solidFill>
                <a:latin typeface="Aptos"/>
              </a:rPr>
              <a:t>hard, reject if violated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4808" y="4608576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7212B"/>
                </a:solidFill>
                <a:latin typeface="Aptos"/>
              </a:rPr>
              <a:t>Solver tolerance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8" y="4608576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A6675"/>
                </a:solidFill>
                <a:latin typeface="Aptos"/>
              </a:rPr>
              <a:t>1e-5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4808" y="4956048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7212B"/>
                </a:solidFill>
                <a:latin typeface="Aptos"/>
              </a:rPr>
              <a:t>Test conditions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05088" y="495604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A6675"/>
                </a:solidFill>
                <a:latin typeface="Aptos"/>
              </a:rPr>
              <a:t>out-of-distribution corners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97864" y="5413248"/>
            <a:ext cx="9793224" cy="59436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600200" y="5586984"/>
            <a:ext cx="89885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Same task name. Same MSE. Not the same benchmark.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6419088"/>
            <a:ext cx="400507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5A6675"/>
                </a:solidFill>
                <a:latin typeface="Aptos"/>
              </a:rPr>
              <a:t>Why we cannot tell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8975" y="6419088"/>
            <a:ext cx="3712463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25" b="0">
                <a:solidFill>
                  <a:srgbClr val="5A6675"/>
                </a:solidFill>
                <a:latin typeface="Aptos"/>
              </a:rPr>
              <a:t>DCC 2026 workshop  |  EngiBench + EngiOpt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38912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225E9B"/>
                </a:solidFill>
                <a:latin typeface="Aptos"/>
              </a:rPr>
              <a:t>Three patterns of hidden failure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40664"/>
            <a:ext cx="1009497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7212B"/>
                </a:solidFill>
                <a:latin typeface="Aptos Display"/>
              </a:rPr>
              <a:t>Without a shared contract, three failure modes recur.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5" b="0">
                <a:solidFill>
                  <a:srgbClr val="5A6675"/>
                </a:solidFill>
                <a:latin typeface="Aptos"/>
              </a:rPr>
              <a:t>These are not strawmen — they are the patterns reviewers see most often when AI-for-design papers cannot be reproduced or compared.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990088"/>
            <a:ext cx="3557016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73552"/>
            <a:ext cx="4937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>
                <a:solidFill>
                  <a:srgbClr val="C84837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310128"/>
            <a:ext cx="26426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5" b="1">
                <a:solidFill>
                  <a:srgbClr val="C84837"/>
                </a:solidFill>
                <a:latin typeface="Aptos"/>
              </a:rPr>
              <a:t>Cherry-picked conditions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886200"/>
            <a:ext cx="3191256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A6675"/>
                </a:solidFill>
                <a:latin typeface="Aptos"/>
              </a:rPr>
              <a:t>Models are evaluated only on conditions near the training mean. The paper looks strong; the generator collapses on edge cases that engineers actually care about.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5968" y="2990088"/>
            <a:ext cx="3557016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3273552"/>
            <a:ext cx="4937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>
                <a:solidFill>
                  <a:srgbClr val="C47B20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8928" y="3310128"/>
            <a:ext cx="26426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5" b="1">
                <a:solidFill>
                  <a:srgbClr val="C47B20"/>
                </a:solidFill>
                <a:latin typeface="Aptos"/>
              </a:rPr>
              <a:t>Visual-only 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3886200"/>
            <a:ext cx="3191256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A6675"/>
                </a:solidFill>
                <a:latin typeface="Aptos"/>
              </a:rPr>
              <a:t>Generated designs look convincing in a grid and the paper stops there. Run them through the simulator and a large fraction violate constraints or under-perform a baseline.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37576" y="2990088"/>
            <a:ext cx="3557016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3273552"/>
            <a:ext cx="4937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>
                <a:solidFill>
                  <a:srgbClr val="225E9B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0536" y="3310128"/>
            <a:ext cx="26426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5" b="1">
                <a:solidFill>
                  <a:srgbClr val="225E9B"/>
                </a:solidFill>
                <a:latin typeface="Aptos"/>
              </a:rPr>
              <a:t>One-number scores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3886200"/>
            <a:ext cx="3191256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A6675"/>
                </a:solidFill>
                <a:latin typeface="Aptos"/>
              </a:rPr>
              <a:t>A single accuracy or MSE figure hides feasibility rate, diversity, novelty, and warm-start value. Different choices among these can flip which method "wins".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0664" y="2606040"/>
            <a:ext cx="10515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FE3F3"/>
                </a:solidFill>
                <a:latin typeface="Aptos"/>
              </a:rPr>
              <a:t>Section 2 — Lessons from other fields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" y="306324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 Display"/>
              </a:rPr>
              <a:t>What benchmarks have done elsewhere.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EAF3FA"/>
                </a:solidFill>
                <a:latin typeface="Aptos"/>
              </a:rPr>
              <a:t>Vision, language, and biology have all been here before. Three case studies, one recipe.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6419088"/>
            <a:ext cx="400507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5A6675"/>
                </a:solidFill>
                <a:latin typeface="Aptos"/>
              </a:rPr>
              <a:t>Lessons from other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8975" y="6419088"/>
            <a:ext cx="3712463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25" b="0">
                <a:solidFill>
                  <a:srgbClr val="5A6675"/>
                </a:solidFill>
                <a:latin typeface="Aptos"/>
              </a:rPr>
              <a:t>DCC 2026 workshop  |  EngiBench + EngiOpt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38912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225E9B"/>
                </a:solidFill>
                <a:latin typeface="Aptos"/>
              </a:rPr>
              <a:t>Lesson 1 — ImageNet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40664"/>
            <a:ext cx="1009497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7212B"/>
                </a:solidFill>
                <a:latin typeface="Aptos Display"/>
              </a:rPr>
              <a:t>One labeled dataset became the engine of a decade of compounding progress.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5" b="0">
                <a:solidFill>
                  <a:srgbClr val="5A6675"/>
                </a:solidFill>
                <a:latin typeface="Aptos"/>
              </a:rPr>
              <a:t>1.2M labeled images + an annual challenge with a frozen evaluation gave the field a way to measure progress that everyone trusted.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246120"/>
            <a:ext cx="1065276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4107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7212B"/>
                </a:solidFill>
                <a:latin typeface="Aptos"/>
              </a:rPr>
              <a:t>ImageNet top-5 classification error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657600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A6675"/>
                </a:solidFill>
                <a:latin typeface="Aptos"/>
              </a:rPr>
              <a:t>Years where a single benchmark let everyone agree which method actually moved the field.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08331" y="4145889"/>
            <a:ext cx="669512" cy="120335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3871569"/>
            <a:ext cx="1217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17212B"/>
                </a:solidFill>
                <a:latin typeface="Aptos"/>
              </a:rPr>
              <a:t>28.2%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394960"/>
            <a:ext cx="121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5A6675"/>
                </a:solidFill>
                <a:latin typeface="Aptos"/>
              </a:rPr>
              <a:t>2010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25626" y="4248302"/>
            <a:ext cx="669512" cy="1100937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51735" y="3973982"/>
            <a:ext cx="1217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17212B"/>
                </a:solidFill>
                <a:latin typeface="Aptos"/>
              </a:rPr>
              <a:t>25.8%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51735" y="5394960"/>
            <a:ext cx="121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5A6675"/>
                </a:solidFill>
                <a:latin typeface="Aptos"/>
              </a:rPr>
              <a:t>2011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42921" y="4649419"/>
            <a:ext cx="669512" cy="699820"/>
          </a:xfrm>
          <a:prstGeom prst="rect">
            <a:avLst/>
          </a:prstGeom>
          <a:solidFill>
            <a:srgbClr val="C84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69030" y="4375099"/>
            <a:ext cx="1217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17212B"/>
                </a:solidFill>
                <a:latin typeface="Aptos"/>
              </a:rPr>
              <a:t>16.4%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69030" y="5394960"/>
            <a:ext cx="121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5A6675"/>
                </a:solidFill>
                <a:latin typeface="Aptos"/>
              </a:rPr>
              <a:t>2012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60216" y="4849977"/>
            <a:ext cx="669512" cy="499262"/>
          </a:xfrm>
          <a:prstGeom prst="rect">
            <a:avLst/>
          </a:prstGeom>
          <a:solidFill>
            <a:srgbClr val="C84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86325" y="4575657"/>
            <a:ext cx="1217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17212B"/>
                </a:solidFill>
                <a:latin typeface="Aptos"/>
              </a:rPr>
              <a:t>11.7%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86325" y="5394960"/>
            <a:ext cx="121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5A6675"/>
                </a:solidFill>
                <a:latin typeface="Aptos"/>
              </a:rPr>
              <a:t>2013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77511" y="5063337"/>
            <a:ext cx="669512" cy="285902"/>
          </a:xfrm>
          <a:prstGeom prst="rect">
            <a:avLst/>
          </a:prstGeom>
          <a:solidFill>
            <a:srgbClr val="C84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03620" y="4789017"/>
            <a:ext cx="1217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17212B"/>
                </a:solidFill>
                <a:latin typeface="Aptos"/>
              </a:rPr>
              <a:t>6.7%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03620" y="5394960"/>
            <a:ext cx="121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5A6675"/>
                </a:solidFill>
                <a:latin typeface="Aptos"/>
              </a:rPr>
              <a:t>2014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94806" y="5195620"/>
            <a:ext cx="669512" cy="153619"/>
          </a:xfrm>
          <a:prstGeom prst="rect">
            <a:avLst/>
          </a:prstGeom>
          <a:solidFill>
            <a:srgbClr val="2F7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20915" y="4921300"/>
            <a:ext cx="1217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17212B"/>
                </a:solidFill>
                <a:latin typeface="Aptos"/>
              </a:rPr>
              <a:t>3.6%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20915" y="5394960"/>
            <a:ext cx="121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5A6675"/>
                </a:solidFill>
                <a:latin typeface="Aptos"/>
              </a:rPr>
              <a:t>2015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12101" y="5221224"/>
            <a:ext cx="669512" cy="128016"/>
          </a:xfrm>
          <a:prstGeom prst="rect">
            <a:avLst/>
          </a:prstGeom>
          <a:solidFill>
            <a:srgbClr val="2F7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38210" y="4946904"/>
            <a:ext cx="1217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17212B"/>
                </a:solidFill>
                <a:latin typeface="Aptos"/>
              </a:rPr>
              <a:t>3.0%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38210" y="5394960"/>
            <a:ext cx="121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5A6675"/>
                </a:solidFill>
                <a:latin typeface="Aptos"/>
              </a:rPr>
              <a:t>2016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29396" y="5251094"/>
            <a:ext cx="669512" cy="98145"/>
          </a:xfrm>
          <a:prstGeom prst="rect">
            <a:avLst/>
          </a:prstGeom>
          <a:solidFill>
            <a:srgbClr val="2F7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55505" y="4976774"/>
            <a:ext cx="1217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17212B"/>
                </a:solidFill>
                <a:latin typeface="Aptos"/>
              </a:rPr>
              <a:t>2.3%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5505" y="5394960"/>
            <a:ext cx="12172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5A6675"/>
                </a:solidFill>
                <a:latin typeface="Aptos"/>
              </a:rPr>
              <a:t>2017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94710" y="4114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84837"/>
                </a:solidFill>
                <a:latin typeface="Aptos"/>
              </a:rPr>
              <a:t>AlexNet (2012)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97864" y="5413248"/>
            <a:ext cx="9793224" cy="59436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600200" y="5586984"/>
            <a:ext cx="89885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A frozen evaluation made breakthroughs unambiguous.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6419088"/>
            <a:ext cx="400507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5A6675"/>
                </a:solidFill>
                <a:latin typeface="Aptos"/>
              </a:rPr>
              <a:t>Lessons from other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8975" y="6419088"/>
            <a:ext cx="3712463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25" b="0">
                <a:solidFill>
                  <a:srgbClr val="5A6675"/>
                </a:solidFill>
                <a:latin typeface="Aptos"/>
              </a:rPr>
              <a:t>DCC 2026 workshop  |  EngiBench + EngiOpt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38912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225E9B"/>
                </a:solidFill>
                <a:latin typeface="Aptos"/>
              </a:rPr>
              <a:t>Lesson 2 — GLUE / SuperGLUE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40664"/>
            <a:ext cx="1009497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7212B"/>
                </a:solidFill>
                <a:latin typeface="Aptos Display"/>
              </a:rPr>
              <a:t>When a single task saturates, a suite of tasks sustains the conversation.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5" b="0">
                <a:solidFill>
                  <a:srgbClr val="5A6675"/>
                </a:solidFill>
                <a:latin typeface="Aptos"/>
              </a:rPr>
              <a:t>Language understanding evaluation grew from one task to nine, then to a harder follow-on. Benchmarks have a lifecycle, and that is healthy.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063240"/>
            <a:ext cx="3532632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337560"/>
            <a:ext cx="1097280" cy="329184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37413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2018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76472"/>
            <a:ext cx="31668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7212B"/>
                </a:solidFill>
                <a:latin typeface="Aptos"/>
              </a:rPr>
              <a:t>GLUE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60520"/>
            <a:ext cx="316687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A6675"/>
                </a:solidFill>
                <a:latin typeface="Aptos"/>
              </a:rPr>
              <a:t>Nine sentence-level tasks collected under one leaderboard. Models had to be broadly good, not narrowly tuned.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8160" y="3063240"/>
            <a:ext cx="3532632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56760" y="3337560"/>
            <a:ext cx="1097280" cy="329184"/>
          </a:xfrm>
          <a:prstGeom prst="rect">
            <a:avLst/>
          </a:prstGeom>
          <a:solidFill>
            <a:srgbClr val="2F7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6760" y="337413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2019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6760" y="3776472"/>
            <a:ext cx="31668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7212B"/>
                </a:solidFill>
                <a:latin typeface="Aptos"/>
              </a:rPr>
              <a:t>SuperGLUE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6760" y="4160520"/>
            <a:ext cx="316687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A6675"/>
                </a:solidFill>
                <a:latin typeface="Aptos"/>
              </a:rPr>
              <a:t>When BERT-class models saturated GLUE in a year, the community designed harder tasks. The benchmark evolved with the methods.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61960" y="3063240"/>
            <a:ext cx="3532632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90560" y="3337560"/>
            <a:ext cx="1097280" cy="329184"/>
          </a:xfrm>
          <a:prstGeom prst="rect">
            <a:avLst/>
          </a:prstGeom>
          <a:solidFill>
            <a:srgbClr val="C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0560" y="337413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LESSON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0560" y="3776472"/>
            <a:ext cx="31668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7212B"/>
                </a:solidFill>
                <a:latin typeface="Aptos"/>
              </a:rPr>
              <a:t>Suites, not snapshots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0560" y="4160520"/>
            <a:ext cx="316687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A6675"/>
                </a:solidFill>
                <a:latin typeface="Aptos"/>
              </a:rPr>
              <a:t>No single number captures "language understanding" — or "design quality". Engineering design ML needs a suite, not one beam problem.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6419088"/>
            <a:ext cx="400507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5A6675"/>
                </a:solidFill>
                <a:latin typeface="Aptos"/>
              </a:rPr>
              <a:t>Lessons from other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8975" y="6419088"/>
            <a:ext cx="3712463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25" b="0">
                <a:solidFill>
                  <a:srgbClr val="5A6675"/>
                </a:solidFill>
                <a:latin typeface="Aptos"/>
              </a:rPr>
              <a:t>DCC 2026 workshop  |  EngiBench + EngiOpt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38912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225E9B"/>
                </a:solidFill>
                <a:latin typeface="Aptos"/>
              </a:rPr>
              <a:t>Lesson 3 — CASP and AlphaFold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40664"/>
            <a:ext cx="1009497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7212B"/>
                </a:solidFill>
                <a:latin typeface="Aptos Display"/>
              </a:rPr>
              <a:t>A 25-year community benchmark turned a breakthrough into a fact.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5" b="0">
                <a:solidFill>
                  <a:srgbClr val="5A6675"/>
                </a:solidFill>
                <a:latin typeface="Aptos"/>
              </a:rPr>
              <a:t>Critical Assessment of Structure Prediction (CASP) runs every two years with held-out protein structures, blind evaluation, and a shared scoring rubric.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063240"/>
            <a:ext cx="3532632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337560"/>
            <a:ext cx="1097280" cy="329184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37413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1994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76472"/>
            <a:ext cx="31668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7212B"/>
                </a:solidFill>
                <a:latin typeface="Aptos"/>
              </a:rPr>
              <a:t>The shared rubric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60520"/>
            <a:ext cx="316687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A6675"/>
                </a:solidFill>
                <a:latin typeface="Aptos"/>
              </a:rPr>
              <a:t>Held-out targets, blind submissions, GDT-TS scoring. The same protocol for 25 years let the field compare across very different methods.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8160" y="3063240"/>
            <a:ext cx="3532632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56760" y="3337560"/>
            <a:ext cx="1097280" cy="329184"/>
          </a:xfrm>
          <a:prstGeom prst="rect">
            <a:avLst/>
          </a:prstGeom>
          <a:solidFill>
            <a:srgbClr val="2F7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6760" y="337413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CASP14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6760" y="3776472"/>
            <a:ext cx="31668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7212B"/>
                </a:solidFill>
                <a:latin typeface="Aptos"/>
              </a:rPr>
              <a:t>AlphaFold 2 verified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6760" y="4160520"/>
            <a:ext cx="316687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A6675"/>
                </a:solidFill>
                <a:latin typeface="Aptos"/>
              </a:rPr>
              <a:t>DeepMind's claims landed on a benchmark biologists already trusted. The community could see exactly how much better AlphaFold was, and on what.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61960" y="3063240"/>
            <a:ext cx="3532632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90560" y="3337560"/>
            <a:ext cx="1097280" cy="329184"/>
          </a:xfrm>
          <a:prstGeom prst="rect">
            <a:avLst/>
          </a:prstGeom>
          <a:solidFill>
            <a:srgbClr val="C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0560" y="337413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LESSON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0560" y="3776472"/>
            <a:ext cx="31668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7212B"/>
                </a:solidFill>
                <a:latin typeface="Aptos"/>
              </a:rPr>
              <a:t>Trust takes infrastructure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0560" y="4160520"/>
            <a:ext cx="316687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A6675"/>
                </a:solidFill>
                <a:latin typeface="Aptos"/>
              </a:rPr>
              <a:t>Without CASP, AlphaFold would have been a press release. With it, it was a verdict. Engineering design needs the equivalent.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6419088"/>
            <a:ext cx="400507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5A6675"/>
                </a:solidFill>
                <a:latin typeface="Aptos"/>
              </a:rPr>
              <a:t>Lessons from other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8975" y="6419088"/>
            <a:ext cx="3712463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25" b="0">
                <a:solidFill>
                  <a:srgbClr val="5A6675"/>
                </a:solidFill>
                <a:latin typeface="Aptos"/>
              </a:rPr>
              <a:t>DCC 2026 workshop  |  EngiBench + EngiOpt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38912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225E9B"/>
                </a:solidFill>
                <a:latin typeface="Aptos"/>
              </a:rPr>
              <a:t>What good benchmarks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40664"/>
            <a:ext cx="1009497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7212B"/>
                </a:solidFill>
                <a:latin typeface="Aptos Display"/>
              </a:rPr>
              <a:t>Four ingredients turn a dataset into a benchmark — and a benchmark into a community.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5" b="0">
                <a:solidFill>
                  <a:srgbClr val="5A6675"/>
                </a:solidFill>
                <a:latin typeface="Aptos"/>
              </a:rPr>
              <a:t>ImageNet, GLUE, CASP, MuJoCo/Gym, OGB. Different communities, same recipe.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926080"/>
            <a:ext cx="2626613" cy="2697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09544"/>
            <a:ext cx="4937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>
                <a:solidFill>
                  <a:srgbClr val="225E9B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246120"/>
            <a:ext cx="171221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5" b="1">
                <a:solidFill>
                  <a:srgbClr val="225E9B"/>
                </a:solidFill>
                <a:latin typeface="Aptos"/>
              </a:rPr>
              <a:t>Fixed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822192"/>
            <a:ext cx="2260853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A6675"/>
                </a:solidFill>
                <a:latin typeface="Aptos"/>
              </a:rPr>
              <a:t>Everyone trains and evaluates on the same conditions, splits, and constraints. No silent re-curating.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5565" y="2926080"/>
            <a:ext cx="2626613" cy="2697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4165" y="3209544"/>
            <a:ext cx="4937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>
                <a:solidFill>
                  <a:srgbClr val="2F7D62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8525" y="3246120"/>
            <a:ext cx="171221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5" b="1">
                <a:solidFill>
                  <a:srgbClr val="2F7D62"/>
                </a:solidFill>
                <a:latin typeface="Aptos"/>
              </a:rPr>
              <a:t>Standardized 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2453" y="3822192"/>
            <a:ext cx="2260853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A6675"/>
                </a:solidFill>
                <a:latin typeface="Aptos"/>
              </a:rPr>
              <a:t>One shared, executable scoring pipeline. The verdict is code, not a paragraph.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6770" y="2926080"/>
            <a:ext cx="2626613" cy="2697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5370" y="3209544"/>
            <a:ext cx="4937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>
                <a:solidFill>
                  <a:srgbClr val="C47B20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9730" y="3246120"/>
            <a:ext cx="171221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5" b="1">
                <a:solidFill>
                  <a:srgbClr val="C47B20"/>
                </a:solidFill>
                <a:latin typeface="Aptos"/>
              </a:rPr>
              <a:t>Open 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3658" y="3822192"/>
            <a:ext cx="2260853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A6675"/>
                </a:solidFill>
                <a:latin typeface="Aptos"/>
              </a:rPr>
              <a:t>Anyone can download, run, and submit. Low cost of entry is what creates a market for ideas.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7975" y="2926080"/>
            <a:ext cx="2626613" cy="2697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96575" y="3209544"/>
            <a:ext cx="4937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>
                <a:solidFill>
                  <a:srgbClr val="C84837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90935" y="3246120"/>
            <a:ext cx="171221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5" b="1">
                <a:solidFill>
                  <a:srgbClr val="C84837"/>
                </a:solidFill>
                <a:latin typeface="Aptos"/>
              </a:rPr>
              <a:t>Community ownership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4863" y="3822192"/>
            <a:ext cx="2260853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A6675"/>
                </a:solidFill>
                <a:latin typeface="Aptos"/>
              </a:rPr>
              <a:t>Benchmarks evolve with their fields. Maintenance, versioning, and challenge rounds keep them alive.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97864" y="5413248"/>
            <a:ext cx="9793224" cy="59436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00200" y="5586984"/>
            <a:ext cx="89885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Engineering design ML has almost none of this — yet.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0664" y="2606040"/>
            <a:ext cx="10515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FE3F3"/>
                </a:solidFill>
                <a:latin typeface="Aptos"/>
              </a:rPr>
              <a:t>Section 3 — What our field needs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" y="306324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 Display"/>
              </a:rPr>
              <a:t>What engineering design ML still lacks.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EAF3FA"/>
                </a:solidFill>
                <a:latin typeface="Aptos"/>
              </a:rPr>
              <a:t>The gap is not theory or talent. It is shared, executable infrastructure.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6419088"/>
            <a:ext cx="400507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5A6675"/>
                </a:solidFill>
                <a:latin typeface="Aptos"/>
              </a:rPr>
              <a:t>What the field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8975" y="6419088"/>
            <a:ext cx="3712463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25" b="0">
                <a:solidFill>
                  <a:srgbClr val="5A6675"/>
                </a:solidFill>
                <a:latin typeface="Aptos"/>
              </a:rPr>
              <a:t>DCC 2026 workshop  |  EngiBench + EngiOpt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38912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225E9B"/>
                </a:solidFill>
                <a:latin typeface="Aptos"/>
              </a:rPr>
              <a:t>What engineering design ML lacks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40664"/>
            <a:ext cx="1009497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7212B"/>
                </a:solidFill>
                <a:latin typeface="Aptos Display"/>
              </a:rPr>
              <a:t>Five pieces are missing from how we currently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5" b="0">
                <a:solidFill>
                  <a:srgbClr val="5A6675"/>
                </a:solidFill>
                <a:latin typeface="Aptos"/>
              </a:rPr>
              <a:t>Each missing piece is something a determined researcher can rebuild — but they should not have to. Shared infrastructure is faster than parallel effort.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063240"/>
            <a:ext cx="534924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3063240"/>
            <a:ext cx="91440" cy="123444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46120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25E9B"/>
                </a:solidFill>
                <a:latin typeface="Aptos"/>
              </a:rPr>
              <a:t>Standard problems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11880"/>
            <a:ext cx="4892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A6675"/>
                </a:solidFill>
                <a:latin typeface="Aptos"/>
              </a:rPr>
              <a:t>A small, curated set of well-defined design tasks the community returns to.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3063240"/>
            <a:ext cx="534924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3063240"/>
            <a:ext cx="91440" cy="1234440"/>
          </a:xfrm>
          <a:prstGeom prst="rect">
            <a:avLst/>
          </a:prstGeom>
          <a:solidFill>
            <a:srgbClr val="2F7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246120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F7D62"/>
                </a:solidFill>
                <a:latin typeface="Aptos"/>
              </a:rPr>
              <a:t>Shared simulators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611880"/>
            <a:ext cx="4892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A6675"/>
                </a:solidFill>
                <a:latin typeface="Aptos"/>
              </a:rPr>
              <a:t>Installable, deterministic, and citable. The verdict has to run on any laptop.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443984"/>
            <a:ext cx="534924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4443984"/>
            <a:ext cx="91440" cy="1234440"/>
          </a:xfrm>
          <a:prstGeom prst="rect">
            <a:avLst/>
          </a:prstGeom>
          <a:solidFill>
            <a:srgbClr val="C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626864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47B20"/>
                </a:solidFill>
                <a:latin typeface="Aptos"/>
              </a:rPr>
              <a:t>Curated datasets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992624"/>
            <a:ext cx="4892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A6675"/>
                </a:solidFill>
                <a:latin typeface="Aptos"/>
              </a:rPr>
              <a:t>Optimized designs, conditions, and metadata — already split for fair evaluation.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4443984"/>
            <a:ext cx="534924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4443984"/>
            <a:ext cx="91440" cy="1234440"/>
          </a:xfrm>
          <a:prstGeom prst="rect">
            <a:avLst/>
          </a:prstGeom>
          <a:solidFill>
            <a:srgbClr val="C84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626864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84837"/>
                </a:solidFill>
                <a:latin typeface="Aptos"/>
              </a:rPr>
              <a:t>Multi-faceted metrics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992624"/>
            <a:ext cx="4892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A6675"/>
                </a:solidFill>
                <a:latin typeface="Aptos"/>
              </a:rPr>
              <a:t>Feasibility, performance gap, diversity, novelty, warm-start. Not one number.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824728"/>
            <a:ext cx="534924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5824728"/>
            <a:ext cx="91440" cy="123444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6007608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25E9B"/>
                </a:solidFill>
                <a:latin typeface="Aptos"/>
              </a:rPr>
              <a:t>Reproducible runners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6373368"/>
            <a:ext cx="4892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A6675"/>
                </a:solidFill>
                <a:latin typeface="Aptos"/>
              </a:rPr>
              <a:t>Same harness for training and evaluation, scriptable and versioned.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5824728"/>
            <a:ext cx="534924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26480" y="5824728"/>
            <a:ext cx="91440" cy="1234440"/>
          </a:xfrm>
          <a:prstGeom prst="rect">
            <a:avLst/>
          </a:prstGeom>
          <a:solidFill>
            <a:srgbClr val="2F7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6007608"/>
            <a:ext cx="4892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F7D62"/>
                </a:solidFill>
                <a:latin typeface="Aptos"/>
              </a:rPr>
              <a:t>Contribution path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6373368"/>
            <a:ext cx="4892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A6675"/>
                </a:solidFill>
                <a:latin typeface="Aptos"/>
              </a:rPr>
              <a:t>A way for new problems and new domains to enter without forking the framework.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6419088"/>
            <a:ext cx="400507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5A6675"/>
                </a:solidFill>
                <a:latin typeface="Aptos"/>
              </a:rPr>
              <a:t>What the field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8975" y="6419088"/>
            <a:ext cx="3712463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25" b="0">
                <a:solidFill>
                  <a:srgbClr val="5A6675"/>
                </a:solidFill>
                <a:latin typeface="Aptos"/>
              </a:rPr>
              <a:t>DCC 2026 workshop  |  EngiBench + EngiOpt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38912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225E9B"/>
                </a:solidFill>
                <a:latin typeface="Aptos"/>
              </a:rPr>
              <a:t>Evaluation, properly scoped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40664"/>
            <a:ext cx="1009497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7212B"/>
                </a:solidFill>
                <a:latin typeface="Aptos Display"/>
              </a:rPr>
              <a:t>Engineering quality is multi-faceted. A single scalar will betray you.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5" b="0">
                <a:solidFill>
                  <a:srgbClr val="5A6675"/>
                </a:solidFill>
                <a:latin typeface="Aptos"/>
              </a:rPr>
              <a:t>Each axis below can flip a paper's conclusion. Reporting only one is the design-ML equivalent of reporting only training loss.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017520"/>
            <a:ext cx="1101852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3017520"/>
            <a:ext cx="91440" cy="59436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090672"/>
            <a:ext cx="2834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225E9B"/>
                </a:solidFill>
                <a:latin typeface="Aptos"/>
              </a:rPr>
              <a:t>Feasibility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090672"/>
            <a:ext cx="76352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A6675"/>
                </a:solidFill>
                <a:latin typeface="Aptos"/>
              </a:rPr>
              <a:t>What fraction of generated designs actually satisfy the constraints?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685032"/>
            <a:ext cx="1101852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3685032"/>
            <a:ext cx="91440" cy="594360"/>
          </a:xfrm>
          <a:prstGeom prst="rect">
            <a:avLst/>
          </a:prstGeom>
          <a:solidFill>
            <a:srgbClr val="2F7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758184"/>
            <a:ext cx="2834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2F7D62"/>
                </a:solidFill>
                <a:latin typeface="Aptos"/>
              </a:rPr>
              <a:t>Performance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758184"/>
            <a:ext cx="76352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A6675"/>
                </a:solidFill>
                <a:latin typeface="Aptos"/>
              </a:rPr>
              <a:t>How does the simulated objective compare to the optimizer baseline?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352544"/>
            <a:ext cx="1101852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4352544"/>
            <a:ext cx="91440" cy="594360"/>
          </a:xfrm>
          <a:prstGeom prst="rect">
            <a:avLst/>
          </a:prstGeom>
          <a:solidFill>
            <a:srgbClr val="C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425696"/>
            <a:ext cx="2834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C47B20"/>
                </a:solidFill>
                <a:latin typeface="Aptos"/>
              </a:rPr>
              <a:t>Diversity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4425696"/>
            <a:ext cx="76352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A6675"/>
                </a:solidFill>
                <a:latin typeface="Aptos"/>
              </a:rPr>
              <a:t>Does the generator explore the design space, or collapse to one mode?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5020056"/>
            <a:ext cx="1101852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5020056"/>
            <a:ext cx="91440" cy="594360"/>
          </a:xfrm>
          <a:prstGeom prst="rect">
            <a:avLst/>
          </a:prstGeom>
          <a:solidFill>
            <a:srgbClr val="C84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093208"/>
            <a:ext cx="2834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C84837"/>
                </a:solidFill>
                <a:latin typeface="Aptos"/>
              </a:rPr>
              <a:t>Novelty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5093208"/>
            <a:ext cx="76352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A6675"/>
                </a:solidFill>
                <a:latin typeface="Aptos"/>
              </a:rPr>
              <a:t>Are generated designs new, or paraphrases of the training set?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687568"/>
            <a:ext cx="1101852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5687568"/>
            <a:ext cx="91440" cy="59436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760720"/>
            <a:ext cx="2834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225E9B"/>
                </a:solidFill>
                <a:latin typeface="Aptos"/>
              </a:rPr>
              <a:t>Warm-start utility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5760720"/>
            <a:ext cx="76352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A6675"/>
                </a:solidFill>
                <a:latin typeface="Aptos"/>
              </a:rPr>
              <a:t>Does the generator make a downstream optimizer faster, even when imperfect?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6419088"/>
            <a:ext cx="400507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5A6675"/>
                </a:solidFill>
                <a:latin typeface="Aptos"/>
              </a:rPr>
              <a:t>What the field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8975" y="6419088"/>
            <a:ext cx="3712463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25" b="0">
                <a:solidFill>
                  <a:srgbClr val="5A6675"/>
                </a:solidFill>
                <a:latin typeface="Aptos"/>
              </a:rPr>
              <a:t>DCC 2026 workshop  |  EngiBench + EngiOpt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38912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225E9B"/>
                </a:solidFill>
                <a:latin typeface="Aptos"/>
              </a:rPr>
              <a:t>Datasets alone do not benchmark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40664"/>
            <a:ext cx="1009497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7212B"/>
                </a:solidFill>
                <a:latin typeface="Aptos Display"/>
              </a:rPr>
              <a:t>"We released the dataset" is necessary, but not enough.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5" b="0">
                <a:solidFill>
                  <a:srgbClr val="5A6675"/>
                </a:solidFill>
                <a:latin typeface="Aptos"/>
              </a:rPr>
              <a:t>If you cannot rerun the simulator and the scoring pipeline, you can display generated designs — you cannot score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926080"/>
            <a:ext cx="5440680" cy="2697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2926080"/>
            <a:ext cx="5440680" cy="457200"/>
          </a:xfrm>
          <a:prstGeom prst="rect">
            <a:avLst/>
          </a:prstGeom>
          <a:solidFill>
            <a:srgbClr val="C84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026664"/>
            <a:ext cx="4983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DATASET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1188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7212B"/>
                </a:solidFill>
                <a:latin typeface="Aptos"/>
              </a:rPr>
              <a:t>Inspect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361188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A6675"/>
                </a:solidFill>
                <a:latin typeface="Aptos"/>
              </a:rPr>
              <a:t>Can plot ground-truth designs.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08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7212B"/>
                </a:solidFill>
                <a:latin typeface="Aptos"/>
              </a:rPr>
              <a:t>Train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406908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A6675"/>
                </a:solidFill>
                <a:latin typeface="Aptos"/>
              </a:rPr>
              <a:t>Can fit a model to recover them.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52628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7212B"/>
                </a:solidFill>
                <a:latin typeface="Aptos"/>
              </a:rPr>
              <a:t>Compare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452628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A6675"/>
                </a:solidFill>
                <a:latin typeface="Aptos"/>
              </a:rPr>
              <a:t>Cannot. Reviewers re-derive their own metrics.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98348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7212B"/>
                </a:solidFill>
                <a:latin typeface="Aptos"/>
              </a:rPr>
              <a:t>Reproduce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498348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A6675"/>
                </a:solidFill>
                <a:latin typeface="Aptos"/>
              </a:rPr>
              <a:t>Hard. Every group rebuilds the pipeline differently.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6208" y="2926080"/>
            <a:ext cx="5440680" cy="2697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2926080"/>
            <a:ext cx="5440680" cy="457200"/>
          </a:xfrm>
          <a:prstGeom prst="rect">
            <a:avLst/>
          </a:prstGeom>
          <a:solidFill>
            <a:srgbClr val="2F7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8" y="3026664"/>
            <a:ext cx="4983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DATASET + SIMULATOR + SCORING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361188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7212B"/>
                </a:solidFill>
                <a:latin typeface="Aptos"/>
              </a:rPr>
              <a:t>Inspect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65008" y="361188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A6675"/>
                </a:solidFill>
                <a:latin typeface="Aptos"/>
              </a:rPr>
              <a:t>Plot, and verify against ground truth.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8" y="406908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7212B"/>
                </a:solidFill>
                <a:latin typeface="Aptos"/>
              </a:rPr>
              <a:t>Train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65008" y="406908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A6675"/>
                </a:solidFill>
                <a:latin typeface="Aptos"/>
              </a:rPr>
              <a:t>Fit a model with consistent conditions and splits.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4808" y="452628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7212B"/>
                </a:solidFill>
                <a:latin typeface="Aptos"/>
              </a:rPr>
              <a:t>Compare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5008" y="452628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A6675"/>
                </a:solidFill>
                <a:latin typeface="Aptos"/>
              </a:rPr>
              <a:t>Run the shared evaluator and submit a number.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4808" y="498348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7212B"/>
                </a:solidFill>
                <a:latin typeface="Aptos"/>
              </a:rPr>
              <a:t>Reproduce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65008" y="498348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A6675"/>
                </a:solidFill>
                <a:latin typeface="Aptos"/>
              </a:rPr>
              <a:t>One install, one command. The verdict is portable.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0664" y="2606040"/>
            <a:ext cx="10515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FE3F3"/>
                </a:solidFill>
                <a:latin typeface="Aptos"/>
              </a:rPr>
              <a:t>What we built, and why we are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" y="306324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 Display"/>
              </a:rPr>
              <a:t>Enter EngiBench.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EAF3FA"/>
                </a:solidFill>
                <a:latin typeface="Aptos"/>
              </a:rPr>
              <a:t>A standardized framework for benchmarking generative AI in engineering design.  Published at NeurIPS 2025.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6419088"/>
            <a:ext cx="400507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5A6675"/>
                </a:solidFill>
                <a:latin typeface="Aptos"/>
              </a:rPr>
              <a:t>EngiBench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8975" y="6419088"/>
            <a:ext cx="3712463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25" b="0">
                <a:solidFill>
                  <a:srgbClr val="5A6675"/>
                </a:solidFill>
                <a:latin typeface="Aptos"/>
              </a:rPr>
              <a:t>DCC 2026 workshop  |  EngiBench + EngiOpt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38912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225E9B"/>
                </a:solidFill>
                <a:latin typeface="Aptos"/>
              </a:rPr>
              <a:t>The design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40664"/>
            <a:ext cx="1009497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7212B"/>
                </a:solidFill>
                <a:latin typeface="Aptos Display"/>
              </a:rPr>
              <a:t>Each EngiBench problem is a "paper in a can".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5" b="0">
                <a:solidFill>
                  <a:srgbClr val="5A6675"/>
                </a:solidFill>
                <a:latin typeface="Aptos"/>
              </a:rPr>
              <a:t>One problem bundles every choice you would otherwise have to dig out of a methods section, and exposes them behind one Python interface.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017520"/>
            <a:ext cx="2612898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3017520"/>
            <a:ext cx="2612898" cy="9144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3218688"/>
            <a:ext cx="22471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25E9B"/>
                </a:solidFill>
                <a:latin typeface="Aptos"/>
              </a:rPr>
              <a:t>Design 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3621024"/>
            <a:ext cx="224713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Aptos"/>
              </a:rPr>
              <a:t>What values may a design take.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138" y="3017520"/>
            <a:ext cx="2612898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90138" y="3017520"/>
            <a:ext cx="2612898" cy="91440"/>
          </a:xfrm>
          <a:prstGeom prst="rect">
            <a:avLst/>
          </a:prstGeom>
          <a:solidFill>
            <a:srgbClr val="2F7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1306" y="3218688"/>
            <a:ext cx="22471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F7D62"/>
                </a:solidFill>
                <a:latin typeface="Aptos"/>
              </a:rPr>
              <a:t>Conditions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1306" y="3621024"/>
            <a:ext cx="224713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Aptos"/>
              </a:rPr>
              <a:t>What scenarios it must work under.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5916" y="3017520"/>
            <a:ext cx="2612898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5916" y="3017520"/>
            <a:ext cx="2612898" cy="91440"/>
          </a:xfrm>
          <a:prstGeom prst="rect">
            <a:avLst/>
          </a:prstGeom>
          <a:solidFill>
            <a:srgbClr val="C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7084" y="3218688"/>
            <a:ext cx="22471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47B20"/>
                </a:solidFill>
                <a:latin typeface="Aptos"/>
              </a:rPr>
              <a:t>Objectives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7084" y="3621024"/>
            <a:ext cx="224713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Aptos"/>
              </a:rPr>
              <a:t>What better means, quantitatively.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81694" y="3017520"/>
            <a:ext cx="2612898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81694" y="3017520"/>
            <a:ext cx="2612898" cy="91440"/>
          </a:xfrm>
          <a:prstGeom prst="rect">
            <a:avLst/>
          </a:prstGeom>
          <a:solidFill>
            <a:srgbClr val="C84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2862" y="3218688"/>
            <a:ext cx="22471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84837"/>
                </a:solidFill>
                <a:latin typeface="Aptos"/>
              </a:rPr>
              <a:t>Constraints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2862" y="3621024"/>
            <a:ext cx="224713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Aptos"/>
              </a:rPr>
              <a:t>When a candidate is invalid.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4370832"/>
            <a:ext cx="2612898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4370832"/>
            <a:ext cx="2612898" cy="9144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8" y="4572000"/>
            <a:ext cx="22471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25E9B"/>
                </a:solidFill>
                <a:latin typeface="Aptos"/>
              </a:rPr>
              <a:t>Dataset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" y="4974336"/>
            <a:ext cx="224713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Aptos"/>
              </a:rPr>
              <a:t>Curated examples with metadata.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90138" y="4370832"/>
            <a:ext cx="2612898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90138" y="4370832"/>
            <a:ext cx="2612898" cy="91440"/>
          </a:xfrm>
          <a:prstGeom prst="rect">
            <a:avLst/>
          </a:prstGeom>
          <a:solidFill>
            <a:srgbClr val="2F7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91306" y="4572000"/>
            <a:ext cx="22471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F7D62"/>
                </a:solidFill>
                <a:latin typeface="Aptos"/>
              </a:rPr>
              <a:t>Render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91306" y="4974336"/>
            <a:ext cx="224713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Aptos"/>
              </a:rPr>
              <a:t>How to look at a design.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5916" y="4370832"/>
            <a:ext cx="2612898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85916" y="4370832"/>
            <a:ext cx="2612898" cy="91440"/>
          </a:xfrm>
          <a:prstGeom prst="rect">
            <a:avLst/>
          </a:prstGeom>
          <a:solidFill>
            <a:srgbClr val="C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87084" y="4572000"/>
            <a:ext cx="22471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47B20"/>
                </a:solidFill>
                <a:latin typeface="Aptos"/>
              </a:rPr>
              <a:t>Simulate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7084" y="4974336"/>
            <a:ext cx="224713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Aptos"/>
              </a:rPr>
              <a:t>How to score a design.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81694" y="4370832"/>
            <a:ext cx="2612898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981694" y="4370832"/>
            <a:ext cx="2612898" cy="91440"/>
          </a:xfrm>
          <a:prstGeom prst="rect">
            <a:avLst/>
          </a:prstGeom>
          <a:solidFill>
            <a:srgbClr val="C84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82862" y="4572000"/>
            <a:ext cx="22471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84837"/>
                </a:solidFill>
                <a:latin typeface="Aptos"/>
              </a:rPr>
              <a:t>Optimize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2862" y="4974336"/>
            <a:ext cx="224713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Aptos"/>
              </a:rPr>
              <a:t>What classical baseline to beat.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6419088"/>
            <a:ext cx="400507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5A6675"/>
                </a:solidFill>
                <a:latin typeface="Aptos"/>
              </a:rPr>
              <a:t>EngiBench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8975" y="6419088"/>
            <a:ext cx="3712463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25" b="0">
                <a:solidFill>
                  <a:srgbClr val="5A6675"/>
                </a:solidFill>
                <a:latin typeface="Aptos"/>
              </a:rPr>
              <a:t>DCC 2026 workshop  |  EngiBench + EngiOpt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38912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225E9B"/>
                </a:solidFill>
                <a:latin typeface="Aptos"/>
              </a:rPr>
              <a:t>Coverage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40664"/>
            <a:ext cx="1009497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7212B"/>
                </a:solidFill>
                <a:latin typeface="Aptos Display"/>
              </a:rPr>
              <a:t>Problems across structural, thermal, aerodynamic, photonic, and electronic design.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5" b="0">
                <a:solidFill>
                  <a:srgbClr val="5A6675"/>
                </a:solidFill>
                <a:latin typeface="Aptos"/>
              </a:rPr>
              <a:t>EngiBench ships a curated catalog of problems. Each comes with a dataset, a simulator, and a baseline optimizer — ready to compare against.</a:t>
            </a:r>
          </a:p>
        </p:txBody>
      </p:sp>
      <p:pic>
        <p:nvPicPr>
          <p:cNvPr id="9" name="Picture 8" descr="engibench_proble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108960"/>
            <a:ext cx="1014984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6419088"/>
            <a:ext cx="400507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5A6675"/>
                </a:solidFill>
                <a:latin typeface="Aptos"/>
              </a:rPr>
              <a:t>EngiBench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8975" y="6419088"/>
            <a:ext cx="3712463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25" b="0">
                <a:solidFill>
                  <a:srgbClr val="5A6675"/>
                </a:solidFill>
                <a:latin typeface="Aptos"/>
              </a:rPr>
              <a:t>DCC 2026 workshop  |  EngiBench + EngiOpt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38912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225E9B"/>
                </a:solidFill>
                <a:latin typeface="Aptos"/>
              </a:rPr>
              <a:t>The contract, in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40664"/>
            <a:ext cx="1009497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7212B"/>
                </a:solidFill>
                <a:latin typeface="Aptos Display"/>
              </a:rPr>
              <a:t>From design-problem questions to Python calls.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5" b="0">
                <a:solidFill>
                  <a:srgbClr val="5A6675"/>
                </a:solidFill>
                <a:latin typeface="Aptos"/>
              </a:rPr>
              <a:t>The same eight calls work across every EngiBench problem. Your generator plugs into one interface; your evaluation becomes portable.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788920"/>
            <a:ext cx="6675120" cy="3246120"/>
          </a:xfrm>
          <a:prstGeom prst="rect">
            <a:avLst/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6217920" cy="2788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onsolas"/>
              </a:rPr>
              <a:t>from engibench.utils.all_problems import BUILTIN_PROBLEMS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problem = BUILTIN_PROBLEMS['beams2d'](seed=7)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ds        = problem.dataset                # curated examples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conds     = problem.conditions_keys        # scenario knobs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design    = my_generator.sample(conditions)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ok        = problem.check_constraints(design, conds)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score     = problem.simulate(design, conds)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baseline  = problem.optimize(starting=design, config=conds)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problem.render(design)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2788920"/>
            <a:ext cx="411480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79" y="2788920"/>
            <a:ext cx="91440" cy="100584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79" y="2935224"/>
            <a:ext cx="3749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25E9B"/>
                </a:solidFill>
                <a:latin typeface="Aptos"/>
              </a:rPr>
              <a:t>Single source of truth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3246120"/>
            <a:ext cx="3749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Aptos"/>
              </a:rPr>
              <a:t>Every paper that uses this contract is comparing on the same task.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79" y="3886200"/>
            <a:ext cx="411480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98079" y="3886200"/>
            <a:ext cx="91440" cy="100584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4032504"/>
            <a:ext cx="3749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25E9B"/>
                </a:solidFill>
                <a:latin typeface="Aptos"/>
              </a:rPr>
              <a:t>Swap the model, not the task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4343400"/>
            <a:ext cx="3749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Aptos"/>
              </a:rPr>
              <a:t>Your generator becomes one cell; the rest of the pipeline is fixed.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79" y="4983480"/>
            <a:ext cx="411480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79" y="4983480"/>
            <a:ext cx="91440" cy="100584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26679" y="5129784"/>
            <a:ext cx="3749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25E9B"/>
                </a:solidFill>
                <a:latin typeface="Aptos"/>
              </a:rPr>
              <a:t>Portable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5440680"/>
            <a:ext cx="3749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Aptos"/>
              </a:rPr>
              <a:t>Numbers from your laptop match numbers from a reviewer's laptop.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6419088"/>
            <a:ext cx="400507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>
                <a:solidFill>
                  <a:srgbClr val="5A6675"/>
                </a:solidFill>
                <a:latin typeface="Aptos"/>
              </a:rPr>
              <a:t>Workshop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8975" y="6419088"/>
            <a:ext cx="3712463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25" b="0">
                <a:solidFill>
                  <a:srgbClr val="5A6675"/>
                </a:solidFill>
                <a:latin typeface="Aptos"/>
              </a:rPr>
              <a:t>DCC 2026 workshop  |  EngiBench + EngiOpt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38912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225E9B"/>
                </a:solidFill>
                <a:latin typeface="Aptos"/>
              </a:rPr>
              <a:t>From motivation to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40664"/>
            <a:ext cx="1009497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7212B"/>
                </a:solidFill>
                <a:latin typeface="Aptos Display"/>
              </a:rPr>
              <a:t>What you will do in the next three hours.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5" b="0">
                <a:solidFill>
                  <a:srgbClr val="5A6675"/>
                </a:solidFill>
                <a:latin typeface="Aptos"/>
              </a:rPr>
              <a:t>Four short notebooks turn the contract into muscle memory, then we come back together to discuss what the field needs next.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926080"/>
            <a:ext cx="2626613" cy="2697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09544"/>
            <a:ext cx="4937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>
                <a:solidFill>
                  <a:srgbClr val="225E9B"/>
                </a:solidFill>
                <a:latin typeface="Aptos"/>
              </a:rPr>
              <a:t>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246120"/>
            <a:ext cx="171221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5" b="1">
                <a:solidFill>
                  <a:srgbClr val="225E9B"/>
                </a:solidFill>
                <a:latin typeface="Aptos"/>
              </a:rPr>
              <a:t>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822192"/>
            <a:ext cx="2260853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A6675"/>
                </a:solidFill>
                <a:latin typeface="Aptos"/>
              </a:rPr>
              <a:t>Frame an engineering design problem as a benchmark. Load Beams2D, inspect the contract, render and check.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5565" y="2926080"/>
            <a:ext cx="2626613" cy="2697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4165" y="3209544"/>
            <a:ext cx="4937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>
                <a:solidFill>
                  <a:srgbClr val="2F7D62"/>
                </a:solidFill>
                <a:latin typeface="Apto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8525" y="3246120"/>
            <a:ext cx="171221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5" b="1">
                <a:solidFill>
                  <a:srgbClr val="2F7D62"/>
                </a:solidFill>
                <a:latin typeface="Aptos"/>
              </a:rPr>
              <a:t>Train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2453" y="3822192"/>
            <a:ext cx="2260853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A6675"/>
                </a:solidFill>
                <a:latin typeface="Aptos"/>
              </a:rPr>
              <a:t>Train a small conditional generator on optimizer answers and export evaluation-ready artifacts.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6770" y="2926080"/>
            <a:ext cx="2626613" cy="2697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5370" y="3209544"/>
            <a:ext cx="4937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>
                <a:solidFill>
                  <a:srgbClr val="C47B20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9730" y="3246120"/>
            <a:ext cx="171221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5" b="1">
                <a:solidFill>
                  <a:srgbClr val="C47B20"/>
                </a:solidFill>
                <a:latin typeface="Aptos"/>
              </a:rPr>
              <a:t>Evaluate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3658" y="3822192"/>
            <a:ext cx="2260853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A6675"/>
                </a:solidFill>
                <a:latin typeface="Aptos"/>
              </a:rPr>
              <a:t>Run feasibility, performance, diversity, and warm-start evaluations. See how visual quality and engineering quality diverge.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7975" y="2926080"/>
            <a:ext cx="2626613" cy="2697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96575" y="3209544"/>
            <a:ext cx="4937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>
                <a:solidFill>
                  <a:srgbClr val="C84837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90935" y="3246120"/>
            <a:ext cx="171221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5" b="1">
                <a:solidFill>
                  <a:srgbClr val="C84837"/>
                </a:solidFill>
                <a:latin typeface="Aptos"/>
              </a:rPr>
              <a:t>Extend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4863" y="3822192"/>
            <a:ext cx="2260853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A6675"/>
                </a:solidFill>
                <a:latin typeface="Aptos"/>
              </a:rPr>
              <a:t>Write your own minimal EngiBench-style problem so this contract works for your domain.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97864" y="5413248"/>
            <a:ext cx="9793224" cy="59436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00200" y="5586984"/>
            <a:ext cx="89885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Then we discuss: what is missing, and where do we go next as a community?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25E9B"/>
                </a:solidFill>
                <a:latin typeface="Aptos"/>
              </a:rPr>
              <a:t>DCC 2026 workshop  ·  Opening keynote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92024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>
                <a:solidFill>
                  <a:srgbClr val="17212B"/>
                </a:solidFill>
                <a:latin typeface="Aptos Display"/>
              </a:rPr>
              <a:t>Benchmarks do not slow</a:t>
            </a:r>
          </a:p>
          <a:p>
            <a:pPr algn="l"/>
            <a:r>
              <a:rPr sz="4600" b="1">
                <a:solidFill>
                  <a:srgbClr val="17212B"/>
                </a:solidFill>
                <a:latin typeface="Aptos Display"/>
              </a:rPr>
              <a:t>research down.</a:t>
            </a:r>
          </a:p>
          <a:p>
            <a:pPr algn="l"/>
            <a:r>
              <a:rPr sz="4600" b="1">
                <a:solidFill>
                  <a:srgbClr val="17212B"/>
                </a:solidFill>
                <a:latin typeface="Aptos Display"/>
              </a:rPr>
              <a:t>They make it add 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6177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5A6675"/>
                </a:solidFill>
                <a:latin typeface="Aptos"/>
              </a:rPr>
              <a:t>For engineering design ML to compound, the task contract has to be as portable as the model.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5669280"/>
            <a:ext cx="11018520" cy="59436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8338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Up next  →  Notebook 00: Frame your design problem as a benchmark contract.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