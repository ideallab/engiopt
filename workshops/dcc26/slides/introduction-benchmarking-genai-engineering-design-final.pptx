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most striking visual you have — a real photo of a generatively-designed part that the audience can recognise as 'this is engineering, not a toy demo'. Don't read the title. Establish in one sentence: this workshop is about how to know whether new ML methods actually work for engineering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real-world examples. Swap any of them for cases closer to the audience's domain if you have them. Point: generative methods aren't speculative for engineering — they make production parts. Pace: ~30s per example, name what changed materially (mass / cost / function).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Pace this fast — ~10 seconds per era. The point is volume, not method detail. Every couple of years a new generative recipe arrives, all of them get applied to engineering, all of them claim SOTA. Land the kicker: methods change quickly, evaluation doesn't.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after asking. Don't fill the silence. Most attendees will recognise the discomfort — they've all read a paper where they couldn't tell. Land softly: 'today's literature does not let us know.' This is the slide that sets up the entire workshop.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story left-to-right. (1) ML had its own crisis around 2017 — a study found 30% of papers couldn't be reproduced from text alone. (2) The community responded with checklists, open code/weights, and shared benchmarks. (3) Engineering design ML is now in the 2017 spot. The point of this workshop is to skip the 'flounder for two years' phase and go straight to the playbook that worked.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through the figure if you have a real one — point at each callout. The list on the right is the canonical taxonomy: any one of these can quietly flip a conclusion. Mention that vision papers hide at most a handful of choices; design papers hide all of these. Don't enumerate the whole list — pick two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different category of setup choice. The bold label is what the choice does in plain language; the italic line below names the technical term. Walk through 2-3 rows: 'material budget' (how much material is allowed), 'validity check' (when a design is called invalid), 'test scenarios' (whether evaluation looks like training). Point: every paper picks values for ALL of these, usually without saying 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patterns reviewers flag most often. Big numeral, then the pull-quote — that's what the audience reads. Spend ~25 seconds per panel and give one real example you've seen for at least one of them. The grey italic line at the bottom of each panel is a hint for what evidence figure would strengthen this slide later; it's a presenter note, not for the audience.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break. Brief pause. The next 4 slides step back and look at how vision, language, and biology each solved their version of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beats: the chart and the kicker. The 2012 AlexNet jump landed unambiguously because the benchmark was unambiguous. Without ImageNet, the deep learning revolution would have taken much longer to be recognised as a revolution. Engineering design has no such yardstick.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visuals, no wall of text. Left-to-right band: a GLUE score is just the unweighted average of 9 language tasks, each with its own metric — one number hiding nine. Then the chart: in ~a year BERT-class models cleared GLUE's human baseline, so the community didn't declare victory — it launched the harder SuperGLUE, which was then climbed too. Engineering design ML is where NLP was when GLUE first launched: it needs the suite, not one beam problem.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protocol slowly: held-out targets, blind submissions, one shared score — for 25 years. That patience is what made AlphaFold credible to biologists overnight. Engineering design will need its own version of CASP for results to land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enumerate the four like a list — they're the recipe. The kicker is what matters: every mature ML field has these four, engineering design has almost none. That's the gap this workshop is about.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punchline. What does our field still lack, and what does that imply we should build?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out the names quickly — 5 to 10 seconds total. Don't expand on each. The point is to make the gap visible, not exhaustive. The next two slides motivate why each one matters.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have real spider data from your own runs, overlay it on this chart. The point: a model can win on one axis and lose on another. Pick the 2-3 axes that matter most to the audience's domain.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argument for EngiBench versus just-release-the-dataset. The top flow ends at 'display only' — papers can show designs but cannot tell you whether they are good. The bottom flow ends at 'portable verdict' — numbers travel between labs. Land this slowly.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transition. Pause for emphasis. From here on, the deck is concrete: what we built, what it gives you, and what you'll do with it in the next three hours.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in a can' metaphor is the whole slide. Each satellite is a real Python attribute on a Problem object — when you say a name, say what it gives you. This is THE contract slide. Spend ~45 seconds.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enumerate every problem — name the domains and move on. The image is the point. Mention briefly that there's a contribution path for new problems and that the next notebook walks them through 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code. Point at three lines (problem.check_constraints, problem.simulate, problem.optimize) and say what each gives you. The three callouts on the right are the takeaway claims — emphasise 'portable evidence': numbers match across laptops.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~45 seconds. Don't go deep — they'll see it themselves. Mention runtime fallbacks: if training is slow, the evaluation notebook auto-rebuilds artifacts. The kicker reminds the audience that the second half is a real discussion, not a tutorial.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line. Long pause. Then redirect to Notebook 00 — physical transition (move from podium, change screens). Don't add more words here; the slide is the takeaway.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80760" cy="6858000"/>
          </a:xfrm>
          <a:prstGeom prst="rect">
            <a:avLst/>
          </a:prstGeom>
          <a:solidFill>
            <a:srgbClr val="225E9B"/>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37460" y="2834640"/>
            <a:ext cx="1005840" cy="731520"/>
          </a:xfrm>
          <a:prstGeom prst="rect">
            <a:avLst/>
          </a:prstGeom>
          <a:noFill/>
          <a:ln w="15875">
            <a:solidFill>
              <a:srgbClr val="CFE3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a:off x="2720340" y="3063240"/>
            <a:ext cx="640080" cy="457200"/>
          </a:xfrm>
          <a:prstGeom prst="triangle">
            <a:avLst/>
          </a:prstGeom>
          <a:solidFill>
            <a:srgbClr val="CF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50692" y="2944368"/>
            <a:ext cx="164592" cy="164592"/>
          </a:xfrm>
          <a:prstGeom prst="ellipse">
            <a:avLst/>
          </a:prstGeom>
          <a:solidFill>
            <a:srgbClr val="CF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6291072"/>
            <a:ext cx="5806440" cy="256032"/>
          </a:xfrm>
          <a:prstGeom prst="rect">
            <a:avLst/>
          </a:prstGeom>
          <a:noFill/>
        </p:spPr>
        <p:txBody>
          <a:bodyPr wrap="square" lIns="0" rIns="0" tIns="0" bIns="0" anchor="t">
            <a:spAutoFit/>
          </a:bodyPr>
          <a:lstStyle/>
          <a:p>
            <a:pPr algn="ctr"/>
            <a:r>
              <a:rPr sz="1000" b="1" i="1">
                <a:solidFill>
                  <a:srgbClr val="225E9B"/>
                </a:solidFill>
                <a:latin typeface="Aptos"/>
              </a:rPr>
              <a:t>[HERO: Airbus A320 bionic partition  OR  EngiBench beams2d hero render]</a:t>
            </a:r>
          </a:p>
        </p:txBody>
      </p:sp>
      <p:sp>
        <p:nvSpPr>
          <p:cNvPr id="8" name="TextBox 7"/>
          <p:cNvSpPr txBox="1"/>
          <p:nvPr/>
        </p:nvSpPr>
        <p:spPr>
          <a:xfrm>
            <a:off x="137160" y="6565392"/>
            <a:ext cx="5806440" cy="237744"/>
          </a:xfrm>
          <a:prstGeom prst="rect">
            <a:avLst/>
          </a:prstGeom>
          <a:noFill/>
        </p:spPr>
        <p:txBody>
          <a:bodyPr wrap="square" lIns="0" rIns="0" tIns="0" bIns="0" anchor="t">
            <a:spAutoFit/>
          </a:bodyPr>
          <a:lstStyle/>
          <a:p>
            <a:pPr algn="ctr"/>
            <a:r>
              <a:rPr sz="850" b="0" i="1">
                <a:solidFill>
                  <a:srgbClr val="7A8493"/>
                </a:solidFill>
                <a:latin typeface="Aptos"/>
              </a:rPr>
              <a:t>Source: Autodesk + Airbus 2016 press image; OR engibench.docs/_static/img/problems/beams2d.png</a:t>
            </a:r>
          </a:p>
        </p:txBody>
      </p:sp>
      <p:sp>
        <p:nvSpPr>
          <p:cNvPr id="9" name="TextBox 8"/>
          <p:cNvSpPr txBox="1"/>
          <p:nvPr/>
        </p:nvSpPr>
        <p:spPr>
          <a:xfrm>
            <a:off x="594360" y="502920"/>
            <a:ext cx="5029200" cy="274320"/>
          </a:xfrm>
          <a:prstGeom prst="rect">
            <a:avLst/>
          </a:prstGeom>
          <a:noFill/>
        </p:spPr>
        <p:txBody>
          <a:bodyPr wrap="square" lIns="0" rIns="0" tIns="0" bIns="0" anchor="t">
            <a:spAutoFit/>
          </a:bodyPr>
          <a:lstStyle/>
          <a:p>
            <a:pPr algn="l"/>
            <a:r>
              <a:rPr sz="1100" b="1" i="0">
                <a:solidFill>
                  <a:srgbClr val="CFE3F3"/>
                </a:solidFill>
                <a:latin typeface="Aptos"/>
              </a:rPr>
              <a:t>DCC 2026 PARIS  ·  OPENING KEYNOTE</a:t>
            </a:r>
          </a:p>
        </p:txBody>
      </p:sp>
      <p:sp>
        <p:nvSpPr>
          <p:cNvPr id="10" name="TextBox 9"/>
          <p:cNvSpPr txBox="1"/>
          <p:nvPr/>
        </p:nvSpPr>
        <p:spPr>
          <a:xfrm>
            <a:off x="6446520" y="1371600"/>
            <a:ext cx="5349240" cy="274320"/>
          </a:xfrm>
          <a:prstGeom prst="rect">
            <a:avLst/>
          </a:prstGeom>
          <a:noFill/>
        </p:spPr>
        <p:txBody>
          <a:bodyPr wrap="square" lIns="0" rIns="0" tIns="0" bIns="0" anchor="t">
            <a:spAutoFit/>
          </a:bodyPr>
          <a:lstStyle/>
          <a:p>
            <a:pPr algn="l"/>
            <a:r>
              <a:rPr sz="1000" b="1" i="0">
                <a:solidFill>
                  <a:srgbClr val="225E9B"/>
                </a:solidFill>
                <a:latin typeface="Aptos"/>
              </a:rPr>
              <a:t>WORKSHOP OPENING</a:t>
            </a:r>
          </a:p>
        </p:txBody>
      </p:sp>
      <p:sp>
        <p:nvSpPr>
          <p:cNvPr id="11" name="TextBox 10"/>
          <p:cNvSpPr txBox="1"/>
          <p:nvPr/>
        </p:nvSpPr>
        <p:spPr>
          <a:xfrm>
            <a:off x="6446520" y="1783080"/>
            <a:ext cx="5486400" cy="2377440"/>
          </a:xfrm>
          <a:prstGeom prst="rect">
            <a:avLst/>
          </a:prstGeom>
          <a:noFill/>
        </p:spPr>
        <p:txBody>
          <a:bodyPr wrap="square" lIns="0" rIns="0" tIns="0" bIns="0" anchor="t">
            <a:spAutoFit/>
          </a:bodyPr>
          <a:lstStyle/>
          <a:p>
            <a:pPr algn="l">
              <a:lnSpc>
                <a:spcPct val="100000"/>
              </a:lnSpc>
            </a:pPr>
            <a:r>
              <a:rPr sz="4000" b="1" i="0">
                <a:solidFill>
                  <a:srgbClr val="17212B"/>
                </a:solidFill>
                <a:latin typeface="Aptos Display"/>
              </a:rPr>
              <a:t>Benchmarking</a:t>
            </a:r>
          </a:p>
          <a:p>
            <a:pPr algn="l">
              <a:lnSpc>
                <a:spcPct val="100000"/>
              </a:lnSpc>
            </a:pPr>
            <a:r>
              <a:rPr sz="4000" b="1" i="0">
                <a:solidFill>
                  <a:srgbClr val="17212B"/>
                </a:solidFill>
                <a:latin typeface="Aptos Display"/>
              </a:rPr>
              <a:t>Generative AI</a:t>
            </a:r>
          </a:p>
          <a:p>
            <a:pPr algn="l">
              <a:lnSpc>
                <a:spcPct val="100000"/>
              </a:lnSpc>
            </a:pPr>
            <a:r>
              <a:rPr sz="4000" b="1" i="0">
                <a:solidFill>
                  <a:srgbClr val="17212B"/>
                </a:solidFill>
                <a:latin typeface="Aptos Display"/>
              </a:rPr>
              <a:t>for Engineering</a:t>
            </a:r>
          </a:p>
          <a:p>
            <a:pPr algn="l">
              <a:lnSpc>
                <a:spcPct val="100000"/>
              </a:lnSpc>
            </a:pPr>
            <a:r>
              <a:rPr sz="4000" b="1" i="0">
                <a:solidFill>
                  <a:srgbClr val="17212B"/>
                </a:solidFill>
                <a:latin typeface="Aptos Display"/>
              </a:rPr>
              <a:t>Design.</a:t>
            </a:r>
          </a:p>
        </p:txBody>
      </p:sp>
      <p:sp>
        <p:nvSpPr>
          <p:cNvPr id="12" name="Rectangle 11"/>
          <p:cNvSpPr/>
          <p:nvPr/>
        </p:nvSpPr>
        <p:spPr>
          <a:xfrm>
            <a:off x="6446520" y="4617720"/>
            <a:ext cx="457200" cy="54864"/>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800600"/>
            <a:ext cx="5486400" cy="457200"/>
          </a:xfrm>
          <a:prstGeom prst="rect">
            <a:avLst/>
          </a:prstGeom>
          <a:noFill/>
        </p:spPr>
        <p:txBody>
          <a:bodyPr wrap="square" lIns="0" rIns="0" tIns="0" bIns="0" anchor="t">
            <a:spAutoFit/>
          </a:bodyPr>
          <a:lstStyle/>
          <a:p>
            <a:pPr algn="l"/>
            <a:r>
              <a:rPr sz="1500" b="0" i="0">
                <a:solidFill>
                  <a:srgbClr val="5A6675"/>
                </a:solidFill>
                <a:latin typeface="Aptos"/>
              </a:rPr>
              <a:t>Why shared, executable contracts are the missing infrastructure.</a:t>
            </a:r>
          </a:p>
        </p:txBody>
      </p:sp>
      <p:sp>
        <p:nvSpPr>
          <p:cNvPr id="14" name="TextBox 13"/>
          <p:cNvSpPr txBox="1"/>
          <p:nvPr/>
        </p:nvSpPr>
        <p:spPr>
          <a:xfrm>
            <a:off x="6446520" y="5760720"/>
            <a:ext cx="5486400" cy="274320"/>
          </a:xfrm>
          <a:prstGeom prst="rect">
            <a:avLst/>
          </a:prstGeom>
          <a:noFill/>
        </p:spPr>
        <p:txBody>
          <a:bodyPr wrap="square" lIns="0" rIns="0" tIns="0" bIns="0" anchor="t">
            <a:spAutoFit/>
          </a:bodyPr>
          <a:lstStyle/>
          <a:p>
            <a:pPr algn="l"/>
            <a:r>
              <a:rPr sz="1200" b="1" i="0">
                <a:solidFill>
                  <a:srgbClr val="17212B"/>
                </a:solidFill>
                <a:latin typeface="Aptos"/>
              </a:rPr>
              <a:t>Matthew Keeler  ·  Soheyl Massoudi  ·  Mark Fuge</a:t>
            </a:r>
          </a:p>
        </p:txBody>
      </p:sp>
      <p:sp>
        <p:nvSpPr>
          <p:cNvPr id="15" name="TextBox 14"/>
          <p:cNvSpPr txBox="1"/>
          <p:nvPr/>
        </p:nvSpPr>
        <p:spPr>
          <a:xfrm>
            <a:off x="6446520" y="6053328"/>
            <a:ext cx="5486400" cy="228600"/>
          </a:xfrm>
          <a:prstGeom prst="rect">
            <a:avLst/>
          </a:prstGeom>
          <a:noFill/>
        </p:spPr>
        <p:txBody>
          <a:bodyPr wrap="square" lIns="0" rIns="0" tIns="0" bIns="0" anchor="t">
            <a:spAutoFit/>
          </a:bodyPr>
          <a:lstStyle/>
          <a:p>
            <a:pPr algn="l"/>
            <a:r>
              <a:rPr sz="1050" b="0" i="0">
                <a:solidFill>
                  <a:srgbClr val="5A6675"/>
                </a:solidFill>
                <a:latin typeface="Aptos"/>
              </a:rPr>
              <a:t>D-MAVT, ETH Zürich  ·  EngiBench + EngiOpt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Why this matters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THE PROMISE</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600" b="1" i="0">
                <a:solidFill>
                  <a:srgbClr val="17212B"/>
                </a:solidFill>
                <a:latin typeface="Aptos Display"/>
              </a:rPr>
              <a:t>AI is already designing parts we manufacture and fly.</a:t>
            </a:r>
          </a:p>
        </p:txBody>
      </p:sp>
      <p:sp>
        <p:nvSpPr>
          <p:cNvPr id="8" name="Rectangle 7"/>
          <p:cNvSpPr/>
          <p:nvPr/>
        </p:nvSpPr>
        <p:spPr>
          <a:xfrm>
            <a:off x="594360" y="1828800"/>
            <a:ext cx="3483864" cy="2971799"/>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33372" y="2720339"/>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2016252" y="2948939"/>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546604" y="2830067"/>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1"/>
            <a:ext cx="3209544" cy="256032"/>
          </a:xfrm>
          <a:prstGeom prst="rect">
            <a:avLst/>
          </a:prstGeom>
          <a:noFill/>
        </p:spPr>
        <p:txBody>
          <a:bodyPr wrap="square" lIns="0" rIns="0" tIns="0" bIns="0" anchor="t">
            <a:spAutoFit/>
          </a:bodyPr>
          <a:lstStyle/>
          <a:p>
            <a:pPr algn="ctr"/>
            <a:r>
              <a:rPr sz="1000" b="1" i="1">
                <a:solidFill>
                  <a:srgbClr val="225E9B"/>
                </a:solidFill>
                <a:latin typeface="Aptos"/>
              </a:rPr>
              <a:t>[PHOTO: Airbus A320 bionic partition installed in cabin]</a:t>
            </a:r>
          </a:p>
        </p:txBody>
      </p:sp>
      <p:sp>
        <p:nvSpPr>
          <p:cNvPr id="13" name="TextBox 12"/>
          <p:cNvSpPr txBox="1"/>
          <p:nvPr/>
        </p:nvSpPr>
        <p:spPr>
          <a:xfrm>
            <a:off x="731520" y="4507991"/>
            <a:ext cx="3209544" cy="237744"/>
          </a:xfrm>
          <a:prstGeom prst="rect">
            <a:avLst/>
          </a:prstGeom>
          <a:noFill/>
        </p:spPr>
        <p:txBody>
          <a:bodyPr wrap="square" lIns="0" rIns="0" tIns="0" bIns="0" anchor="t">
            <a:spAutoFit/>
          </a:bodyPr>
          <a:lstStyle/>
          <a:p>
            <a:pPr algn="ctr"/>
            <a:r>
              <a:rPr sz="850" b="0" i="1">
                <a:solidFill>
                  <a:srgbClr val="7A8493"/>
                </a:solidFill>
                <a:latin typeface="Aptos"/>
              </a:rPr>
              <a:t>Source: Autodesk + Airbus 2016 press release (widely republished).</a:t>
            </a:r>
          </a:p>
        </p:txBody>
      </p:sp>
      <p:sp>
        <p:nvSpPr>
          <p:cNvPr id="14" name="TextBox 13"/>
          <p:cNvSpPr txBox="1"/>
          <p:nvPr/>
        </p:nvSpPr>
        <p:spPr>
          <a:xfrm>
            <a:off x="594360" y="4846319"/>
            <a:ext cx="3483864" cy="310896"/>
          </a:xfrm>
          <a:prstGeom prst="rect">
            <a:avLst/>
          </a:prstGeom>
          <a:noFill/>
        </p:spPr>
        <p:txBody>
          <a:bodyPr wrap="square" lIns="0" rIns="0" tIns="0" bIns="0" anchor="t">
            <a:spAutoFit/>
          </a:bodyPr>
          <a:lstStyle/>
          <a:p>
            <a:pPr algn="ctr"/>
            <a:r>
              <a:rPr sz="1400" b="1" i="0">
                <a:solidFill>
                  <a:srgbClr val="17212B"/>
                </a:solidFill>
                <a:latin typeface="Aptos"/>
              </a:rPr>
              <a:t>Airbus A320 bionic partition</a:t>
            </a:r>
          </a:p>
        </p:txBody>
      </p:sp>
      <p:sp>
        <p:nvSpPr>
          <p:cNvPr id="15" name="TextBox 14"/>
          <p:cNvSpPr txBox="1"/>
          <p:nvPr/>
        </p:nvSpPr>
        <p:spPr>
          <a:xfrm>
            <a:off x="594360" y="5212079"/>
            <a:ext cx="3483864" cy="502920"/>
          </a:xfrm>
          <a:prstGeom prst="rect">
            <a:avLst/>
          </a:prstGeom>
          <a:noFill/>
        </p:spPr>
        <p:txBody>
          <a:bodyPr wrap="square" lIns="0" rIns="0" tIns="0" bIns="0" anchor="t">
            <a:spAutoFit/>
          </a:bodyPr>
          <a:lstStyle/>
          <a:p>
            <a:pPr algn="ctr"/>
            <a:r>
              <a:rPr sz="1100" b="0" i="0">
                <a:solidFill>
                  <a:srgbClr val="5A6675"/>
                </a:solidFill>
                <a:latin typeface="Aptos"/>
              </a:rPr>
              <a:t>45% lighter. Printed in titanium. Certified, flown.</a:t>
            </a:r>
          </a:p>
        </p:txBody>
      </p:sp>
      <p:sp>
        <p:nvSpPr>
          <p:cNvPr id="16" name="Rectangle 15"/>
          <p:cNvSpPr/>
          <p:nvPr/>
        </p:nvSpPr>
        <p:spPr>
          <a:xfrm>
            <a:off x="4352544" y="1828800"/>
            <a:ext cx="3483864" cy="2971799"/>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91556" y="2720339"/>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774436" y="2948939"/>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04788" y="2830067"/>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4" y="4233671"/>
            <a:ext cx="3209544" cy="256032"/>
          </a:xfrm>
          <a:prstGeom prst="rect">
            <a:avLst/>
          </a:prstGeom>
          <a:noFill/>
        </p:spPr>
        <p:txBody>
          <a:bodyPr wrap="square" lIns="0" rIns="0" tIns="0" bIns="0" anchor="t">
            <a:spAutoFit/>
          </a:bodyPr>
          <a:lstStyle/>
          <a:p>
            <a:pPr algn="ctr"/>
            <a:r>
              <a:rPr sz="1000" b="1" i="1">
                <a:solidFill>
                  <a:srgbClr val="225E9B"/>
                </a:solidFill>
                <a:latin typeface="Aptos"/>
              </a:rPr>
              <a:t>[PHOTO: GE GEnx engine bracket in carbon-printed metal]</a:t>
            </a:r>
          </a:p>
        </p:txBody>
      </p:sp>
      <p:sp>
        <p:nvSpPr>
          <p:cNvPr id="21" name="TextBox 20"/>
          <p:cNvSpPr txBox="1"/>
          <p:nvPr/>
        </p:nvSpPr>
        <p:spPr>
          <a:xfrm>
            <a:off x="4489704" y="4507991"/>
            <a:ext cx="3209544" cy="237744"/>
          </a:xfrm>
          <a:prstGeom prst="rect">
            <a:avLst/>
          </a:prstGeom>
          <a:noFill/>
        </p:spPr>
        <p:txBody>
          <a:bodyPr wrap="square" lIns="0" rIns="0" tIns="0" bIns="0" anchor="t">
            <a:spAutoFit/>
          </a:bodyPr>
          <a:lstStyle/>
          <a:p>
            <a:pPr algn="ctr"/>
            <a:r>
              <a:rPr sz="850" b="0" i="1">
                <a:solidFill>
                  <a:srgbClr val="7A8493"/>
                </a:solidFill>
                <a:latin typeface="Aptos"/>
              </a:rPr>
              <a:t>Source: GE Additive Bracket Challenge (2013), winning entry.</a:t>
            </a:r>
          </a:p>
        </p:txBody>
      </p:sp>
      <p:sp>
        <p:nvSpPr>
          <p:cNvPr id="22" name="TextBox 21"/>
          <p:cNvSpPr txBox="1"/>
          <p:nvPr/>
        </p:nvSpPr>
        <p:spPr>
          <a:xfrm>
            <a:off x="4352544" y="4846319"/>
            <a:ext cx="3483864" cy="310896"/>
          </a:xfrm>
          <a:prstGeom prst="rect">
            <a:avLst/>
          </a:prstGeom>
          <a:noFill/>
        </p:spPr>
        <p:txBody>
          <a:bodyPr wrap="square" lIns="0" rIns="0" tIns="0" bIns="0" anchor="t">
            <a:spAutoFit/>
          </a:bodyPr>
          <a:lstStyle/>
          <a:p>
            <a:pPr algn="ctr"/>
            <a:r>
              <a:rPr sz="1400" b="1" i="0">
                <a:solidFill>
                  <a:srgbClr val="17212B"/>
                </a:solidFill>
                <a:latin typeface="Aptos"/>
              </a:rPr>
              <a:t>GE Additive jet-engine bracket</a:t>
            </a:r>
          </a:p>
        </p:txBody>
      </p:sp>
      <p:sp>
        <p:nvSpPr>
          <p:cNvPr id="23" name="TextBox 22"/>
          <p:cNvSpPr txBox="1"/>
          <p:nvPr/>
        </p:nvSpPr>
        <p:spPr>
          <a:xfrm>
            <a:off x="4352544" y="5212079"/>
            <a:ext cx="3483864" cy="502920"/>
          </a:xfrm>
          <a:prstGeom prst="rect">
            <a:avLst/>
          </a:prstGeom>
          <a:noFill/>
        </p:spPr>
        <p:txBody>
          <a:bodyPr wrap="square" lIns="0" rIns="0" tIns="0" bIns="0" anchor="t">
            <a:spAutoFit/>
          </a:bodyPr>
          <a:lstStyle/>
          <a:p>
            <a:pPr algn="ctr"/>
            <a:r>
              <a:rPr sz="1100" b="0" i="0">
                <a:solidFill>
                  <a:srgbClr val="5A6675"/>
                </a:solidFill>
                <a:latin typeface="Aptos"/>
              </a:rPr>
              <a:t>84% mass reduction. Topology-optimized + 3D-printed.</a:t>
            </a:r>
          </a:p>
        </p:txBody>
      </p:sp>
      <p:sp>
        <p:nvSpPr>
          <p:cNvPr id="24" name="Rectangle 23"/>
          <p:cNvSpPr/>
          <p:nvPr/>
        </p:nvSpPr>
        <p:spPr>
          <a:xfrm>
            <a:off x="8110728" y="1828800"/>
            <a:ext cx="3483864" cy="2971799"/>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349740" y="2720339"/>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9532620" y="2948939"/>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62972" y="2830067"/>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4233671"/>
            <a:ext cx="3209544" cy="256032"/>
          </a:xfrm>
          <a:prstGeom prst="rect">
            <a:avLst/>
          </a:prstGeom>
          <a:noFill/>
        </p:spPr>
        <p:txBody>
          <a:bodyPr wrap="square" lIns="0" rIns="0" tIns="0" bIns="0" anchor="t">
            <a:spAutoFit/>
          </a:bodyPr>
          <a:lstStyle/>
          <a:p>
            <a:pPr algn="ctr"/>
            <a:r>
              <a:rPr sz="1000" b="1" i="1">
                <a:solidFill>
                  <a:srgbClr val="225E9B"/>
                </a:solidFill>
                <a:latin typeface="Aptos"/>
              </a:rPr>
              <a:t>[SEM IMAGE: photonic metasurface unit cell array]</a:t>
            </a:r>
          </a:p>
        </p:txBody>
      </p:sp>
      <p:sp>
        <p:nvSpPr>
          <p:cNvPr id="29" name="TextBox 28"/>
          <p:cNvSpPr txBox="1"/>
          <p:nvPr/>
        </p:nvSpPr>
        <p:spPr>
          <a:xfrm>
            <a:off x="8247888" y="4507991"/>
            <a:ext cx="3209544" cy="237744"/>
          </a:xfrm>
          <a:prstGeom prst="rect">
            <a:avLst/>
          </a:prstGeom>
          <a:noFill/>
        </p:spPr>
        <p:txBody>
          <a:bodyPr wrap="square" lIns="0" rIns="0" tIns="0" bIns="0" anchor="t">
            <a:spAutoFit/>
          </a:bodyPr>
          <a:lstStyle/>
          <a:p>
            <a:pPr algn="ctr"/>
            <a:r>
              <a:rPr sz="850" b="0" i="1">
                <a:solidFill>
                  <a:srgbClr val="7A8493"/>
                </a:solidFill>
                <a:latin typeface="Aptos"/>
              </a:rPr>
              <a:t>Source: Stanford Fan-group inverse design (e.g., Sell et al. 2017).</a:t>
            </a:r>
          </a:p>
        </p:txBody>
      </p:sp>
      <p:sp>
        <p:nvSpPr>
          <p:cNvPr id="30" name="TextBox 29"/>
          <p:cNvSpPr txBox="1"/>
          <p:nvPr/>
        </p:nvSpPr>
        <p:spPr>
          <a:xfrm>
            <a:off x="8110728" y="4846319"/>
            <a:ext cx="3483864" cy="310896"/>
          </a:xfrm>
          <a:prstGeom prst="rect">
            <a:avLst/>
          </a:prstGeom>
          <a:noFill/>
        </p:spPr>
        <p:txBody>
          <a:bodyPr wrap="square" lIns="0" rIns="0" tIns="0" bIns="0" anchor="t">
            <a:spAutoFit/>
          </a:bodyPr>
          <a:lstStyle/>
          <a:p>
            <a:pPr algn="ctr"/>
            <a:r>
              <a:rPr sz="1400" b="1" i="0">
                <a:solidFill>
                  <a:srgbClr val="17212B"/>
                </a:solidFill>
                <a:latin typeface="Aptos"/>
              </a:rPr>
              <a:t>Inverse-designed metasurface</a:t>
            </a:r>
          </a:p>
        </p:txBody>
      </p:sp>
      <p:sp>
        <p:nvSpPr>
          <p:cNvPr id="31" name="TextBox 30"/>
          <p:cNvSpPr txBox="1"/>
          <p:nvPr/>
        </p:nvSpPr>
        <p:spPr>
          <a:xfrm>
            <a:off x="8110728" y="5212079"/>
            <a:ext cx="3483864" cy="502920"/>
          </a:xfrm>
          <a:prstGeom prst="rect">
            <a:avLst/>
          </a:prstGeom>
          <a:noFill/>
        </p:spPr>
        <p:txBody>
          <a:bodyPr wrap="square" lIns="0" rIns="0" tIns="0" bIns="0" anchor="t">
            <a:spAutoFit/>
          </a:bodyPr>
          <a:lstStyle/>
          <a:p>
            <a:pPr algn="ctr"/>
            <a:r>
              <a:rPr sz="1100" b="0" i="0">
                <a:solidFill>
                  <a:srgbClr val="5A6675"/>
                </a:solidFill>
                <a:latin typeface="Aptos"/>
              </a:rPr>
              <a:t>Optical devices beyond hand-crafted baselines.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Why this matters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A RENAISSANCE OF METHODS</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800" b="1" i="0">
                <a:solidFill>
                  <a:srgbClr val="17212B"/>
                </a:solidFill>
                <a:latin typeface="Aptos Display"/>
              </a:rPr>
              <a:t>Every few years, a new generative recipe.</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400" b="0" i="1">
                <a:solidFill>
                  <a:srgbClr val="5A6675"/>
                </a:solidFill>
                <a:latin typeface="Aptos"/>
              </a:rPr>
              <a:t>And every paper claims a new state of the art.</a:t>
            </a:r>
          </a:p>
        </p:txBody>
      </p:sp>
      <p:sp>
        <p:nvSpPr>
          <p:cNvPr id="9" name="Rectangle 8"/>
          <p:cNvSpPr/>
          <p:nvPr/>
        </p:nvSpPr>
        <p:spPr>
          <a:xfrm>
            <a:off x="868680" y="4114800"/>
            <a:ext cx="10469880" cy="36576"/>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68680" y="3721608"/>
            <a:ext cx="822960" cy="822960"/>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ptos Display"/>
              </a:rPr>
              <a:t>2017</a:t>
            </a:r>
          </a:p>
        </p:txBody>
      </p:sp>
      <p:sp>
        <p:nvSpPr>
          <p:cNvPr id="11" name="TextBox 10"/>
          <p:cNvSpPr txBox="1"/>
          <p:nvPr/>
        </p:nvSpPr>
        <p:spPr>
          <a:xfrm>
            <a:off x="-182880" y="2240280"/>
            <a:ext cx="2926080" cy="365760"/>
          </a:xfrm>
          <a:prstGeom prst="rect">
            <a:avLst/>
          </a:prstGeom>
          <a:noFill/>
        </p:spPr>
        <p:txBody>
          <a:bodyPr wrap="square" lIns="0" rIns="0" tIns="0" bIns="0" anchor="t">
            <a:spAutoFit/>
          </a:bodyPr>
          <a:lstStyle/>
          <a:p>
            <a:pPr algn="ctr"/>
            <a:r>
              <a:rPr sz="1700" b="1" i="0">
                <a:solidFill>
                  <a:srgbClr val="225E9B"/>
                </a:solidFill>
                <a:latin typeface="Aptos"/>
              </a:rPr>
              <a:t>GAN era</a:t>
            </a:r>
          </a:p>
        </p:txBody>
      </p:sp>
      <p:sp>
        <p:nvSpPr>
          <p:cNvPr id="12" name="Rectangle 11"/>
          <p:cNvSpPr/>
          <p:nvPr/>
        </p:nvSpPr>
        <p:spPr>
          <a:xfrm>
            <a:off x="457200" y="2697480"/>
            <a:ext cx="1645920" cy="109728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5176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a:off x="960120" y="288036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90472" y="276148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227832"/>
            <a:ext cx="1371600" cy="256032"/>
          </a:xfrm>
          <a:prstGeom prst="rect">
            <a:avLst/>
          </a:prstGeom>
          <a:noFill/>
        </p:spPr>
        <p:txBody>
          <a:bodyPr wrap="square" lIns="0" rIns="0" tIns="0" bIns="0" anchor="t">
            <a:spAutoFit/>
          </a:bodyPr>
          <a:lstStyle/>
          <a:p>
            <a:pPr algn="ctr"/>
            <a:r>
              <a:rPr sz="1000" b="1" i="1">
                <a:solidFill>
                  <a:srgbClr val="225E9B"/>
                </a:solidFill>
                <a:latin typeface="Aptos"/>
              </a:rPr>
              <a:t>[GAN era sample]</a:t>
            </a:r>
          </a:p>
        </p:txBody>
      </p:sp>
      <p:sp>
        <p:nvSpPr>
          <p:cNvPr id="17" name="TextBox 16"/>
          <p:cNvSpPr txBox="1"/>
          <p:nvPr/>
        </p:nvSpPr>
        <p:spPr>
          <a:xfrm>
            <a:off x="594360" y="3502152"/>
            <a:ext cx="1371600" cy="237744"/>
          </a:xfrm>
          <a:prstGeom prst="rect">
            <a:avLst/>
          </a:prstGeom>
          <a:noFill/>
        </p:spPr>
        <p:txBody>
          <a:bodyPr wrap="square" lIns="0" rIns="0" tIns="0" bIns="0" anchor="t">
            <a:spAutoFit/>
          </a:bodyPr>
          <a:lstStyle/>
          <a:p>
            <a:pPr algn="ctr"/>
            <a:r>
              <a:rPr sz="850" b="0" i="1">
                <a:solidFill>
                  <a:srgbClr val="7A8493"/>
                </a:solidFill>
                <a:latin typeface="Aptos"/>
              </a:rPr>
              <a:t>See IMAGE_BRIEF.md</a:t>
            </a:r>
          </a:p>
        </p:txBody>
      </p:sp>
      <p:sp>
        <p:nvSpPr>
          <p:cNvPr id="18" name="TextBox 17"/>
          <p:cNvSpPr txBox="1"/>
          <p:nvPr/>
        </p:nvSpPr>
        <p:spPr>
          <a:xfrm>
            <a:off x="-182880" y="4846320"/>
            <a:ext cx="2926080" cy="365760"/>
          </a:xfrm>
          <a:prstGeom prst="rect">
            <a:avLst/>
          </a:prstGeom>
          <a:noFill/>
        </p:spPr>
        <p:txBody>
          <a:bodyPr wrap="square" lIns="0" rIns="0" tIns="0" bIns="0" anchor="t">
            <a:spAutoFit/>
          </a:bodyPr>
          <a:lstStyle/>
          <a:p>
            <a:pPr algn="ctr"/>
            <a:r>
              <a:rPr sz="1150" b="0" i="0">
                <a:solidFill>
                  <a:srgbClr val="5A6675"/>
                </a:solidFill>
                <a:latin typeface="Aptos"/>
              </a:rPr>
              <a:t>cGANs for layouts &amp; shapes.</a:t>
            </a:r>
          </a:p>
        </p:txBody>
      </p:sp>
      <p:sp>
        <p:nvSpPr>
          <p:cNvPr id="19" name="Oval 18"/>
          <p:cNvSpPr/>
          <p:nvPr/>
        </p:nvSpPr>
        <p:spPr>
          <a:xfrm>
            <a:off x="4069080" y="3721608"/>
            <a:ext cx="822960" cy="822960"/>
          </a:xfrm>
          <a:prstGeom prst="ellipse">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ptos Display"/>
              </a:rPr>
              <a:t>2019</a:t>
            </a:r>
          </a:p>
        </p:txBody>
      </p:sp>
      <p:sp>
        <p:nvSpPr>
          <p:cNvPr id="20" name="TextBox 19"/>
          <p:cNvSpPr txBox="1"/>
          <p:nvPr/>
        </p:nvSpPr>
        <p:spPr>
          <a:xfrm>
            <a:off x="3017520" y="2240280"/>
            <a:ext cx="2926080" cy="365760"/>
          </a:xfrm>
          <a:prstGeom prst="rect">
            <a:avLst/>
          </a:prstGeom>
          <a:noFill/>
        </p:spPr>
        <p:txBody>
          <a:bodyPr wrap="square" lIns="0" rIns="0" tIns="0" bIns="0" anchor="t">
            <a:spAutoFit/>
          </a:bodyPr>
          <a:lstStyle/>
          <a:p>
            <a:pPr algn="ctr"/>
            <a:r>
              <a:rPr sz="1700" b="1" i="0">
                <a:solidFill>
                  <a:srgbClr val="2F7D62"/>
                </a:solidFill>
                <a:latin typeface="Aptos"/>
              </a:rPr>
              <a:t>VAE era</a:t>
            </a:r>
          </a:p>
        </p:txBody>
      </p:sp>
      <p:sp>
        <p:nvSpPr>
          <p:cNvPr id="21" name="Rectangle 20"/>
          <p:cNvSpPr/>
          <p:nvPr/>
        </p:nvSpPr>
        <p:spPr>
          <a:xfrm>
            <a:off x="3657600" y="2697480"/>
            <a:ext cx="1645920" cy="109728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977640" y="265176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160520" y="288036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90872" y="276148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94760" y="3227832"/>
            <a:ext cx="1371600" cy="256032"/>
          </a:xfrm>
          <a:prstGeom prst="rect">
            <a:avLst/>
          </a:prstGeom>
          <a:noFill/>
        </p:spPr>
        <p:txBody>
          <a:bodyPr wrap="square" lIns="0" rIns="0" tIns="0" bIns="0" anchor="t">
            <a:spAutoFit/>
          </a:bodyPr>
          <a:lstStyle/>
          <a:p>
            <a:pPr algn="ctr"/>
            <a:r>
              <a:rPr sz="1000" b="1" i="1">
                <a:solidFill>
                  <a:srgbClr val="225E9B"/>
                </a:solidFill>
                <a:latin typeface="Aptos"/>
              </a:rPr>
              <a:t>[VAE era sample]</a:t>
            </a:r>
          </a:p>
        </p:txBody>
      </p:sp>
      <p:sp>
        <p:nvSpPr>
          <p:cNvPr id="26" name="TextBox 25"/>
          <p:cNvSpPr txBox="1"/>
          <p:nvPr/>
        </p:nvSpPr>
        <p:spPr>
          <a:xfrm>
            <a:off x="3794760" y="3502152"/>
            <a:ext cx="1371600" cy="237744"/>
          </a:xfrm>
          <a:prstGeom prst="rect">
            <a:avLst/>
          </a:prstGeom>
          <a:noFill/>
        </p:spPr>
        <p:txBody>
          <a:bodyPr wrap="square" lIns="0" rIns="0" tIns="0" bIns="0" anchor="t">
            <a:spAutoFit/>
          </a:bodyPr>
          <a:lstStyle/>
          <a:p>
            <a:pPr algn="ctr"/>
            <a:r>
              <a:rPr sz="850" b="0" i="1">
                <a:solidFill>
                  <a:srgbClr val="7A8493"/>
                </a:solidFill>
                <a:latin typeface="Aptos"/>
              </a:rPr>
              <a:t>See IMAGE_BRIEF.md</a:t>
            </a:r>
          </a:p>
        </p:txBody>
      </p:sp>
      <p:sp>
        <p:nvSpPr>
          <p:cNvPr id="27" name="TextBox 26"/>
          <p:cNvSpPr txBox="1"/>
          <p:nvPr/>
        </p:nvSpPr>
        <p:spPr>
          <a:xfrm>
            <a:off x="3017520" y="4846320"/>
            <a:ext cx="2926080" cy="365760"/>
          </a:xfrm>
          <a:prstGeom prst="rect">
            <a:avLst/>
          </a:prstGeom>
          <a:noFill/>
        </p:spPr>
        <p:txBody>
          <a:bodyPr wrap="square" lIns="0" rIns="0" tIns="0" bIns="0" anchor="t">
            <a:spAutoFit/>
          </a:bodyPr>
          <a:lstStyle/>
          <a:p>
            <a:pPr algn="ctr"/>
            <a:r>
              <a:rPr sz="1150" b="0" i="0">
                <a:solidFill>
                  <a:srgbClr val="5A6675"/>
                </a:solidFill>
                <a:latin typeface="Aptos"/>
              </a:rPr>
              <a:t>Smooth latent design manifolds.</a:t>
            </a:r>
          </a:p>
        </p:txBody>
      </p:sp>
      <p:sp>
        <p:nvSpPr>
          <p:cNvPr id="28" name="Oval 27"/>
          <p:cNvSpPr/>
          <p:nvPr/>
        </p:nvSpPr>
        <p:spPr>
          <a:xfrm>
            <a:off x="7269480" y="3721608"/>
            <a:ext cx="822960" cy="822960"/>
          </a:xfrm>
          <a:prstGeom prst="ellipse">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ptos Display"/>
              </a:rPr>
              <a:t>2022</a:t>
            </a:r>
          </a:p>
        </p:txBody>
      </p:sp>
      <p:sp>
        <p:nvSpPr>
          <p:cNvPr id="29" name="TextBox 28"/>
          <p:cNvSpPr txBox="1"/>
          <p:nvPr/>
        </p:nvSpPr>
        <p:spPr>
          <a:xfrm>
            <a:off x="6217920" y="2240280"/>
            <a:ext cx="2926080" cy="365760"/>
          </a:xfrm>
          <a:prstGeom prst="rect">
            <a:avLst/>
          </a:prstGeom>
          <a:noFill/>
        </p:spPr>
        <p:txBody>
          <a:bodyPr wrap="square" lIns="0" rIns="0" tIns="0" bIns="0" anchor="t">
            <a:spAutoFit/>
          </a:bodyPr>
          <a:lstStyle/>
          <a:p>
            <a:pPr algn="ctr"/>
            <a:r>
              <a:rPr sz="1700" b="1" i="0">
                <a:solidFill>
                  <a:srgbClr val="C47B20"/>
                </a:solidFill>
                <a:latin typeface="Aptos"/>
              </a:rPr>
              <a:t>Diffusion</a:t>
            </a:r>
          </a:p>
        </p:txBody>
      </p:sp>
      <p:sp>
        <p:nvSpPr>
          <p:cNvPr id="30" name="Rectangle 29"/>
          <p:cNvSpPr/>
          <p:nvPr/>
        </p:nvSpPr>
        <p:spPr>
          <a:xfrm>
            <a:off x="6858000" y="2697480"/>
            <a:ext cx="1645920" cy="109728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78040" y="265176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7360920" y="288036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91272" y="276148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95160" y="3227832"/>
            <a:ext cx="1371600" cy="256032"/>
          </a:xfrm>
          <a:prstGeom prst="rect">
            <a:avLst/>
          </a:prstGeom>
          <a:noFill/>
        </p:spPr>
        <p:txBody>
          <a:bodyPr wrap="square" lIns="0" rIns="0" tIns="0" bIns="0" anchor="t">
            <a:spAutoFit/>
          </a:bodyPr>
          <a:lstStyle/>
          <a:p>
            <a:pPr algn="ctr"/>
            <a:r>
              <a:rPr sz="1000" b="1" i="1">
                <a:solidFill>
                  <a:srgbClr val="225E9B"/>
                </a:solidFill>
                <a:latin typeface="Aptos"/>
              </a:rPr>
              <a:t>[Diffusion sample]</a:t>
            </a:r>
          </a:p>
        </p:txBody>
      </p:sp>
      <p:sp>
        <p:nvSpPr>
          <p:cNvPr id="35" name="TextBox 34"/>
          <p:cNvSpPr txBox="1"/>
          <p:nvPr/>
        </p:nvSpPr>
        <p:spPr>
          <a:xfrm>
            <a:off x="6995160" y="3502152"/>
            <a:ext cx="1371600" cy="237744"/>
          </a:xfrm>
          <a:prstGeom prst="rect">
            <a:avLst/>
          </a:prstGeom>
          <a:noFill/>
        </p:spPr>
        <p:txBody>
          <a:bodyPr wrap="square" lIns="0" rIns="0" tIns="0" bIns="0" anchor="t">
            <a:spAutoFit/>
          </a:bodyPr>
          <a:lstStyle/>
          <a:p>
            <a:pPr algn="ctr"/>
            <a:r>
              <a:rPr sz="850" b="0" i="1">
                <a:solidFill>
                  <a:srgbClr val="7A8493"/>
                </a:solidFill>
                <a:latin typeface="Aptos"/>
              </a:rPr>
              <a:t>See IMAGE_BRIEF.md</a:t>
            </a:r>
          </a:p>
        </p:txBody>
      </p:sp>
      <p:sp>
        <p:nvSpPr>
          <p:cNvPr id="36" name="TextBox 35"/>
          <p:cNvSpPr txBox="1"/>
          <p:nvPr/>
        </p:nvSpPr>
        <p:spPr>
          <a:xfrm>
            <a:off x="6217920" y="4846320"/>
            <a:ext cx="2926080" cy="365760"/>
          </a:xfrm>
          <a:prstGeom prst="rect">
            <a:avLst/>
          </a:prstGeom>
          <a:noFill/>
        </p:spPr>
        <p:txBody>
          <a:bodyPr wrap="square" lIns="0" rIns="0" tIns="0" bIns="0" anchor="t">
            <a:spAutoFit/>
          </a:bodyPr>
          <a:lstStyle/>
          <a:p>
            <a:pPr algn="ctr"/>
            <a:r>
              <a:rPr sz="1150" b="0" i="0">
                <a:solidFill>
                  <a:srgbClr val="5A6675"/>
                </a:solidFill>
                <a:latin typeface="Aptos"/>
              </a:rPr>
              <a:t>Score-based generative design.</a:t>
            </a:r>
          </a:p>
        </p:txBody>
      </p:sp>
      <p:sp>
        <p:nvSpPr>
          <p:cNvPr id="37" name="Oval 36"/>
          <p:cNvSpPr/>
          <p:nvPr/>
        </p:nvSpPr>
        <p:spPr>
          <a:xfrm>
            <a:off x="10469880" y="3721608"/>
            <a:ext cx="822960" cy="822960"/>
          </a:xfrm>
          <a:prstGeom prst="ellipse">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ptos Display"/>
              </a:rPr>
              <a:t>2024</a:t>
            </a:r>
          </a:p>
        </p:txBody>
      </p:sp>
      <p:sp>
        <p:nvSpPr>
          <p:cNvPr id="38" name="TextBox 37"/>
          <p:cNvSpPr txBox="1"/>
          <p:nvPr/>
        </p:nvSpPr>
        <p:spPr>
          <a:xfrm>
            <a:off x="9418320" y="2240280"/>
            <a:ext cx="2926080" cy="365760"/>
          </a:xfrm>
          <a:prstGeom prst="rect">
            <a:avLst/>
          </a:prstGeom>
          <a:noFill/>
        </p:spPr>
        <p:txBody>
          <a:bodyPr wrap="square" lIns="0" rIns="0" tIns="0" bIns="0" anchor="t">
            <a:spAutoFit/>
          </a:bodyPr>
          <a:lstStyle/>
          <a:p>
            <a:pPr algn="ctr"/>
            <a:r>
              <a:rPr sz="1700" b="1" i="0">
                <a:solidFill>
                  <a:srgbClr val="C84837"/>
                </a:solidFill>
                <a:latin typeface="Aptos"/>
              </a:rPr>
              <a:t>LLMs + agents</a:t>
            </a:r>
          </a:p>
        </p:txBody>
      </p:sp>
      <p:sp>
        <p:nvSpPr>
          <p:cNvPr id="39" name="Rectangle 38"/>
          <p:cNvSpPr/>
          <p:nvPr/>
        </p:nvSpPr>
        <p:spPr>
          <a:xfrm>
            <a:off x="10058400" y="2697480"/>
            <a:ext cx="1645920" cy="109728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378440" y="265176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10561320" y="288036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091672" y="276148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3227832"/>
            <a:ext cx="1371600" cy="256032"/>
          </a:xfrm>
          <a:prstGeom prst="rect">
            <a:avLst/>
          </a:prstGeom>
          <a:noFill/>
        </p:spPr>
        <p:txBody>
          <a:bodyPr wrap="square" lIns="0" rIns="0" tIns="0" bIns="0" anchor="t">
            <a:spAutoFit/>
          </a:bodyPr>
          <a:lstStyle/>
          <a:p>
            <a:pPr algn="ctr"/>
            <a:r>
              <a:rPr sz="1000" b="1" i="1">
                <a:solidFill>
                  <a:srgbClr val="225E9B"/>
                </a:solidFill>
                <a:latin typeface="Aptos"/>
              </a:rPr>
              <a:t>[LLMs + agents sample]</a:t>
            </a:r>
          </a:p>
        </p:txBody>
      </p:sp>
      <p:sp>
        <p:nvSpPr>
          <p:cNvPr id="44" name="TextBox 43"/>
          <p:cNvSpPr txBox="1"/>
          <p:nvPr/>
        </p:nvSpPr>
        <p:spPr>
          <a:xfrm>
            <a:off x="10195560" y="3502152"/>
            <a:ext cx="1371600" cy="237744"/>
          </a:xfrm>
          <a:prstGeom prst="rect">
            <a:avLst/>
          </a:prstGeom>
          <a:noFill/>
        </p:spPr>
        <p:txBody>
          <a:bodyPr wrap="square" lIns="0" rIns="0" tIns="0" bIns="0" anchor="t">
            <a:spAutoFit/>
          </a:bodyPr>
          <a:lstStyle/>
          <a:p>
            <a:pPr algn="ctr"/>
            <a:r>
              <a:rPr sz="850" b="0" i="1">
                <a:solidFill>
                  <a:srgbClr val="7A8493"/>
                </a:solidFill>
                <a:latin typeface="Aptos"/>
              </a:rPr>
              <a:t>See IMAGE_BRIEF.md</a:t>
            </a:r>
          </a:p>
        </p:txBody>
      </p:sp>
      <p:sp>
        <p:nvSpPr>
          <p:cNvPr id="45" name="TextBox 44"/>
          <p:cNvSpPr txBox="1"/>
          <p:nvPr/>
        </p:nvSpPr>
        <p:spPr>
          <a:xfrm>
            <a:off x="9418320" y="4846320"/>
            <a:ext cx="2926080" cy="365760"/>
          </a:xfrm>
          <a:prstGeom prst="rect">
            <a:avLst/>
          </a:prstGeom>
          <a:noFill/>
        </p:spPr>
        <p:txBody>
          <a:bodyPr wrap="square" lIns="0" rIns="0" tIns="0" bIns="0" anchor="t">
            <a:spAutoFit/>
          </a:bodyPr>
          <a:lstStyle/>
          <a:p>
            <a:pPr algn="ctr"/>
            <a:r>
              <a:rPr sz="1150" b="0" i="0">
                <a:solidFill>
                  <a:srgbClr val="5A6675"/>
                </a:solidFill>
                <a:latin typeface="Aptos"/>
              </a:rPr>
              <a:t>Code-writing design pipelines.</a:t>
            </a:r>
          </a:p>
        </p:txBody>
      </p:sp>
      <p:sp>
        <p:nvSpPr>
          <p:cNvPr id="46" name="Rectangle 45"/>
          <p:cNvSpPr/>
          <p:nvPr/>
        </p:nvSpPr>
        <p:spPr>
          <a:xfrm>
            <a:off x="594360" y="5852160"/>
            <a:ext cx="11018520" cy="4572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5943600"/>
            <a:ext cx="11018520" cy="292608"/>
          </a:xfrm>
          <a:prstGeom prst="rect">
            <a:avLst/>
          </a:prstGeom>
          <a:noFill/>
        </p:spPr>
        <p:txBody>
          <a:bodyPr wrap="square" lIns="0" rIns="0" tIns="0" bIns="0" anchor="t">
            <a:spAutoFit/>
          </a:bodyPr>
          <a:lstStyle/>
          <a:p>
            <a:pPr algn="ctr"/>
            <a:r>
              <a:rPr sz="1350" b="1" i="0">
                <a:solidFill>
                  <a:srgbClr val="FFFFFF"/>
                </a:solidFill>
                <a:latin typeface="Aptos"/>
              </a:rPr>
              <a:t>The methods change quickly. The way we evaluate them barely changes at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Why this matters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AN HONEST QUESTION</a:t>
            </a:r>
          </a:p>
        </p:txBody>
      </p:sp>
      <p:sp>
        <p:nvSpPr>
          <p:cNvPr id="7" name="TextBox 6"/>
          <p:cNvSpPr txBox="1"/>
          <p:nvPr/>
        </p:nvSpPr>
        <p:spPr>
          <a:xfrm>
            <a:off x="777240" y="2011680"/>
            <a:ext cx="10652760" cy="2194560"/>
          </a:xfrm>
          <a:prstGeom prst="rect">
            <a:avLst/>
          </a:prstGeom>
          <a:noFill/>
        </p:spPr>
        <p:txBody>
          <a:bodyPr wrap="square" lIns="0" rIns="0" tIns="0" bIns="0" anchor="t">
            <a:spAutoFit/>
          </a:bodyPr>
          <a:lstStyle/>
          <a:p>
            <a:pPr algn="l">
              <a:lnSpc>
                <a:spcPct val="110000"/>
              </a:lnSpc>
            </a:pPr>
            <a:r>
              <a:rPr sz="3800" b="1" i="0">
                <a:solidFill>
                  <a:srgbClr val="17212B"/>
                </a:solidFill>
                <a:latin typeface="Aptos Display"/>
              </a:rPr>
              <a:t>When a paper says</a:t>
            </a:r>
          </a:p>
          <a:p>
            <a:pPr algn="l">
              <a:lnSpc>
                <a:spcPct val="110000"/>
              </a:lnSpc>
            </a:pPr>
            <a:r>
              <a:rPr sz="3800" b="1" i="0">
                <a:solidFill>
                  <a:srgbClr val="17212B"/>
                </a:solidFill>
                <a:latin typeface="Aptos Display"/>
              </a:rPr>
              <a:t>“we beat the SOTA on topology optimization”,</a:t>
            </a:r>
          </a:p>
          <a:p>
            <a:pPr algn="l">
              <a:lnSpc>
                <a:spcPct val="110000"/>
              </a:lnSpc>
            </a:pPr>
            <a:r>
              <a:rPr sz="3800" b="1" i="0">
                <a:solidFill>
                  <a:srgbClr val="17212B"/>
                </a:solidFill>
                <a:latin typeface="Aptos Display"/>
              </a:rPr>
              <a:t>what actually changed?</a:t>
            </a:r>
          </a:p>
        </p:txBody>
      </p:sp>
      <p:sp>
        <p:nvSpPr>
          <p:cNvPr id="8" name="TextBox 7"/>
          <p:cNvSpPr txBox="1"/>
          <p:nvPr/>
        </p:nvSpPr>
        <p:spPr>
          <a:xfrm>
            <a:off x="777240" y="4663440"/>
            <a:ext cx="10652760" cy="365760"/>
          </a:xfrm>
          <a:prstGeom prst="rect">
            <a:avLst/>
          </a:prstGeom>
          <a:noFill/>
        </p:spPr>
        <p:txBody>
          <a:bodyPr wrap="square" lIns="0" rIns="0" tIns="0" bIns="0" anchor="t">
            <a:spAutoFit/>
          </a:bodyPr>
          <a:lstStyle/>
          <a:p>
            <a:pPr algn="l"/>
            <a:r>
              <a:rPr sz="1500" b="0" i="0">
                <a:solidFill>
                  <a:srgbClr val="5A6675"/>
                </a:solidFill>
                <a:latin typeface="Aptos"/>
              </a:rPr>
              <a:t>Better model?  ·  Easier conditions?  ·  Weaker feasibility check?  ·  Some mix of all three?</a:t>
            </a:r>
          </a:p>
        </p:txBody>
      </p:sp>
      <p:sp>
        <p:nvSpPr>
          <p:cNvPr id="9" name="TextBox 8"/>
          <p:cNvSpPr txBox="1"/>
          <p:nvPr/>
        </p:nvSpPr>
        <p:spPr>
          <a:xfrm>
            <a:off x="777240" y="5669280"/>
            <a:ext cx="10652760" cy="365760"/>
          </a:xfrm>
          <a:prstGeom prst="rect">
            <a:avLst/>
          </a:prstGeom>
          <a:noFill/>
        </p:spPr>
        <p:txBody>
          <a:bodyPr wrap="square" lIns="0" rIns="0" tIns="0" bIns="0" anchor="t">
            <a:spAutoFit/>
          </a:bodyPr>
          <a:lstStyle/>
          <a:p>
            <a:pPr algn="l"/>
            <a:r>
              <a:rPr sz="1500" b="1" i="1">
                <a:solidFill>
                  <a:srgbClr val="225E9B"/>
                </a:solidFill>
                <a:latin typeface="Aptos"/>
              </a:rPr>
              <a:t>Today's literature does not give us a way to know.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Why we cannot tell</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ML'S REPRODUCIBILITY CRISIS</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600" b="1" i="0">
                <a:solidFill>
                  <a:srgbClr val="17212B"/>
                </a:solidFill>
                <a:latin typeface="Aptos Display"/>
              </a:rPr>
              <a:t>We are not the first field to face this.</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300" b="0" i="1">
                <a:solidFill>
                  <a:srgbClr val="5A6675"/>
                </a:solidFill>
                <a:latin typeface="Aptos"/>
              </a:rPr>
              <a:t>Mainstream ML had this exact problem a decade ago — and built the infrastructure to recover. We can copy the playbook.</a:t>
            </a:r>
          </a:p>
        </p:txBody>
      </p:sp>
      <p:sp>
        <p:nvSpPr>
          <p:cNvPr id="9" name="Rectangle 8"/>
          <p:cNvSpPr/>
          <p:nvPr/>
        </p:nvSpPr>
        <p:spPr>
          <a:xfrm>
            <a:off x="594360" y="2103120"/>
            <a:ext cx="3087624"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3087624" cy="91440"/>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377440"/>
            <a:ext cx="2538984" cy="292608"/>
          </a:xfrm>
          <a:prstGeom prst="rect">
            <a:avLst/>
          </a:prstGeom>
          <a:noFill/>
        </p:spPr>
        <p:txBody>
          <a:bodyPr wrap="square" lIns="0" rIns="0" tIns="0" bIns="0" anchor="t">
            <a:spAutoFit/>
          </a:bodyPr>
          <a:lstStyle/>
          <a:p>
            <a:pPr algn="l"/>
            <a:r>
              <a:rPr sz="1100" b="1" i="0">
                <a:solidFill>
                  <a:srgbClr val="C84837"/>
                </a:solidFill>
                <a:latin typeface="Aptos"/>
              </a:rPr>
              <a:t>2017  ·  THE CRISIS</a:t>
            </a:r>
          </a:p>
        </p:txBody>
      </p:sp>
      <p:sp>
        <p:nvSpPr>
          <p:cNvPr id="12" name="TextBox 11"/>
          <p:cNvSpPr txBox="1"/>
          <p:nvPr/>
        </p:nvSpPr>
        <p:spPr>
          <a:xfrm>
            <a:off x="868680" y="2834640"/>
            <a:ext cx="2538984" cy="1463040"/>
          </a:xfrm>
          <a:prstGeom prst="rect">
            <a:avLst/>
          </a:prstGeom>
          <a:noFill/>
        </p:spPr>
        <p:txBody>
          <a:bodyPr wrap="square" lIns="0" rIns="0" tIns="0" bIns="0" anchor="t">
            <a:spAutoFit/>
          </a:bodyPr>
          <a:lstStyle/>
          <a:p>
            <a:pPr algn="l">
              <a:lnSpc>
                <a:spcPct val="100000"/>
              </a:lnSpc>
            </a:pPr>
            <a:r>
              <a:rPr sz="8400" b="1" i="0">
                <a:solidFill>
                  <a:srgbClr val="C84837"/>
                </a:solidFill>
                <a:latin typeface="Aptos Display"/>
              </a:rPr>
              <a:t>≈30%</a:t>
            </a:r>
          </a:p>
        </p:txBody>
      </p:sp>
      <p:sp>
        <p:nvSpPr>
          <p:cNvPr id="13" name="TextBox 12"/>
          <p:cNvSpPr txBox="1"/>
          <p:nvPr/>
        </p:nvSpPr>
        <p:spPr>
          <a:xfrm>
            <a:off x="868680" y="4434840"/>
            <a:ext cx="2538984" cy="777240"/>
          </a:xfrm>
          <a:prstGeom prst="rect">
            <a:avLst/>
          </a:prstGeom>
          <a:noFill/>
        </p:spPr>
        <p:txBody>
          <a:bodyPr wrap="square" lIns="0" rIns="0" tIns="0" bIns="0" anchor="t">
            <a:spAutoFit/>
          </a:bodyPr>
          <a:lstStyle/>
          <a:p>
            <a:pPr algn="l">
              <a:lnSpc>
                <a:spcPct val="110000"/>
              </a:lnSpc>
            </a:pPr>
            <a:r>
              <a:rPr sz="1250" b="1" i="0">
                <a:solidFill>
                  <a:srgbClr val="17212B"/>
                </a:solidFill>
                <a:latin typeface="Aptos"/>
              </a:rPr>
              <a:t>of accepted ML papers couldn't be reproduced from the text alone.</a:t>
            </a:r>
          </a:p>
        </p:txBody>
      </p:sp>
      <p:sp>
        <p:nvSpPr>
          <p:cNvPr id="14" name="TextBox 13"/>
          <p:cNvSpPr txBox="1"/>
          <p:nvPr/>
        </p:nvSpPr>
        <p:spPr>
          <a:xfrm>
            <a:off x="868680" y="5349240"/>
            <a:ext cx="2538984" cy="292608"/>
          </a:xfrm>
          <a:prstGeom prst="rect">
            <a:avLst/>
          </a:prstGeom>
          <a:noFill/>
        </p:spPr>
        <p:txBody>
          <a:bodyPr wrap="square" lIns="0" rIns="0" tIns="0" bIns="0" anchor="t">
            <a:spAutoFit/>
          </a:bodyPr>
          <a:lstStyle/>
          <a:p>
            <a:pPr algn="l"/>
            <a:r>
              <a:rPr sz="1050" b="0" i="1">
                <a:solidFill>
                  <a:srgbClr val="5A6675"/>
                </a:solidFill>
                <a:latin typeface="Aptos"/>
              </a:rPr>
              <a:t>Pineau et al. 2019.</a:t>
            </a:r>
          </a:p>
        </p:txBody>
      </p:sp>
      <p:sp>
        <p:nvSpPr>
          <p:cNvPr id="15" name="Right Arrow 14"/>
          <p:cNvSpPr/>
          <p:nvPr/>
        </p:nvSpPr>
        <p:spPr>
          <a:xfrm>
            <a:off x="3864864" y="3749039"/>
            <a:ext cx="502920" cy="45720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50664" y="2103120"/>
            <a:ext cx="3087624"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0664" y="2103120"/>
            <a:ext cx="3087624" cy="91440"/>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24984" y="2377440"/>
            <a:ext cx="2538984" cy="292608"/>
          </a:xfrm>
          <a:prstGeom prst="rect">
            <a:avLst/>
          </a:prstGeom>
          <a:noFill/>
        </p:spPr>
        <p:txBody>
          <a:bodyPr wrap="square" lIns="0" rIns="0" tIns="0" bIns="0" anchor="t">
            <a:spAutoFit/>
          </a:bodyPr>
          <a:lstStyle/>
          <a:p>
            <a:pPr algn="l"/>
            <a:r>
              <a:rPr sz="1100" b="1" i="0">
                <a:solidFill>
                  <a:srgbClr val="2F7D62"/>
                </a:solidFill>
                <a:latin typeface="Aptos"/>
              </a:rPr>
              <a:t>2019–21  ·  THE RESPONSE</a:t>
            </a:r>
          </a:p>
        </p:txBody>
      </p:sp>
      <p:sp>
        <p:nvSpPr>
          <p:cNvPr id="19" name="TextBox 18"/>
          <p:cNvSpPr txBox="1"/>
          <p:nvPr/>
        </p:nvSpPr>
        <p:spPr>
          <a:xfrm>
            <a:off x="4824984" y="2971800"/>
            <a:ext cx="2538984" cy="347472"/>
          </a:xfrm>
          <a:prstGeom prst="rect">
            <a:avLst/>
          </a:prstGeom>
          <a:noFill/>
        </p:spPr>
        <p:txBody>
          <a:bodyPr wrap="square" lIns="0" rIns="0" tIns="0" bIns="0" anchor="t">
            <a:spAutoFit/>
          </a:bodyPr>
          <a:lstStyle/>
          <a:p>
            <a:pPr algn="l"/>
            <a:r>
              <a:rPr sz="1300" b="1" i="0">
                <a:solidFill>
                  <a:srgbClr val="17212B"/>
                </a:solidFill>
                <a:latin typeface="Aptos"/>
              </a:rPr>
              <a:t>NeurIPS reproducibility checklist</a:t>
            </a:r>
          </a:p>
        </p:txBody>
      </p:sp>
      <p:sp>
        <p:nvSpPr>
          <p:cNvPr id="20" name="TextBox 19"/>
          <p:cNvSpPr txBox="1"/>
          <p:nvPr/>
        </p:nvSpPr>
        <p:spPr>
          <a:xfrm>
            <a:off x="4824984" y="3337560"/>
            <a:ext cx="2538984" cy="502920"/>
          </a:xfrm>
          <a:prstGeom prst="rect">
            <a:avLst/>
          </a:prstGeom>
          <a:noFill/>
        </p:spPr>
        <p:txBody>
          <a:bodyPr wrap="square" lIns="0" rIns="0" tIns="0" bIns="0" anchor="t">
            <a:spAutoFit/>
          </a:bodyPr>
          <a:lstStyle/>
          <a:p>
            <a:pPr algn="l">
              <a:lnSpc>
                <a:spcPct val="110000"/>
              </a:lnSpc>
            </a:pPr>
            <a:r>
              <a:rPr sz="1050" b="0" i="0">
                <a:solidFill>
                  <a:srgbClr val="5A6675"/>
                </a:solidFill>
                <a:latin typeface="Aptos"/>
              </a:rPr>
              <a:t>Every paper must document data, code, and compute.</a:t>
            </a:r>
          </a:p>
        </p:txBody>
      </p:sp>
      <p:sp>
        <p:nvSpPr>
          <p:cNvPr id="21" name="TextBox 20"/>
          <p:cNvSpPr txBox="1"/>
          <p:nvPr/>
        </p:nvSpPr>
        <p:spPr>
          <a:xfrm>
            <a:off x="4824984" y="3931920"/>
            <a:ext cx="2538984" cy="347472"/>
          </a:xfrm>
          <a:prstGeom prst="rect">
            <a:avLst/>
          </a:prstGeom>
          <a:noFill/>
        </p:spPr>
        <p:txBody>
          <a:bodyPr wrap="square" lIns="0" rIns="0" tIns="0" bIns="0" anchor="t">
            <a:spAutoFit/>
          </a:bodyPr>
          <a:lstStyle/>
          <a:p>
            <a:pPr algn="l"/>
            <a:r>
              <a:rPr sz="1300" b="1" i="0">
                <a:solidFill>
                  <a:srgbClr val="17212B"/>
                </a:solidFill>
                <a:latin typeface="Aptos"/>
              </a:rPr>
              <a:t>Open code, weights, harnesses</a:t>
            </a:r>
          </a:p>
        </p:txBody>
      </p:sp>
      <p:sp>
        <p:nvSpPr>
          <p:cNvPr id="22" name="TextBox 21"/>
          <p:cNvSpPr txBox="1"/>
          <p:nvPr/>
        </p:nvSpPr>
        <p:spPr>
          <a:xfrm>
            <a:off x="4824984" y="4297680"/>
            <a:ext cx="2538984" cy="502920"/>
          </a:xfrm>
          <a:prstGeom prst="rect">
            <a:avLst/>
          </a:prstGeom>
          <a:noFill/>
        </p:spPr>
        <p:txBody>
          <a:bodyPr wrap="square" lIns="0" rIns="0" tIns="0" bIns="0" anchor="t">
            <a:spAutoFit/>
          </a:bodyPr>
          <a:lstStyle/>
          <a:p>
            <a:pPr algn="l">
              <a:lnSpc>
                <a:spcPct val="110000"/>
              </a:lnSpc>
            </a:pPr>
            <a:r>
              <a:rPr sz="1050" b="0" i="0">
                <a:solidFill>
                  <a:srgbClr val="5A6675"/>
                </a:solidFill>
                <a:latin typeface="Aptos"/>
              </a:rPr>
              <a:t>Default expectation, not optional supplement.</a:t>
            </a:r>
          </a:p>
        </p:txBody>
      </p:sp>
      <p:sp>
        <p:nvSpPr>
          <p:cNvPr id="23" name="TextBox 22"/>
          <p:cNvSpPr txBox="1"/>
          <p:nvPr/>
        </p:nvSpPr>
        <p:spPr>
          <a:xfrm>
            <a:off x="4824984" y="4892040"/>
            <a:ext cx="2538984" cy="347472"/>
          </a:xfrm>
          <a:prstGeom prst="rect">
            <a:avLst/>
          </a:prstGeom>
          <a:noFill/>
        </p:spPr>
        <p:txBody>
          <a:bodyPr wrap="square" lIns="0" rIns="0" tIns="0" bIns="0" anchor="t">
            <a:spAutoFit/>
          </a:bodyPr>
          <a:lstStyle/>
          <a:p>
            <a:pPr algn="l"/>
            <a:r>
              <a:rPr sz="1300" b="1" i="0">
                <a:solidFill>
                  <a:srgbClr val="17212B"/>
                </a:solidFill>
                <a:latin typeface="Aptos"/>
              </a:rPr>
              <a:t>Shared benchmarks become the unit of progress</a:t>
            </a:r>
          </a:p>
        </p:txBody>
      </p:sp>
      <p:sp>
        <p:nvSpPr>
          <p:cNvPr id="24" name="TextBox 23"/>
          <p:cNvSpPr txBox="1"/>
          <p:nvPr/>
        </p:nvSpPr>
        <p:spPr>
          <a:xfrm>
            <a:off x="4824984" y="5257800"/>
            <a:ext cx="2538984" cy="502920"/>
          </a:xfrm>
          <a:prstGeom prst="rect">
            <a:avLst/>
          </a:prstGeom>
          <a:noFill/>
        </p:spPr>
        <p:txBody>
          <a:bodyPr wrap="square" lIns="0" rIns="0" tIns="0" bIns="0" anchor="t">
            <a:spAutoFit/>
          </a:bodyPr>
          <a:lstStyle/>
          <a:p>
            <a:pPr algn="l">
              <a:lnSpc>
                <a:spcPct val="110000"/>
              </a:lnSpc>
            </a:pPr>
            <a:r>
              <a:rPr sz="1050" b="0" i="0">
                <a:solidFill>
                  <a:srgbClr val="5A6675"/>
                </a:solidFill>
                <a:latin typeface="Aptos"/>
              </a:rPr>
              <a:t>HuggingFace, Papers-with-Code, leaderboards.</a:t>
            </a:r>
          </a:p>
        </p:txBody>
      </p:sp>
      <p:sp>
        <p:nvSpPr>
          <p:cNvPr id="25" name="Right Arrow 24"/>
          <p:cNvSpPr/>
          <p:nvPr/>
        </p:nvSpPr>
        <p:spPr>
          <a:xfrm>
            <a:off x="7821168" y="3749039"/>
            <a:ext cx="502920" cy="45720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06968" y="2103120"/>
            <a:ext cx="3087624"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06968" y="2103120"/>
            <a:ext cx="3087624" cy="9144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81288" y="2377440"/>
            <a:ext cx="2538984" cy="292608"/>
          </a:xfrm>
          <a:prstGeom prst="rect">
            <a:avLst/>
          </a:prstGeom>
          <a:noFill/>
        </p:spPr>
        <p:txBody>
          <a:bodyPr wrap="square" lIns="0" rIns="0" tIns="0" bIns="0" anchor="t">
            <a:spAutoFit/>
          </a:bodyPr>
          <a:lstStyle/>
          <a:p>
            <a:pPr algn="l"/>
            <a:r>
              <a:rPr sz="1100" b="1" i="0">
                <a:solidFill>
                  <a:srgbClr val="225E9B"/>
                </a:solidFill>
                <a:latin typeface="Aptos"/>
              </a:rPr>
              <a:t>2026  ·  OUR TURN</a:t>
            </a:r>
          </a:p>
        </p:txBody>
      </p:sp>
      <p:sp>
        <p:nvSpPr>
          <p:cNvPr id="29" name="TextBox 28"/>
          <p:cNvSpPr txBox="1"/>
          <p:nvPr/>
        </p:nvSpPr>
        <p:spPr>
          <a:xfrm>
            <a:off x="8781288" y="2926080"/>
            <a:ext cx="2538984" cy="2194560"/>
          </a:xfrm>
          <a:prstGeom prst="rect">
            <a:avLst/>
          </a:prstGeom>
          <a:noFill/>
        </p:spPr>
        <p:txBody>
          <a:bodyPr wrap="square" lIns="0" rIns="0" tIns="0" bIns="0" anchor="t">
            <a:spAutoFit/>
          </a:bodyPr>
          <a:lstStyle/>
          <a:p>
            <a:pPr algn="l">
              <a:lnSpc>
                <a:spcPct val="110000"/>
              </a:lnSpc>
            </a:pPr>
            <a:r>
              <a:rPr sz="2000" b="1" i="0">
                <a:solidFill>
                  <a:srgbClr val="17212B"/>
                </a:solidFill>
                <a:latin typeface="Aptos Display"/>
              </a:rPr>
              <a:t>Engineering design ML</a:t>
            </a:r>
          </a:p>
          <a:p>
            <a:pPr algn="l">
              <a:lnSpc>
                <a:spcPct val="110000"/>
              </a:lnSpc>
            </a:pPr>
            <a:r>
              <a:rPr sz="2000" b="1" i="0">
                <a:solidFill>
                  <a:srgbClr val="17212B"/>
                </a:solidFill>
                <a:latin typeface="Aptos Display"/>
              </a:rPr>
              <a:t>is standing where ML</a:t>
            </a:r>
          </a:p>
          <a:p>
            <a:pPr algn="l">
              <a:lnSpc>
                <a:spcPct val="110000"/>
              </a:lnSpc>
            </a:pPr>
            <a:r>
              <a:rPr sz="2000" b="1" i="0">
                <a:solidFill>
                  <a:srgbClr val="17212B"/>
                </a:solidFill>
                <a:latin typeface="Aptos Display"/>
              </a:rPr>
              <a:t>stood in 2017.</a:t>
            </a:r>
          </a:p>
        </p:txBody>
      </p:sp>
      <p:sp>
        <p:nvSpPr>
          <p:cNvPr id="30" name="TextBox 29"/>
          <p:cNvSpPr txBox="1"/>
          <p:nvPr/>
        </p:nvSpPr>
        <p:spPr>
          <a:xfrm>
            <a:off x="8781288" y="4892040"/>
            <a:ext cx="2538984" cy="868680"/>
          </a:xfrm>
          <a:prstGeom prst="rect">
            <a:avLst/>
          </a:prstGeom>
          <a:noFill/>
        </p:spPr>
        <p:txBody>
          <a:bodyPr wrap="square" lIns="0" rIns="0" tIns="0" bIns="0" anchor="t">
            <a:spAutoFit/>
          </a:bodyPr>
          <a:lstStyle/>
          <a:p>
            <a:pPr algn="l">
              <a:lnSpc>
                <a:spcPct val="115000"/>
              </a:lnSpc>
            </a:pPr>
            <a:r>
              <a:rPr sz="1200" b="1" i="1">
                <a:solidFill>
                  <a:srgbClr val="225E9B"/>
                </a:solidFill>
                <a:latin typeface="Aptos"/>
              </a:rPr>
              <a:t>Same problem. None of the infrastructure yet.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Why we cannot tell</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ENGINEERING DESIGN IS HARDER</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600" b="1" i="0">
                <a:solidFill>
                  <a:srgbClr val="17212B"/>
                </a:solidFill>
                <a:latin typeface="Aptos Display"/>
              </a:rPr>
              <a:t>A design paper hides far more silent choices.</a:t>
            </a:r>
          </a:p>
        </p:txBody>
      </p:sp>
      <p:sp>
        <p:nvSpPr>
          <p:cNvPr id="8" name="Rectangle 7"/>
          <p:cNvSpPr/>
          <p:nvPr/>
        </p:nvSpPr>
        <p:spPr>
          <a:xfrm>
            <a:off x="594360" y="1828800"/>
            <a:ext cx="5669280" cy="402336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0" y="324612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3108960" y="347472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39312" y="335584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285232"/>
            <a:ext cx="5394960" cy="256032"/>
          </a:xfrm>
          <a:prstGeom prst="rect">
            <a:avLst/>
          </a:prstGeom>
          <a:noFill/>
        </p:spPr>
        <p:txBody>
          <a:bodyPr wrap="square" lIns="0" rIns="0" tIns="0" bIns="0" anchor="t">
            <a:spAutoFit/>
          </a:bodyPr>
          <a:lstStyle/>
          <a:p>
            <a:pPr algn="ctr"/>
            <a:r>
              <a:rPr sz="1000" b="1" i="1">
                <a:solidFill>
                  <a:srgbClr val="225E9B"/>
                </a:solidFill>
                <a:latin typeface="Aptos"/>
              </a:rPr>
              <a:t>[ANNOTATED FIGURE: a Beams2D problem with callouts for solver, mesh, boundary conditions, volume fraction, baseline optimizer, units]</a:t>
            </a:r>
          </a:p>
        </p:txBody>
      </p:sp>
      <p:sp>
        <p:nvSpPr>
          <p:cNvPr id="13" name="TextBox 12"/>
          <p:cNvSpPr txBox="1"/>
          <p:nvPr/>
        </p:nvSpPr>
        <p:spPr>
          <a:xfrm>
            <a:off x="731520" y="5559552"/>
            <a:ext cx="5394960" cy="237744"/>
          </a:xfrm>
          <a:prstGeom prst="rect">
            <a:avLst/>
          </a:prstGeom>
          <a:noFill/>
        </p:spPr>
        <p:txBody>
          <a:bodyPr wrap="square" lIns="0" rIns="0" tIns="0" bIns="0" anchor="t">
            <a:spAutoFit/>
          </a:bodyPr>
          <a:lstStyle/>
          <a:p>
            <a:pPr algn="ctr"/>
            <a:r>
              <a:rPr sz="850" b="0" i="1">
                <a:solidFill>
                  <a:srgbClr val="7A8493"/>
                </a:solidFill>
                <a:latin typeface="Aptos"/>
              </a:rPr>
              <a:t>Source: render via engibench problem.render(beams2d) and annotate, or adapt Sigmund's 99-line code paper figures.</a:t>
            </a:r>
          </a:p>
        </p:txBody>
      </p:sp>
      <p:sp>
        <p:nvSpPr>
          <p:cNvPr id="14" name="TextBox 13"/>
          <p:cNvSpPr txBox="1"/>
          <p:nvPr/>
        </p:nvSpPr>
        <p:spPr>
          <a:xfrm>
            <a:off x="6675120" y="1828800"/>
            <a:ext cx="5074920" cy="274320"/>
          </a:xfrm>
          <a:prstGeom prst="rect">
            <a:avLst/>
          </a:prstGeom>
          <a:noFill/>
        </p:spPr>
        <p:txBody>
          <a:bodyPr wrap="square" lIns="0" rIns="0" tIns="0" bIns="0" anchor="t">
            <a:spAutoFit/>
          </a:bodyPr>
          <a:lstStyle/>
          <a:p>
            <a:pPr algn="l"/>
            <a:r>
              <a:rPr sz="1100" b="1" i="0">
                <a:solidFill>
                  <a:srgbClr val="225E9B"/>
                </a:solidFill>
                <a:latin typeface="Aptos"/>
              </a:rPr>
              <a:t>SIX KNOBS THAT FLIP CONCLUSIONS</a:t>
            </a:r>
          </a:p>
        </p:txBody>
      </p:sp>
      <p:sp>
        <p:nvSpPr>
          <p:cNvPr id="15" name="TextBox 14"/>
          <p:cNvSpPr txBox="1"/>
          <p:nvPr/>
        </p:nvSpPr>
        <p:spPr>
          <a:xfrm>
            <a:off x="6675120" y="2240280"/>
            <a:ext cx="1783080" cy="274320"/>
          </a:xfrm>
          <a:prstGeom prst="rect">
            <a:avLst/>
          </a:prstGeom>
          <a:noFill/>
        </p:spPr>
        <p:txBody>
          <a:bodyPr wrap="square" lIns="0" rIns="0" tIns="0" bIns="0" anchor="t">
            <a:spAutoFit/>
          </a:bodyPr>
          <a:lstStyle/>
          <a:p>
            <a:pPr algn="l"/>
            <a:r>
              <a:rPr sz="1300" b="1" i="0">
                <a:solidFill>
                  <a:srgbClr val="17212B"/>
                </a:solidFill>
                <a:latin typeface="Aptos"/>
              </a:rPr>
              <a:t>Simulator</a:t>
            </a:r>
          </a:p>
        </p:txBody>
      </p:sp>
      <p:sp>
        <p:nvSpPr>
          <p:cNvPr id="16" name="TextBox 15"/>
          <p:cNvSpPr txBox="1"/>
          <p:nvPr/>
        </p:nvSpPr>
        <p:spPr>
          <a:xfrm>
            <a:off x="8549639" y="2240280"/>
            <a:ext cx="3154680" cy="274320"/>
          </a:xfrm>
          <a:prstGeom prst="rect">
            <a:avLst/>
          </a:prstGeom>
          <a:noFill/>
        </p:spPr>
        <p:txBody>
          <a:bodyPr wrap="square" lIns="0" rIns="0" tIns="0" bIns="0" anchor="t">
            <a:spAutoFit/>
          </a:bodyPr>
          <a:lstStyle/>
          <a:p>
            <a:pPr algn="l"/>
            <a:r>
              <a:rPr sz="1150" b="0" i="0">
                <a:solidFill>
                  <a:srgbClr val="5A6675"/>
                </a:solidFill>
                <a:latin typeface="Aptos"/>
              </a:rPr>
              <a:t>Which solver? Which mesh? Which tolerance?</a:t>
            </a:r>
          </a:p>
        </p:txBody>
      </p:sp>
      <p:sp>
        <p:nvSpPr>
          <p:cNvPr id="17" name="TextBox 16"/>
          <p:cNvSpPr txBox="1"/>
          <p:nvPr/>
        </p:nvSpPr>
        <p:spPr>
          <a:xfrm>
            <a:off x="6675120" y="2743200"/>
            <a:ext cx="1783080" cy="274320"/>
          </a:xfrm>
          <a:prstGeom prst="rect">
            <a:avLst/>
          </a:prstGeom>
          <a:noFill/>
        </p:spPr>
        <p:txBody>
          <a:bodyPr wrap="square" lIns="0" rIns="0" tIns="0" bIns="0" anchor="t">
            <a:spAutoFit/>
          </a:bodyPr>
          <a:lstStyle/>
          <a:p>
            <a:pPr algn="l"/>
            <a:r>
              <a:rPr sz="1300" b="1" i="0">
                <a:solidFill>
                  <a:srgbClr val="17212B"/>
                </a:solidFill>
                <a:latin typeface="Aptos"/>
              </a:rPr>
              <a:t>Constraints</a:t>
            </a:r>
          </a:p>
        </p:txBody>
      </p:sp>
      <p:sp>
        <p:nvSpPr>
          <p:cNvPr id="18" name="TextBox 17"/>
          <p:cNvSpPr txBox="1"/>
          <p:nvPr/>
        </p:nvSpPr>
        <p:spPr>
          <a:xfrm>
            <a:off x="8549639" y="2743200"/>
            <a:ext cx="3154680" cy="274320"/>
          </a:xfrm>
          <a:prstGeom prst="rect">
            <a:avLst/>
          </a:prstGeom>
          <a:noFill/>
        </p:spPr>
        <p:txBody>
          <a:bodyPr wrap="square" lIns="0" rIns="0" tIns="0" bIns="0" anchor="t">
            <a:spAutoFit/>
          </a:bodyPr>
          <a:lstStyle/>
          <a:p>
            <a:pPr algn="l"/>
            <a:r>
              <a:rPr sz="1150" b="0" i="0">
                <a:solidFill>
                  <a:srgbClr val="5A6675"/>
                </a:solidFill>
                <a:latin typeface="Aptos"/>
              </a:rPr>
              <a:t>Manufacturability, disconnected-material, volfrac slack.</a:t>
            </a:r>
          </a:p>
        </p:txBody>
      </p:sp>
      <p:sp>
        <p:nvSpPr>
          <p:cNvPr id="19" name="TextBox 18"/>
          <p:cNvSpPr txBox="1"/>
          <p:nvPr/>
        </p:nvSpPr>
        <p:spPr>
          <a:xfrm>
            <a:off x="6675120" y="3246120"/>
            <a:ext cx="1783080" cy="274320"/>
          </a:xfrm>
          <a:prstGeom prst="rect">
            <a:avLst/>
          </a:prstGeom>
          <a:noFill/>
        </p:spPr>
        <p:txBody>
          <a:bodyPr wrap="square" lIns="0" rIns="0" tIns="0" bIns="0" anchor="t">
            <a:spAutoFit/>
          </a:bodyPr>
          <a:lstStyle/>
          <a:p>
            <a:pPr algn="l"/>
            <a:r>
              <a:rPr sz="1300" b="1" i="0">
                <a:solidFill>
                  <a:srgbClr val="17212B"/>
                </a:solidFill>
                <a:latin typeface="Aptos"/>
              </a:rPr>
              <a:t>Conditions</a:t>
            </a:r>
          </a:p>
        </p:txBody>
      </p:sp>
      <p:sp>
        <p:nvSpPr>
          <p:cNvPr id="20" name="TextBox 19"/>
          <p:cNvSpPr txBox="1"/>
          <p:nvPr/>
        </p:nvSpPr>
        <p:spPr>
          <a:xfrm>
            <a:off x="8549639" y="3246120"/>
            <a:ext cx="3154680" cy="274320"/>
          </a:xfrm>
          <a:prstGeom prst="rect">
            <a:avLst/>
          </a:prstGeom>
          <a:noFill/>
        </p:spPr>
        <p:txBody>
          <a:bodyPr wrap="square" lIns="0" rIns="0" tIns="0" bIns="0" anchor="t">
            <a:spAutoFit/>
          </a:bodyPr>
          <a:lstStyle/>
          <a:p>
            <a:pPr algn="l"/>
            <a:r>
              <a:rPr sz="1150" b="0" i="0">
                <a:solidFill>
                  <a:srgbClr val="5A6675"/>
                </a:solidFill>
                <a:latin typeface="Aptos"/>
              </a:rPr>
              <a:t>Distribution of loads and scenarios.</a:t>
            </a:r>
          </a:p>
        </p:txBody>
      </p:sp>
      <p:sp>
        <p:nvSpPr>
          <p:cNvPr id="21" name="TextBox 20"/>
          <p:cNvSpPr txBox="1"/>
          <p:nvPr/>
        </p:nvSpPr>
        <p:spPr>
          <a:xfrm>
            <a:off x="6675120" y="3749040"/>
            <a:ext cx="1783080" cy="274320"/>
          </a:xfrm>
          <a:prstGeom prst="rect">
            <a:avLst/>
          </a:prstGeom>
          <a:noFill/>
        </p:spPr>
        <p:txBody>
          <a:bodyPr wrap="square" lIns="0" rIns="0" tIns="0" bIns="0" anchor="t">
            <a:spAutoFit/>
          </a:bodyPr>
          <a:lstStyle/>
          <a:p>
            <a:pPr algn="l"/>
            <a:r>
              <a:rPr sz="1300" b="1" i="0">
                <a:solidFill>
                  <a:srgbClr val="17212B"/>
                </a:solidFill>
                <a:latin typeface="Aptos"/>
              </a:rPr>
              <a:t>Baselines</a:t>
            </a:r>
          </a:p>
        </p:txBody>
      </p:sp>
      <p:sp>
        <p:nvSpPr>
          <p:cNvPr id="22" name="TextBox 21"/>
          <p:cNvSpPr txBox="1"/>
          <p:nvPr/>
        </p:nvSpPr>
        <p:spPr>
          <a:xfrm>
            <a:off x="8549639" y="3749040"/>
            <a:ext cx="3154680" cy="274320"/>
          </a:xfrm>
          <a:prstGeom prst="rect">
            <a:avLst/>
          </a:prstGeom>
          <a:noFill/>
        </p:spPr>
        <p:txBody>
          <a:bodyPr wrap="square" lIns="0" rIns="0" tIns="0" bIns="0" anchor="t">
            <a:spAutoFit/>
          </a:bodyPr>
          <a:lstStyle/>
          <a:p>
            <a:pPr algn="l"/>
            <a:r>
              <a:rPr sz="1150" b="0" i="0">
                <a:solidFill>
                  <a:srgbClr val="5A6675"/>
                </a:solidFill>
                <a:latin typeface="Aptos"/>
              </a:rPr>
              <a:t>Random search vs. SIMP vs. CMA-ES.</a:t>
            </a:r>
          </a:p>
        </p:txBody>
      </p:sp>
      <p:sp>
        <p:nvSpPr>
          <p:cNvPr id="23" name="TextBox 22"/>
          <p:cNvSpPr txBox="1"/>
          <p:nvPr/>
        </p:nvSpPr>
        <p:spPr>
          <a:xfrm>
            <a:off x="6675120" y="4251960"/>
            <a:ext cx="1783080" cy="274320"/>
          </a:xfrm>
          <a:prstGeom prst="rect">
            <a:avLst/>
          </a:prstGeom>
          <a:noFill/>
        </p:spPr>
        <p:txBody>
          <a:bodyPr wrap="square" lIns="0" rIns="0" tIns="0" bIns="0" anchor="t">
            <a:spAutoFit/>
          </a:bodyPr>
          <a:lstStyle/>
          <a:p>
            <a:pPr algn="l"/>
            <a:r>
              <a:rPr sz="1300" b="1" i="0">
                <a:solidFill>
                  <a:srgbClr val="17212B"/>
                </a:solidFill>
                <a:latin typeface="Aptos"/>
              </a:rPr>
              <a:t>Representation</a:t>
            </a:r>
          </a:p>
        </p:txBody>
      </p:sp>
      <p:sp>
        <p:nvSpPr>
          <p:cNvPr id="24" name="TextBox 23"/>
          <p:cNvSpPr txBox="1"/>
          <p:nvPr/>
        </p:nvSpPr>
        <p:spPr>
          <a:xfrm>
            <a:off x="8549639" y="4251960"/>
            <a:ext cx="3154680" cy="274320"/>
          </a:xfrm>
          <a:prstGeom prst="rect">
            <a:avLst/>
          </a:prstGeom>
          <a:noFill/>
        </p:spPr>
        <p:txBody>
          <a:bodyPr wrap="square" lIns="0" rIns="0" tIns="0" bIns="0" anchor="t">
            <a:spAutoFit/>
          </a:bodyPr>
          <a:lstStyle/>
          <a:p>
            <a:pPr algn="l"/>
            <a:r>
              <a:rPr sz="1150" b="0" i="0">
                <a:solidFill>
                  <a:srgbClr val="5A6675"/>
                </a:solidFill>
                <a:latin typeface="Aptos"/>
              </a:rPr>
              <a:t>Pixels, meshes, B-splines, Bézier curves.</a:t>
            </a:r>
          </a:p>
        </p:txBody>
      </p:sp>
      <p:sp>
        <p:nvSpPr>
          <p:cNvPr id="25" name="TextBox 24"/>
          <p:cNvSpPr txBox="1"/>
          <p:nvPr/>
        </p:nvSpPr>
        <p:spPr>
          <a:xfrm>
            <a:off x="6675120" y="4754880"/>
            <a:ext cx="1783080" cy="274320"/>
          </a:xfrm>
          <a:prstGeom prst="rect">
            <a:avLst/>
          </a:prstGeom>
          <a:noFill/>
        </p:spPr>
        <p:txBody>
          <a:bodyPr wrap="square" lIns="0" rIns="0" tIns="0" bIns="0" anchor="t">
            <a:spAutoFit/>
          </a:bodyPr>
          <a:lstStyle/>
          <a:p>
            <a:pPr algn="l"/>
            <a:r>
              <a:rPr sz="1300" b="1" i="0">
                <a:solidFill>
                  <a:srgbClr val="17212B"/>
                </a:solidFill>
                <a:latin typeface="Aptos"/>
              </a:rPr>
              <a:t>Units &amp; scaling</a:t>
            </a:r>
          </a:p>
        </p:txBody>
      </p:sp>
      <p:sp>
        <p:nvSpPr>
          <p:cNvPr id="26" name="TextBox 25"/>
          <p:cNvSpPr txBox="1"/>
          <p:nvPr/>
        </p:nvSpPr>
        <p:spPr>
          <a:xfrm>
            <a:off x="8549639" y="4754880"/>
            <a:ext cx="3154680" cy="274320"/>
          </a:xfrm>
          <a:prstGeom prst="rect">
            <a:avLst/>
          </a:prstGeom>
          <a:noFill/>
        </p:spPr>
        <p:txBody>
          <a:bodyPr wrap="square" lIns="0" rIns="0" tIns="0" bIns="0" anchor="t">
            <a:spAutoFit/>
          </a:bodyPr>
          <a:lstStyle/>
          <a:p>
            <a:pPr algn="l"/>
            <a:r>
              <a:rPr sz="1150" b="0" i="0">
                <a:solidFill>
                  <a:srgbClr val="5A6675"/>
                </a:solidFill>
                <a:latin typeface="Aptos"/>
              </a:rPr>
              <a:t>Compliance vs. stress vs. dB.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Why we cannot tell</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A CONCRETE CASE</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600" b="1" i="0">
                <a:solidFill>
                  <a:srgbClr val="17212B"/>
                </a:solidFill>
                <a:latin typeface="Aptos Display"/>
              </a:rPr>
              <a:t>Same task name. Same headline number.</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250" b="0" i="1">
                <a:solidFill>
                  <a:srgbClr val="5A6675"/>
                </a:solidFill>
                <a:latin typeface="Aptos"/>
              </a:rPr>
              <a:t>Two recent "Beams2D" papers both report MSE = 0.04.  Are they comparable?  Each row below is a setup choice that quietly changes the problem.</a:t>
            </a:r>
          </a:p>
        </p:txBody>
      </p:sp>
      <p:sp>
        <p:nvSpPr>
          <p:cNvPr id="9" name="Rectangle 8"/>
          <p:cNvSpPr/>
          <p:nvPr/>
        </p:nvSpPr>
        <p:spPr>
          <a:xfrm>
            <a:off x="777240" y="2011680"/>
            <a:ext cx="4389120"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011680"/>
            <a:ext cx="4389120" cy="4572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30552"/>
            <a:ext cx="4389120" cy="274320"/>
          </a:xfrm>
          <a:prstGeom prst="rect">
            <a:avLst/>
          </a:prstGeom>
          <a:noFill/>
        </p:spPr>
        <p:txBody>
          <a:bodyPr wrap="square" lIns="0" rIns="0" tIns="0" bIns="0" anchor="t">
            <a:spAutoFit/>
          </a:bodyPr>
          <a:lstStyle/>
          <a:p>
            <a:pPr algn="ctr"/>
            <a:r>
              <a:rPr sz="1150" b="1" i="0">
                <a:solidFill>
                  <a:srgbClr val="FFFFFF"/>
                </a:solidFill>
                <a:latin typeface="Aptos"/>
              </a:rPr>
              <a:t>PAPER A — diffusion for topology</a:t>
            </a:r>
          </a:p>
        </p:txBody>
      </p:sp>
      <p:sp>
        <p:nvSpPr>
          <p:cNvPr id="12" name="TextBox 11"/>
          <p:cNvSpPr txBox="1"/>
          <p:nvPr/>
        </p:nvSpPr>
        <p:spPr>
          <a:xfrm>
            <a:off x="1051560" y="2606040"/>
            <a:ext cx="3840480" cy="365760"/>
          </a:xfrm>
          <a:prstGeom prst="rect">
            <a:avLst/>
          </a:prstGeom>
          <a:noFill/>
        </p:spPr>
        <p:txBody>
          <a:bodyPr wrap="square" lIns="0" rIns="0" tIns="0" bIns="0" anchor="t">
            <a:spAutoFit/>
          </a:bodyPr>
          <a:lstStyle/>
          <a:p>
            <a:pPr algn="l"/>
            <a:r>
              <a:rPr sz="1400" b="1" i="0">
                <a:solidFill>
                  <a:srgbClr val="225E9B"/>
                </a:solidFill>
                <a:latin typeface="Aptos"/>
              </a:rPr>
              <a:t>Reported  MSE = 0.04</a:t>
            </a:r>
          </a:p>
        </p:txBody>
      </p:sp>
      <p:sp>
        <p:nvSpPr>
          <p:cNvPr id="13" name="TextBox 12"/>
          <p:cNvSpPr txBox="1"/>
          <p:nvPr/>
        </p:nvSpPr>
        <p:spPr>
          <a:xfrm>
            <a:off x="1051560" y="3108960"/>
            <a:ext cx="2103120" cy="237744"/>
          </a:xfrm>
          <a:prstGeom prst="rect">
            <a:avLst/>
          </a:prstGeom>
          <a:noFill/>
        </p:spPr>
        <p:txBody>
          <a:bodyPr wrap="square" lIns="0" rIns="0" tIns="0" bIns="0" anchor="t">
            <a:spAutoFit/>
          </a:bodyPr>
          <a:lstStyle/>
          <a:p>
            <a:pPr algn="l"/>
            <a:r>
              <a:rPr sz="1150" b="1" i="0">
                <a:solidFill>
                  <a:srgbClr val="17212B"/>
                </a:solidFill>
                <a:latin typeface="Aptos"/>
              </a:rPr>
              <a:t>Material budget</a:t>
            </a:r>
          </a:p>
        </p:txBody>
      </p:sp>
      <p:sp>
        <p:nvSpPr>
          <p:cNvPr id="14" name="TextBox 13"/>
          <p:cNvSpPr txBox="1"/>
          <p:nvPr/>
        </p:nvSpPr>
        <p:spPr>
          <a:xfrm>
            <a:off x="3200400" y="3108960"/>
            <a:ext cx="1691640" cy="237744"/>
          </a:xfrm>
          <a:prstGeom prst="rect">
            <a:avLst/>
          </a:prstGeom>
          <a:noFill/>
        </p:spPr>
        <p:txBody>
          <a:bodyPr wrap="square" lIns="0" rIns="0" tIns="0" bIns="0" anchor="t">
            <a:spAutoFit/>
          </a:bodyPr>
          <a:lstStyle/>
          <a:p>
            <a:pPr algn="l"/>
            <a:r>
              <a:rPr sz="1150" b="1" i="0">
                <a:solidFill>
                  <a:srgbClr val="225E9B"/>
                </a:solidFill>
                <a:latin typeface="Aptos"/>
              </a:rPr>
              <a:t>fixed at 0.50</a:t>
            </a:r>
          </a:p>
        </p:txBody>
      </p:sp>
      <p:sp>
        <p:nvSpPr>
          <p:cNvPr id="15" name="TextBox 14"/>
          <p:cNvSpPr txBox="1"/>
          <p:nvPr/>
        </p:nvSpPr>
        <p:spPr>
          <a:xfrm>
            <a:off x="1051560" y="3346704"/>
            <a:ext cx="2103120" cy="201168"/>
          </a:xfrm>
          <a:prstGeom prst="rect">
            <a:avLst/>
          </a:prstGeom>
          <a:noFill/>
        </p:spPr>
        <p:txBody>
          <a:bodyPr wrap="square" lIns="0" rIns="0" tIns="0" bIns="0" anchor="t">
            <a:spAutoFit/>
          </a:bodyPr>
          <a:lstStyle/>
          <a:p>
            <a:pPr algn="l"/>
            <a:r>
              <a:rPr sz="900" b="0" i="1">
                <a:solidFill>
                  <a:srgbClr val="7A8493"/>
                </a:solidFill>
                <a:latin typeface="Aptos"/>
              </a:rPr>
              <a:t>problem setup — volume fraction</a:t>
            </a:r>
          </a:p>
        </p:txBody>
      </p:sp>
      <p:sp>
        <p:nvSpPr>
          <p:cNvPr id="16" name="TextBox 15"/>
          <p:cNvSpPr txBox="1"/>
          <p:nvPr/>
        </p:nvSpPr>
        <p:spPr>
          <a:xfrm>
            <a:off x="1051560" y="3611880"/>
            <a:ext cx="2103120" cy="237744"/>
          </a:xfrm>
          <a:prstGeom prst="rect">
            <a:avLst/>
          </a:prstGeom>
          <a:noFill/>
        </p:spPr>
        <p:txBody>
          <a:bodyPr wrap="square" lIns="0" rIns="0" tIns="0" bIns="0" anchor="t">
            <a:spAutoFit/>
          </a:bodyPr>
          <a:lstStyle/>
          <a:p>
            <a:pPr algn="l"/>
            <a:r>
              <a:rPr sz="1150" b="1" i="0">
                <a:solidFill>
                  <a:srgbClr val="17212B"/>
                </a:solidFill>
                <a:latin typeface="Aptos"/>
              </a:rPr>
              <a:t>Smoothing scale</a:t>
            </a:r>
          </a:p>
        </p:txBody>
      </p:sp>
      <p:sp>
        <p:nvSpPr>
          <p:cNvPr id="17" name="TextBox 16"/>
          <p:cNvSpPr txBox="1"/>
          <p:nvPr/>
        </p:nvSpPr>
        <p:spPr>
          <a:xfrm>
            <a:off x="3200400" y="3611880"/>
            <a:ext cx="1691640" cy="237744"/>
          </a:xfrm>
          <a:prstGeom prst="rect">
            <a:avLst/>
          </a:prstGeom>
          <a:noFill/>
        </p:spPr>
        <p:txBody>
          <a:bodyPr wrap="square" lIns="0" rIns="0" tIns="0" bIns="0" anchor="t">
            <a:spAutoFit/>
          </a:bodyPr>
          <a:lstStyle/>
          <a:p>
            <a:pPr algn="l"/>
            <a:r>
              <a:rPr sz="1150" b="1" i="0">
                <a:solidFill>
                  <a:srgbClr val="225E9B"/>
                </a:solidFill>
                <a:latin typeface="Aptos"/>
              </a:rPr>
              <a:t>1.5 px</a:t>
            </a:r>
          </a:p>
        </p:txBody>
      </p:sp>
      <p:sp>
        <p:nvSpPr>
          <p:cNvPr id="18" name="TextBox 17"/>
          <p:cNvSpPr txBox="1"/>
          <p:nvPr/>
        </p:nvSpPr>
        <p:spPr>
          <a:xfrm>
            <a:off x="1051560" y="3849624"/>
            <a:ext cx="2103120" cy="201168"/>
          </a:xfrm>
          <a:prstGeom prst="rect">
            <a:avLst/>
          </a:prstGeom>
          <a:noFill/>
        </p:spPr>
        <p:txBody>
          <a:bodyPr wrap="square" lIns="0" rIns="0" tIns="0" bIns="0" anchor="t">
            <a:spAutoFit/>
          </a:bodyPr>
          <a:lstStyle/>
          <a:p>
            <a:pPr algn="l"/>
            <a:r>
              <a:rPr sz="900" b="0" i="1">
                <a:solidFill>
                  <a:srgbClr val="7A8493"/>
                </a:solidFill>
                <a:latin typeface="Aptos"/>
              </a:rPr>
              <a:t>solver — filter radius</a:t>
            </a:r>
          </a:p>
        </p:txBody>
      </p:sp>
      <p:sp>
        <p:nvSpPr>
          <p:cNvPr id="19" name="TextBox 18"/>
          <p:cNvSpPr txBox="1"/>
          <p:nvPr/>
        </p:nvSpPr>
        <p:spPr>
          <a:xfrm>
            <a:off x="1051560" y="4114800"/>
            <a:ext cx="2103120" cy="237744"/>
          </a:xfrm>
          <a:prstGeom prst="rect">
            <a:avLst/>
          </a:prstGeom>
          <a:noFill/>
        </p:spPr>
        <p:txBody>
          <a:bodyPr wrap="square" lIns="0" rIns="0" tIns="0" bIns="0" anchor="t">
            <a:spAutoFit/>
          </a:bodyPr>
          <a:lstStyle/>
          <a:p>
            <a:pPr algn="l"/>
            <a:r>
              <a:rPr sz="1150" b="1" i="0">
                <a:solidFill>
                  <a:srgbClr val="17212B"/>
                </a:solidFill>
                <a:latin typeface="Aptos"/>
              </a:rPr>
              <a:t>Validity check</a:t>
            </a:r>
          </a:p>
        </p:txBody>
      </p:sp>
      <p:sp>
        <p:nvSpPr>
          <p:cNvPr id="20" name="TextBox 19"/>
          <p:cNvSpPr txBox="1"/>
          <p:nvPr/>
        </p:nvSpPr>
        <p:spPr>
          <a:xfrm>
            <a:off x="3200400" y="4114800"/>
            <a:ext cx="1691640" cy="237744"/>
          </a:xfrm>
          <a:prstGeom prst="rect">
            <a:avLst/>
          </a:prstGeom>
          <a:noFill/>
        </p:spPr>
        <p:txBody>
          <a:bodyPr wrap="square" lIns="0" rIns="0" tIns="0" bIns="0" anchor="t">
            <a:spAutoFit/>
          </a:bodyPr>
          <a:lstStyle/>
          <a:p>
            <a:pPr algn="l"/>
            <a:r>
              <a:rPr sz="1150" b="1" i="0">
                <a:solidFill>
                  <a:srgbClr val="225E9B"/>
                </a:solidFill>
                <a:latin typeface="Aptos"/>
              </a:rPr>
              <a:t>soft penalty</a:t>
            </a:r>
          </a:p>
        </p:txBody>
      </p:sp>
      <p:sp>
        <p:nvSpPr>
          <p:cNvPr id="21" name="TextBox 20"/>
          <p:cNvSpPr txBox="1"/>
          <p:nvPr/>
        </p:nvSpPr>
        <p:spPr>
          <a:xfrm>
            <a:off x="1051560" y="4352544"/>
            <a:ext cx="2103120" cy="201168"/>
          </a:xfrm>
          <a:prstGeom prst="rect">
            <a:avLst/>
          </a:prstGeom>
          <a:noFill/>
        </p:spPr>
        <p:txBody>
          <a:bodyPr wrap="square" lIns="0" rIns="0" tIns="0" bIns="0" anchor="t">
            <a:spAutoFit/>
          </a:bodyPr>
          <a:lstStyle/>
          <a:p>
            <a:pPr algn="l"/>
            <a:r>
              <a:rPr sz="900" b="0" i="1">
                <a:solidFill>
                  <a:srgbClr val="7A8493"/>
                </a:solidFill>
                <a:latin typeface="Aptos"/>
              </a:rPr>
              <a:t>scoring rule — feasibility</a:t>
            </a:r>
          </a:p>
        </p:txBody>
      </p:sp>
      <p:sp>
        <p:nvSpPr>
          <p:cNvPr id="22" name="TextBox 21"/>
          <p:cNvSpPr txBox="1"/>
          <p:nvPr/>
        </p:nvSpPr>
        <p:spPr>
          <a:xfrm>
            <a:off x="1051560" y="4617720"/>
            <a:ext cx="2103120" cy="237744"/>
          </a:xfrm>
          <a:prstGeom prst="rect">
            <a:avLst/>
          </a:prstGeom>
          <a:noFill/>
        </p:spPr>
        <p:txBody>
          <a:bodyPr wrap="square" lIns="0" rIns="0" tIns="0" bIns="0" anchor="t">
            <a:spAutoFit/>
          </a:bodyPr>
          <a:lstStyle/>
          <a:p>
            <a:pPr algn="l"/>
            <a:r>
              <a:rPr sz="1150" b="1" i="0">
                <a:solidFill>
                  <a:srgbClr val="17212B"/>
                </a:solidFill>
                <a:latin typeface="Aptos"/>
              </a:rPr>
              <a:t>Convergence</a:t>
            </a:r>
          </a:p>
        </p:txBody>
      </p:sp>
      <p:sp>
        <p:nvSpPr>
          <p:cNvPr id="23" name="TextBox 22"/>
          <p:cNvSpPr txBox="1"/>
          <p:nvPr/>
        </p:nvSpPr>
        <p:spPr>
          <a:xfrm>
            <a:off x="3200400" y="4617720"/>
            <a:ext cx="1691640" cy="237744"/>
          </a:xfrm>
          <a:prstGeom prst="rect">
            <a:avLst/>
          </a:prstGeom>
          <a:noFill/>
        </p:spPr>
        <p:txBody>
          <a:bodyPr wrap="square" lIns="0" rIns="0" tIns="0" bIns="0" anchor="t">
            <a:spAutoFit/>
          </a:bodyPr>
          <a:lstStyle/>
          <a:p>
            <a:pPr algn="l"/>
            <a:r>
              <a:rPr sz="1150" b="1" i="0">
                <a:solidFill>
                  <a:srgbClr val="225E9B"/>
                </a:solidFill>
                <a:latin typeface="Aptos"/>
              </a:rPr>
              <a:t>1e-3 (loose)</a:t>
            </a:r>
          </a:p>
        </p:txBody>
      </p:sp>
      <p:sp>
        <p:nvSpPr>
          <p:cNvPr id="24" name="TextBox 23"/>
          <p:cNvSpPr txBox="1"/>
          <p:nvPr/>
        </p:nvSpPr>
        <p:spPr>
          <a:xfrm>
            <a:off x="1051560" y="4855464"/>
            <a:ext cx="2103120" cy="201168"/>
          </a:xfrm>
          <a:prstGeom prst="rect">
            <a:avLst/>
          </a:prstGeom>
          <a:noFill/>
        </p:spPr>
        <p:txBody>
          <a:bodyPr wrap="square" lIns="0" rIns="0" tIns="0" bIns="0" anchor="t">
            <a:spAutoFit/>
          </a:bodyPr>
          <a:lstStyle/>
          <a:p>
            <a:pPr algn="l"/>
            <a:r>
              <a:rPr sz="900" b="0" i="1">
                <a:solidFill>
                  <a:srgbClr val="7A8493"/>
                </a:solidFill>
                <a:latin typeface="Aptos"/>
              </a:rPr>
              <a:t>solver — stopping tolerance</a:t>
            </a:r>
          </a:p>
        </p:txBody>
      </p:sp>
      <p:sp>
        <p:nvSpPr>
          <p:cNvPr id="25" name="TextBox 24"/>
          <p:cNvSpPr txBox="1"/>
          <p:nvPr/>
        </p:nvSpPr>
        <p:spPr>
          <a:xfrm>
            <a:off x="1051560" y="5120640"/>
            <a:ext cx="2103120" cy="237744"/>
          </a:xfrm>
          <a:prstGeom prst="rect">
            <a:avLst/>
          </a:prstGeom>
          <a:noFill/>
        </p:spPr>
        <p:txBody>
          <a:bodyPr wrap="square" lIns="0" rIns="0" tIns="0" bIns="0" anchor="t">
            <a:spAutoFit/>
          </a:bodyPr>
          <a:lstStyle/>
          <a:p>
            <a:pPr algn="l"/>
            <a:r>
              <a:rPr sz="1150" b="1" i="0">
                <a:solidFill>
                  <a:srgbClr val="17212B"/>
                </a:solidFill>
                <a:latin typeface="Aptos"/>
              </a:rPr>
              <a:t>Test scenarios</a:t>
            </a:r>
          </a:p>
        </p:txBody>
      </p:sp>
      <p:sp>
        <p:nvSpPr>
          <p:cNvPr id="26" name="TextBox 25"/>
          <p:cNvSpPr txBox="1"/>
          <p:nvPr/>
        </p:nvSpPr>
        <p:spPr>
          <a:xfrm>
            <a:off x="3200400" y="5120640"/>
            <a:ext cx="1691640" cy="237744"/>
          </a:xfrm>
          <a:prstGeom prst="rect">
            <a:avLst/>
          </a:prstGeom>
          <a:noFill/>
        </p:spPr>
        <p:txBody>
          <a:bodyPr wrap="square" lIns="0" rIns="0" tIns="0" bIns="0" anchor="t">
            <a:spAutoFit/>
          </a:bodyPr>
          <a:lstStyle/>
          <a:p>
            <a:pPr algn="l"/>
            <a:r>
              <a:rPr sz="1150" b="1" i="0">
                <a:solidFill>
                  <a:srgbClr val="225E9B"/>
                </a:solidFill>
                <a:latin typeface="Aptos"/>
              </a:rPr>
              <a:t>near training mean</a:t>
            </a:r>
          </a:p>
        </p:txBody>
      </p:sp>
      <p:sp>
        <p:nvSpPr>
          <p:cNvPr id="27" name="TextBox 26"/>
          <p:cNvSpPr txBox="1"/>
          <p:nvPr/>
        </p:nvSpPr>
        <p:spPr>
          <a:xfrm>
            <a:off x="1051560" y="5358384"/>
            <a:ext cx="2103120" cy="201168"/>
          </a:xfrm>
          <a:prstGeom prst="rect">
            <a:avLst/>
          </a:prstGeom>
          <a:noFill/>
        </p:spPr>
        <p:txBody>
          <a:bodyPr wrap="square" lIns="0" rIns="0" tIns="0" bIns="0" anchor="t">
            <a:spAutoFit/>
          </a:bodyPr>
          <a:lstStyle/>
          <a:p>
            <a:pPr algn="l"/>
            <a:r>
              <a:rPr sz="900" b="0" i="1">
                <a:solidFill>
                  <a:srgbClr val="7A8493"/>
                </a:solidFill>
                <a:latin typeface="Aptos"/>
              </a:rPr>
              <a:t>evaluation — condition split</a:t>
            </a:r>
          </a:p>
        </p:txBody>
      </p:sp>
      <p:sp>
        <p:nvSpPr>
          <p:cNvPr id="28" name="Rectangle 27"/>
          <p:cNvSpPr/>
          <p:nvPr/>
        </p:nvSpPr>
        <p:spPr>
          <a:xfrm>
            <a:off x="7025335" y="2011680"/>
            <a:ext cx="4389120"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025335" y="2011680"/>
            <a:ext cx="4389120" cy="457200"/>
          </a:xfrm>
          <a:prstGeom prst="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25335" y="2130552"/>
            <a:ext cx="4389120" cy="274320"/>
          </a:xfrm>
          <a:prstGeom prst="rect">
            <a:avLst/>
          </a:prstGeom>
          <a:noFill/>
        </p:spPr>
        <p:txBody>
          <a:bodyPr wrap="square" lIns="0" rIns="0" tIns="0" bIns="0" anchor="t">
            <a:spAutoFit/>
          </a:bodyPr>
          <a:lstStyle/>
          <a:p>
            <a:pPr algn="ctr"/>
            <a:r>
              <a:rPr sz="1150" b="1" i="0">
                <a:solidFill>
                  <a:srgbClr val="FFFFFF"/>
                </a:solidFill>
                <a:latin typeface="Aptos"/>
              </a:rPr>
              <a:t>PAPER B — cVAE for inverse design</a:t>
            </a:r>
          </a:p>
        </p:txBody>
      </p:sp>
      <p:sp>
        <p:nvSpPr>
          <p:cNvPr id="31" name="TextBox 30"/>
          <p:cNvSpPr txBox="1"/>
          <p:nvPr/>
        </p:nvSpPr>
        <p:spPr>
          <a:xfrm>
            <a:off x="7299655" y="2606040"/>
            <a:ext cx="3840480" cy="365760"/>
          </a:xfrm>
          <a:prstGeom prst="rect">
            <a:avLst/>
          </a:prstGeom>
          <a:noFill/>
        </p:spPr>
        <p:txBody>
          <a:bodyPr wrap="square" lIns="0" rIns="0" tIns="0" bIns="0" anchor="t">
            <a:spAutoFit/>
          </a:bodyPr>
          <a:lstStyle/>
          <a:p>
            <a:pPr algn="l"/>
            <a:r>
              <a:rPr sz="1400" b="1" i="0">
                <a:solidFill>
                  <a:srgbClr val="C47B20"/>
                </a:solidFill>
                <a:latin typeface="Aptos"/>
              </a:rPr>
              <a:t>Reported  MSE = 0.04</a:t>
            </a:r>
          </a:p>
        </p:txBody>
      </p:sp>
      <p:sp>
        <p:nvSpPr>
          <p:cNvPr id="32" name="TextBox 31"/>
          <p:cNvSpPr txBox="1"/>
          <p:nvPr/>
        </p:nvSpPr>
        <p:spPr>
          <a:xfrm>
            <a:off x="7299655" y="3108960"/>
            <a:ext cx="2103120" cy="237744"/>
          </a:xfrm>
          <a:prstGeom prst="rect">
            <a:avLst/>
          </a:prstGeom>
          <a:noFill/>
        </p:spPr>
        <p:txBody>
          <a:bodyPr wrap="square" lIns="0" rIns="0" tIns="0" bIns="0" anchor="t">
            <a:spAutoFit/>
          </a:bodyPr>
          <a:lstStyle/>
          <a:p>
            <a:pPr algn="l"/>
            <a:r>
              <a:rPr sz="1150" b="1" i="0">
                <a:solidFill>
                  <a:srgbClr val="17212B"/>
                </a:solidFill>
                <a:latin typeface="Aptos"/>
              </a:rPr>
              <a:t>Material budget</a:t>
            </a:r>
          </a:p>
        </p:txBody>
      </p:sp>
      <p:sp>
        <p:nvSpPr>
          <p:cNvPr id="33" name="TextBox 32"/>
          <p:cNvSpPr txBox="1"/>
          <p:nvPr/>
        </p:nvSpPr>
        <p:spPr>
          <a:xfrm>
            <a:off x="9448495" y="3108960"/>
            <a:ext cx="1691640" cy="237744"/>
          </a:xfrm>
          <a:prstGeom prst="rect">
            <a:avLst/>
          </a:prstGeom>
          <a:noFill/>
        </p:spPr>
        <p:txBody>
          <a:bodyPr wrap="square" lIns="0" rIns="0" tIns="0" bIns="0" anchor="t">
            <a:spAutoFit/>
          </a:bodyPr>
          <a:lstStyle/>
          <a:p>
            <a:pPr algn="l"/>
            <a:r>
              <a:rPr sz="1150" b="1" i="0">
                <a:solidFill>
                  <a:srgbClr val="C47B20"/>
                </a:solidFill>
                <a:latin typeface="Aptos"/>
              </a:rPr>
              <a:t>sampled 0.30 – 0.55</a:t>
            </a:r>
          </a:p>
        </p:txBody>
      </p:sp>
      <p:sp>
        <p:nvSpPr>
          <p:cNvPr id="34" name="TextBox 33"/>
          <p:cNvSpPr txBox="1"/>
          <p:nvPr/>
        </p:nvSpPr>
        <p:spPr>
          <a:xfrm>
            <a:off x="7299655" y="3346704"/>
            <a:ext cx="2103120" cy="201168"/>
          </a:xfrm>
          <a:prstGeom prst="rect">
            <a:avLst/>
          </a:prstGeom>
          <a:noFill/>
        </p:spPr>
        <p:txBody>
          <a:bodyPr wrap="square" lIns="0" rIns="0" tIns="0" bIns="0" anchor="t">
            <a:spAutoFit/>
          </a:bodyPr>
          <a:lstStyle/>
          <a:p>
            <a:pPr algn="l"/>
            <a:r>
              <a:rPr sz="900" b="0" i="1">
                <a:solidFill>
                  <a:srgbClr val="7A8493"/>
                </a:solidFill>
                <a:latin typeface="Aptos"/>
              </a:rPr>
              <a:t>problem setup — volume fraction</a:t>
            </a:r>
          </a:p>
        </p:txBody>
      </p:sp>
      <p:sp>
        <p:nvSpPr>
          <p:cNvPr id="35" name="TextBox 34"/>
          <p:cNvSpPr txBox="1"/>
          <p:nvPr/>
        </p:nvSpPr>
        <p:spPr>
          <a:xfrm>
            <a:off x="7299655" y="3611880"/>
            <a:ext cx="2103120" cy="237744"/>
          </a:xfrm>
          <a:prstGeom prst="rect">
            <a:avLst/>
          </a:prstGeom>
          <a:noFill/>
        </p:spPr>
        <p:txBody>
          <a:bodyPr wrap="square" lIns="0" rIns="0" tIns="0" bIns="0" anchor="t">
            <a:spAutoFit/>
          </a:bodyPr>
          <a:lstStyle/>
          <a:p>
            <a:pPr algn="l"/>
            <a:r>
              <a:rPr sz="1150" b="1" i="0">
                <a:solidFill>
                  <a:srgbClr val="17212B"/>
                </a:solidFill>
                <a:latin typeface="Aptos"/>
              </a:rPr>
              <a:t>Smoothing scale</a:t>
            </a:r>
          </a:p>
        </p:txBody>
      </p:sp>
      <p:sp>
        <p:nvSpPr>
          <p:cNvPr id="36" name="TextBox 35"/>
          <p:cNvSpPr txBox="1"/>
          <p:nvPr/>
        </p:nvSpPr>
        <p:spPr>
          <a:xfrm>
            <a:off x="9448495" y="3611880"/>
            <a:ext cx="1691640" cy="237744"/>
          </a:xfrm>
          <a:prstGeom prst="rect">
            <a:avLst/>
          </a:prstGeom>
          <a:noFill/>
        </p:spPr>
        <p:txBody>
          <a:bodyPr wrap="square" lIns="0" rIns="0" tIns="0" bIns="0" anchor="t">
            <a:spAutoFit/>
          </a:bodyPr>
          <a:lstStyle/>
          <a:p>
            <a:pPr algn="l"/>
            <a:r>
              <a:rPr sz="1150" b="1" i="0">
                <a:solidFill>
                  <a:srgbClr val="C47B20"/>
                </a:solidFill>
                <a:latin typeface="Aptos"/>
              </a:rPr>
              <a:t>2.5 px</a:t>
            </a:r>
          </a:p>
        </p:txBody>
      </p:sp>
      <p:sp>
        <p:nvSpPr>
          <p:cNvPr id="37" name="TextBox 36"/>
          <p:cNvSpPr txBox="1"/>
          <p:nvPr/>
        </p:nvSpPr>
        <p:spPr>
          <a:xfrm>
            <a:off x="7299655" y="3849624"/>
            <a:ext cx="2103120" cy="201168"/>
          </a:xfrm>
          <a:prstGeom prst="rect">
            <a:avLst/>
          </a:prstGeom>
          <a:noFill/>
        </p:spPr>
        <p:txBody>
          <a:bodyPr wrap="square" lIns="0" rIns="0" tIns="0" bIns="0" anchor="t">
            <a:spAutoFit/>
          </a:bodyPr>
          <a:lstStyle/>
          <a:p>
            <a:pPr algn="l"/>
            <a:r>
              <a:rPr sz="900" b="0" i="1">
                <a:solidFill>
                  <a:srgbClr val="7A8493"/>
                </a:solidFill>
                <a:latin typeface="Aptos"/>
              </a:rPr>
              <a:t>solver — filter radius</a:t>
            </a:r>
          </a:p>
        </p:txBody>
      </p:sp>
      <p:sp>
        <p:nvSpPr>
          <p:cNvPr id="38" name="TextBox 37"/>
          <p:cNvSpPr txBox="1"/>
          <p:nvPr/>
        </p:nvSpPr>
        <p:spPr>
          <a:xfrm>
            <a:off x="7299655" y="4114800"/>
            <a:ext cx="2103120" cy="237744"/>
          </a:xfrm>
          <a:prstGeom prst="rect">
            <a:avLst/>
          </a:prstGeom>
          <a:noFill/>
        </p:spPr>
        <p:txBody>
          <a:bodyPr wrap="square" lIns="0" rIns="0" tIns="0" bIns="0" anchor="t">
            <a:spAutoFit/>
          </a:bodyPr>
          <a:lstStyle/>
          <a:p>
            <a:pPr algn="l"/>
            <a:r>
              <a:rPr sz="1150" b="1" i="0">
                <a:solidFill>
                  <a:srgbClr val="17212B"/>
                </a:solidFill>
                <a:latin typeface="Aptos"/>
              </a:rPr>
              <a:t>Validity check</a:t>
            </a:r>
          </a:p>
        </p:txBody>
      </p:sp>
      <p:sp>
        <p:nvSpPr>
          <p:cNvPr id="39" name="TextBox 38"/>
          <p:cNvSpPr txBox="1"/>
          <p:nvPr/>
        </p:nvSpPr>
        <p:spPr>
          <a:xfrm>
            <a:off x="9448495" y="4114800"/>
            <a:ext cx="1691640" cy="237744"/>
          </a:xfrm>
          <a:prstGeom prst="rect">
            <a:avLst/>
          </a:prstGeom>
          <a:noFill/>
        </p:spPr>
        <p:txBody>
          <a:bodyPr wrap="square" lIns="0" rIns="0" tIns="0" bIns="0" anchor="t">
            <a:spAutoFit/>
          </a:bodyPr>
          <a:lstStyle/>
          <a:p>
            <a:pPr algn="l"/>
            <a:r>
              <a:rPr sz="1150" b="1" i="0">
                <a:solidFill>
                  <a:srgbClr val="C47B20"/>
                </a:solidFill>
                <a:latin typeface="Aptos"/>
              </a:rPr>
              <a:t>hard reject</a:t>
            </a:r>
          </a:p>
        </p:txBody>
      </p:sp>
      <p:sp>
        <p:nvSpPr>
          <p:cNvPr id="40" name="TextBox 39"/>
          <p:cNvSpPr txBox="1"/>
          <p:nvPr/>
        </p:nvSpPr>
        <p:spPr>
          <a:xfrm>
            <a:off x="7299655" y="4352544"/>
            <a:ext cx="2103120" cy="201168"/>
          </a:xfrm>
          <a:prstGeom prst="rect">
            <a:avLst/>
          </a:prstGeom>
          <a:noFill/>
        </p:spPr>
        <p:txBody>
          <a:bodyPr wrap="square" lIns="0" rIns="0" tIns="0" bIns="0" anchor="t">
            <a:spAutoFit/>
          </a:bodyPr>
          <a:lstStyle/>
          <a:p>
            <a:pPr algn="l"/>
            <a:r>
              <a:rPr sz="900" b="0" i="1">
                <a:solidFill>
                  <a:srgbClr val="7A8493"/>
                </a:solidFill>
                <a:latin typeface="Aptos"/>
              </a:rPr>
              <a:t>scoring rule — feasibility</a:t>
            </a:r>
          </a:p>
        </p:txBody>
      </p:sp>
      <p:sp>
        <p:nvSpPr>
          <p:cNvPr id="41" name="TextBox 40"/>
          <p:cNvSpPr txBox="1"/>
          <p:nvPr/>
        </p:nvSpPr>
        <p:spPr>
          <a:xfrm>
            <a:off x="7299655" y="4617720"/>
            <a:ext cx="2103120" cy="237744"/>
          </a:xfrm>
          <a:prstGeom prst="rect">
            <a:avLst/>
          </a:prstGeom>
          <a:noFill/>
        </p:spPr>
        <p:txBody>
          <a:bodyPr wrap="square" lIns="0" rIns="0" tIns="0" bIns="0" anchor="t">
            <a:spAutoFit/>
          </a:bodyPr>
          <a:lstStyle/>
          <a:p>
            <a:pPr algn="l"/>
            <a:r>
              <a:rPr sz="1150" b="1" i="0">
                <a:solidFill>
                  <a:srgbClr val="17212B"/>
                </a:solidFill>
                <a:latin typeface="Aptos"/>
              </a:rPr>
              <a:t>Convergence</a:t>
            </a:r>
          </a:p>
        </p:txBody>
      </p:sp>
      <p:sp>
        <p:nvSpPr>
          <p:cNvPr id="42" name="TextBox 41"/>
          <p:cNvSpPr txBox="1"/>
          <p:nvPr/>
        </p:nvSpPr>
        <p:spPr>
          <a:xfrm>
            <a:off x="9448495" y="4617720"/>
            <a:ext cx="1691640" cy="237744"/>
          </a:xfrm>
          <a:prstGeom prst="rect">
            <a:avLst/>
          </a:prstGeom>
          <a:noFill/>
        </p:spPr>
        <p:txBody>
          <a:bodyPr wrap="square" lIns="0" rIns="0" tIns="0" bIns="0" anchor="t">
            <a:spAutoFit/>
          </a:bodyPr>
          <a:lstStyle/>
          <a:p>
            <a:pPr algn="l"/>
            <a:r>
              <a:rPr sz="1150" b="1" i="0">
                <a:solidFill>
                  <a:srgbClr val="C47B20"/>
                </a:solidFill>
                <a:latin typeface="Aptos"/>
              </a:rPr>
              <a:t>1e-5 (tight)</a:t>
            </a:r>
          </a:p>
        </p:txBody>
      </p:sp>
      <p:sp>
        <p:nvSpPr>
          <p:cNvPr id="43" name="TextBox 42"/>
          <p:cNvSpPr txBox="1"/>
          <p:nvPr/>
        </p:nvSpPr>
        <p:spPr>
          <a:xfrm>
            <a:off x="7299655" y="4855464"/>
            <a:ext cx="2103120" cy="201168"/>
          </a:xfrm>
          <a:prstGeom prst="rect">
            <a:avLst/>
          </a:prstGeom>
          <a:noFill/>
        </p:spPr>
        <p:txBody>
          <a:bodyPr wrap="square" lIns="0" rIns="0" tIns="0" bIns="0" anchor="t">
            <a:spAutoFit/>
          </a:bodyPr>
          <a:lstStyle/>
          <a:p>
            <a:pPr algn="l"/>
            <a:r>
              <a:rPr sz="900" b="0" i="1">
                <a:solidFill>
                  <a:srgbClr val="7A8493"/>
                </a:solidFill>
                <a:latin typeface="Aptos"/>
              </a:rPr>
              <a:t>solver — stopping tolerance</a:t>
            </a:r>
          </a:p>
        </p:txBody>
      </p:sp>
      <p:sp>
        <p:nvSpPr>
          <p:cNvPr id="44" name="TextBox 43"/>
          <p:cNvSpPr txBox="1"/>
          <p:nvPr/>
        </p:nvSpPr>
        <p:spPr>
          <a:xfrm>
            <a:off x="7299655" y="5120640"/>
            <a:ext cx="2103120" cy="237744"/>
          </a:xfrm>
          <a:prstGeom prst="rect">
            <a:avLst/>
          </a:prstGeom>
          <a:noFill/>
        </p:spPr>
        <p:txBody>
          <a:bodyPr wrap="square" lIns="0" rIns="0" tIns="0" bIns="0" anchor="t">
            <a:spAutoFit/>
          </a:bodyPr>
          <a:lstStyle/>
          <a:p>
            <a:pPr algn="l"/>
            <a:r>
              <a:rPr sz="1150" b="1" i="0">
                <a:solidFill>
                  <a:srgbClr val="17212B"/>
                </a:solidFill>
                <a:latin typeface="Aptos"/>
              </a:rPr>
              <a:t>Test scenarios</a:t>
            </a:r>
          </a:p>
        </p:txBody>
      </p:sp>
      <p:sp>
        <p:nvSpPr>
          <p:cNvPr id="45" name="TextBox 44"/>
          <p:cNvSpPr txBox="1"/>
          <p:nvPr/>
        </p:nvSpPr>
        <p:spPr>
          <a:xfrm>
            <a:off x="9448495" y="5120640"/>
            <a:ext cx="1691640" cy="237744"/>
          </a:xfrm>
          <a:prstGeom prst="rect">
            <a:avLst/>
          </a:prstGeom>
          <a:noFill/>
        </p:spPr>
        <p:txBody>
          <a:bodyPr wrap="square" lIns="0" rIns="0" tIns="0" bIns="0" anchor="t">
            <a:spAutoFit/>
          </a:bodyPr>
          <a:lstStyle/>
          <a:p>
            <a:pPr algn="l"/>
            <a:r>
              <a:rPr sz="1150" b="1" i="0">
                <a:solidFill>
                  <a:srgbClr val="C47B20"/>
                </a:solidFill>
                <a:latin typeface="Aptos"/>
              </a:rPr>
              <a:t>OOD corners</a:t>
            </a:r>
          </a:p>
        </p:txBody>
      </p:sp>
      <p:sp>
        <p:nvSpPr>
          <p:cNvPr id="46" name="TextBox 45"/>
          <p:cNvSpPr txBox="1"/>
          <p:nvPr/>
        </p:nvSpPr>
        <p:spPr>
          <a:xfrm>
            <a:off x="7299655" y="5358384"/>
            <a:ext cx="2103120" cy="201168"/>
          </a:xfrm>
          <a:prstGeom prst="rect">
            <a:avLst/>
          </a:prstGeom>
          <a:noFill/>
        </p:spPr>
        <p:txBody>
          <a:bodyPr wrap="square" lIns="0" rIns="0" tIns="0" bIns="0" anchor="t">
            <a:spAutoFit/>
          </a:bodyPr>
          <a:lstStyle/>
          <a:p>
            <a:pPr algn="l"/>
            <a:r>
              <a:rPr sz="900" b="0" i="1">
                <a:solidFill>
                  <a:srgbClr val="7A8493"/>
                </a:solidFill>
                <a:latin typeface="Aptos"/>
              </a:rPr>
              <a:t>evaluation — condition split</a:t>
            </a:r>
          </a:p>
        </p:txBody>
      </p:sp>
      <p:sp>
        <p:nvSpPr>
          <p:cNvPr id="47" name="TextBox 46"/>
          <p:cNvSpPr txBox="1"/>
          <p:nvPr/>
        </p:nvSpPr>
        <p:spPr>
          <a:xfrm>
            <a:off x="5349240" y="3520440"/>
            <a:ext cx="1508760" cy="1280160"/>
          </a:xfrm>
          <a:prstGeom prst="rect">
            <a:avLst/>
          </a:prstGeom>
          <a:noFill/>
        </p:spPr>
        <p:txBody>
          <a:bodyPr wrap="square" lIns="0" rIns="0" tIns="0" bIns="0" anchor="ctr">
            <a:spAutoFit/>
          </a:bodyPr>
          <a:lstStyle/>
          <a:p>
            <a:pPr algn="ctr"/>
            <a:r>
              <a:rPr sz="9600" b="1" i="0">
                <a:solidFill>
                  <a:srgbClr val="C84837"/>
                </a:solidFill>
                <a:latin typeface="Aptos Display"/>
              </a:rPr>
              <a:t>≠</a:t>
            </a:r>
          </a:p>
        </p:txBody>
      </p:sp>
      <p:sp>
        <p:nvSpPr>
          <p:cNvPr id="48" name="Rectangle 47"/>
          <p:cNvSpPr/>
          <p:nvPr/>
        </p:nvSpPr>
        <p:spPr>
          <a:xfrm>
            <a:off x="594360" y="5852160"/>
            <a:ext cx="11018520" cy="4572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5943600"/>
            <a:ext cx="11018520" cy="292608"/>
          </a:xfrm>
          <a:prstGeom prst="rect">
            <a:avLst/>
          </a:prstGeom>
          <a:noFill/>
        </p:spPr>
        <p:txBody>
          <a:bodyPr wrap="square" lIns="0" rIns="0" tIns="0" bIns="0" anchor="t">
            <a:spAutoFit/>
          </a:bodyPr>
          <a:lstStyle/>
          <a:p>
            <a:pPr algn="ctr"/>
            <a:r>
              <a:rPr sz="1350" b="1" i="0">
                <a:solidFill>
                  <a:srgbClr val="FFFFFF"/>
                </a:solidFill>
                <a:latin typeface="Aptos"/>
              </a:rPr>
              <a:t>Different problem, same number.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Why we cannot tell</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THREE FAILURE MODES</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600" b="1" i="0">
                <a:solidFill>
                  <a:srgbClr val="17212B"/>
                </a:solidFill>
                <a:latin typeface="Aptos Display"/>
              </a:rPr>
              <a:t>Without a shared contract, three patterns recur.</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250" b="0" i="1">
                <a:solidFill>
                  <a:srgbClr val="5A6675"/>
                </a:solidFill>
                <a:latin typeface="Aptos"/>
              </a:rPr>
              <a:t>These are the three patterns reviewers most often see when AI-for-design results cannot be reproduced or compared.</a:t>
            </a:r>
          </a:p>
        </p:txBody>
      </p:sp>
      <p:sp>
        <p:nvSpPr>
          <p:cNvPr id="9" name="Rectangle 8"/>
          <p:cNvSpPr/>
          <p:nvPr/>
        </p:nvSpPr>
        <p:spPr>
          <a:xfrm>
            <a:off x="594360" y="2011680"/>
            <a:ext cx="3483864" cy="3931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011680"/>
            <a:ext cx="3483864" cy="91440"/>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86000"/>
            <a:ext cx="1280160" cy="1005840"/>
          </a:xfrm>
          <a:prstGeom prst="rect">
            <a:avLst/>
          </a:prstGeom>
          <a:noFill/>
        </p:spPr>
        <p:txBody>
          <a:bodyPr wrap="square" lIns="0" rIns="0" tIns="0" bIns="0" anchor="t">
            <a:spAutoFit/>
          </a:bodyPr>
          <a:lstStyle/>
          <a:p>
            <a:pPr algn="l">
              <a:lnSpc>
                <a:spcPct val="100000"/>
              </a:lnSpc>
            </a:pPr>
            <a:r>
              <a:rPr sz="5200" b="1" i="0">
                <a:solidFill>
                  <a:srgbClr val="C84837"/>
                </a:solidFill>
                <a:latin typeface="Aptos Display"/>
              </a:rPr>
              <a:t>01</a:t>
            </a:r>
          </a:p>
        </p:txBody>
      </p:sp>
      <p:sp>
        <p:nvSpPr>
          <p:cNvPr id="12" name="TextBox 11"/>
          <p:cNvSpPr txBox="1"/>
          <p:nvPr/>
        </p:nvSpPr>
        <p:spPr>
          <a:xfrm>
            <a:off x="868680" y="3291840"/>
            <a:ext cx="2935224" cy="274320"/>
          </a:xfrm>
          <a:prstGeom prst="rect">
            <a:avLst/>
          </a:prstGeom>
          <a:noFill/>
        </p:spPr>
        <p:txBody>
          <a:bodyPr wrap="square" lIns="0" rIns="0" tIns="0" bIns="0" anchor="t">
            <a:spAutoFit/>
          </a:bodyPr>
          <a:lstStyle/>
          <a:p>
            <a:pPr algn="l"/>
            <a:r>
              <a:rPr sz="1050" b="1" i="0">
                <a:solidFill>
                  <a:srgbClr val="C84837"/>
                </a:solidFill>
                <a:latin typeface="Aptos"/>
              </a:rPr>
              <a:t>CHERRY-PICKED CONDITIONS</a:t>
            </a:r>
          </a:p>
        </p:txBody>
      </p:sp>
      <p:sp>
        <p:nvSpPr>
          <p:cNvPr id="13" name="TextBox 12"/>
          <p:cNvSpPr txBox="1"/>
          <p:nvPr/>
        </p:nvSpPr>
        <p:spPr>
          <a:xfrm>
            <a:off x="868680" y="3611880"/>
            <a:ext cx="2935224" cy="1005840"/>
          </a:xfrm>
          <a:prstGeom prst="rect">
            <a:avLst/>
          </a:prstGeom>
          <a:noFill/>
        </p:spPr>
        <p:txBody>
          <a:bodyPr wrap="square" lIns="0" rIns="0" tIns="0" bIns="0" anchor="t">
            <a:spAutoFit/>
          </a:bodyPr>
          <a:lstStyle/>
          <a:p>
            <a:pPr algn="l">
              <a:lnSpc>
                <a:spcPct val="110000"/>
              </a:lnSpc>
            </a:pPr>
            <a:r>
              <a:rPr sz="2000" b="1" i="0">
                <a:solidFill>
                  <a:srgbClr val="17212B"/>
                </a:solidFill>
                <a:latin typeface="Aptos Display"/>
              </a:rPr>
              <a:t>Evaluated only where it's easy.</a:t>
            </a:r>
          </a:p>
        </p:txBody>
      </p:sp>
      <p:sp>
        <p:nvSpPr>
          <p:cNvPr id="14" name="TextBox 13"/>
          <p:cNvSpPr txBox="1"/>
          <p:nvPr/>
        </p:nvSpPr>
        <p:spPr>
          <a:xfrm>
            <a:off x="868680" y="4709160"/>
            <a:ext cx="2935224" cy="1097280"/>
          </a:xfrm>
          <a:prstGeom prst="rect">
            <a:avLst/>
          </a:prstGeom>
          <a:noFill/>
        </p:spPr>
        <p:txBody>
          <a:bodyPr wrap="square" lIns="0" rIns="0" tIns="0" bIns="0" anchor="t">
            <a:spAutoFit/>
          </a:bodyPr>
          <a:lstStyle/>
          <a:p>
            <a:pPr algn="l">
              <a:lnSpc>
                <a:spcPct val="120000"/>
              </a:lnSpc>
            </a:pPr>
            <a:r>
              <a:rPr sz="1150" b="0" i="0">
                <a:solidFill>
                  <a:srgbClr val="5A6675"/>
                </a:solidFill>
                <a:latin typeface="Aptos"/>
              </a:rPr>
              <a:t>Models tested only on conditions close to the training distribution. Numbers look strong on paper. Generalisation collapses on real scenarios.</a:t>
            </a:r>
          </a:p>
        </p:txBody>
      </p:sp>
      <p:sp>
        <p:nvSpPr>
          <p:cNvPr id="15" name="TextBox 14"/>
          <p:cNvSpPr txBox="1"/>
          <p:nvPr/>
        </p:nvSpPr>
        <p:spPr>
          <a:xfrm>
            <a:off x="868680" y="5614416"/>
            <a:ext cx="2935224" cy="274320"/>
          </a:xfrm>
          <a:prstGeom prst="rect">
            <a:avLst/>
          </a:prstGeom>
          <a:noFill/>
        </p:spPr>
        <p:txBody>
          <a:bodyPr wrap="square" lIns="0" rIns="0" tIns="0" bIns="0" anchor="t">
            <a:spAutoFit/>
          </a:bodyPr>
          <a:lstStyle/>
          <a:p>
            <a:pPr algn="l"/>
            <a:r>
              <a:rPr sz="850" b="0" i="1">
                <a:solidFill>
                  <a:srgbClr val="C8CED6"/>
                </a:solidFill>
                <a:latin typeface="Aptos"/>
              </a:rPr>
              <a:t>[OPTIONAL: scatter / t-SNE of train vs test conditions]</a:t>
            </a:r>
          </a:p>
        </p:txBody>
      </p:sp>
      <p:sp>
        <p:nvSpPr>
          <p:cNvPr id="16" name="Rectangle 15"/>
          <p:cNvSpPr/>
          <p:nvPr/>
        </p:nvSpPr>
        <p:spPr>
          <a:xfrm>
            <a:off x="4352544" y="2011680"/>
            <a:ext cx="3483864" cy="3931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52544" y="2011680"/>
            <a:ext cx="3483864" cy="91440"/>
          </a:xfrm>
          <a:prstGeom prst="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6864" y="2286000"/>
            <a:ext cx="1280160" cy="1005840"/>
          </a:xfrm>
          <a:prstGeom prst="rect">
            <a:avLst/>
          </a:prstGeom>
          <a:noFill/>
        </p:spPr>
        <p:txBody>
          <a:bodyPr wrap="square" lIns="0" rIns="0" tIns="0" bIns="0" anchor="t">
            <a:spAutoFit/>
          </a:bodyPr>
          <a:lstStyle/>
          <a:p>
            <a:pPr algn="l">
              <a:lnSpc>
                <a:spcPct val="100000"/>
              </a:lnSpc>
            </a:pPr>
            <a:r>
              <a:rPr sz="5200" b="1" i="0">
                <a:solidFill>
                  <a:srgbClr val="C47B20"/>
                </a:solidFill>
                <a:latin typeface="Aptos Display"/>
              </a:rPr>
              <a:t>02</a:t>
            </a:r>
          </a:p>
        </p:txBody>
      </p:sp>
      <p:sp>
        <p:nvSpPr>
          <p:cNvPr id="19" name="TextBox 18"/>
          <p:cNvSpPr txBox="1"/>
          <p:nvPr/>
        </p:nvSpPr>
        <p:spPr>
          <a:xfrm>
            <a:off x="4626864" y="3291840"/>
            <a:ext cx="2935224" cy="274320"/>
          </a:xfrm>
          <a:prstGeom prst="rect">
            <a:avLst/>
          </a:prstGeom>
          <a:noFill/>
        </p:spPr>
        <p:txBody>
          <a:bodyPr wrap="square" lIns="0" rIns="0" tIns="0" bIns="0" anchor="t">
            <a:spAutoFit/>
          </a:bodyPr>
          <a:lstStyle/>
          <a:p>
            <a:pPr algn="l"/>
            <a:r>
              <a:rPr sz="1050" b="1" i="0">
                <a:solidFill>
                  <a:srgbClr val="C47B20"/>
                </a:solidFill>
                <a:latin typeface="Aptos"/>
              </a:rPr>
              <a:t>VISUAL-ONLY EVALUATION</a:t>
            </a:r>
          </a:p>
        </p:txBody>
      </p:sp>
      <p:sp>
        <p:nvSpPr>
          <p:cNvPr id="20" name="TextBox 19"/>
          <p:cNvSpPr txBox="1"/>
          <p:nvPr/>
        </p:nvSpPr>
        <p:spPr>
          <a:xfrm>
            <a:off x="4626864" y="3611880"/>
            <a:ext cx="2935224" cy="1005840"/>
          </a:xfrm>
          <a:prstGeom prst="rect">
            <a:avLst/>
          </a:prstGeom>
          <a:noFill/>
        </p:spPr>
        <p:txBody>
          <a:bodyPr wrap="square" lIns="0" rIns="0" tIns="0" bIns="0" anchor="t">
            <a:spAutoFit/>
          </a:bodyPr>
          <a:lstStyle/>
          <a:p>
            <a:pPr algn="l">
              <a:lnSpc>
                <a:spcPct val="110000"/>
              </a:lnSpc>
            </a:pPr>
            <a:r>
              <a:rPr sz="2000" b="1" i="0">
                <a:solidFill>
                  <a:srgbClr val="17212B"/>
                </a:solidFill>
                <a:latin typeface="Aptos Display"/>
              </a:rPr>
              <a:t>Looks good. Doesn't work.</a:t>
            </a:r>
          </a:p>
        </p:txBody>
      </p:sp>
      <p:sp>
        <p:nvSpPr>
          <p:cNvPr id="21" name="TextBox 20"/>
          <p:cNvSpPr txBox="1"/>
          <p:nvPr/>
        </p:nvSpPr>
        <p:spPr>
          <a:xfrm>
            <a:off x="4626864" y="4709160"/>
            <a:ext cx="2935224" cy="1097280"/>
          </a:xfrm>
          <a:prstGeom prst="rect">
            <a:avLst/>
          </a:prstGeom>
          <a:noFill/>
        </p:spPr>
        <p:txBody>
          <a:bodyPr wrap="square" lIns="0" rIns="0" tIns="0" bIns="0" anchor="t">
            <a:spAutoFit/>
          </a:bodyPr>
          <a:lstStyle/>
          <a:p>
            <a:pPr algn="l">
              <a:lnSpc>
                <a:spcPct val="120000"/>
              </a:lnSpc>
            </a:pPr>
            <a:r>
              <a:rPr sz="1150" b="0" i="0">
                <a:solidFill>
                  <a:srgbClr val="5A6675"/>
                </a:solidFill>
                <a:latin typeface="Aptos"/>
              </a:rPr>
              <a:t>Generated designs look convincing in a paper figure. Run them through the simulator and many violate constraints or under-perform a baseline.</a:t>
            </a:r>
          </a:p>
        </p:txBody>
      </p:sp>
      <p:sp>
        <p:nvSpPr>
          <p:cNvPr id="22" name="TextBox 21"/>
          <p:cNvSpPr txBox="1"/>
          <p:nvPr/>
        </p:nvSpPr>
        <p:spPr>
          <a:xfrm>
            <a:off x="4626864" y="5614416"/>
            <a:ext cx="2935224" cy="274320"/>
          </a:xfrm>
          <a:prstGeom prst="rect">
            <a:avLst/>
          </a:prstGeom>
          <a:noFill/>
        </p:spPr>
        <p:txBody>
          <a:bodyPr wrap="square" lIns="0" rIns="0" tIns="0" bIns="0" anchor="t">
            <a:spAutoFit/>
          </a:bodyPr>
          <a:lstStyle/>
          <a:p>
            <a:pPr algn="l"/>
            <a:r>
              <a:rPr sz="850" b="0" i="1">
                <a:solidFill>
                  <a:srgbClr val="C8CED6"/>
                </a:solidFill>
                <a:latin typeface="Aptos"/>
              </a:rPr>
              <a:t>[OPTIONAL: design grid + a simulator-failure overlay]</a:t>
            </a:r>
          </a:p>
        </p:txBody>
      </p:sp>
      <p:sp>
        <p:nvSpPr>
          <p:cNvPr id="23" name="Rectangle 22"/>
          <p:cNvSpPr/>
          <p:nvPr/>
        </p:nvSpPr>
        <p:spPr>
          <a:xfrm>
            <a:off x="8110728" y="2011680"/>
            <a:ext cx="3483864" cy="3931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10728" y="2011680"/>
            <a:ext cx="3483864" cy="9144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5048" y="2286000"/>
            <a:ext cx="1280160" cy="1005840"/>
          </a:xfrm>
          <a:prstGeom prst="rect">
            <a:avLst/>
          </a:prstGeom>
          <a:noFill/>
        </p:spPr>
        <p:txBody>
          <a:bodyPr wrap="square" lIns="0" rIns="0" tIns="0" bIns="0" anchor="t">
            <a:spAutoFit/>
          </a:bodyPr>
          <a:lstStyle/>
          <a:p>
            <a:pPr algn="l">
              <a:lnSpc>
                <a:spcPct val="100000"/>
              </a:lnSpc>
            </a:pPr>
            <a:r>
              <a:rPr sz="5200" b="1" i="0">
                <a:solidFill>
                  <a:srgbClr val="225E9B"/>
                </a:solidFill>
                <a:latin typeface="Aptos Display"/>
              </a:rPr>
              <a:t>03</a:t>
            </a:r>
          </a:p>
        </p:txBody>
      </p:sp>
      <p:sp>
        <p:nvSpPr>
          <p:cNvPr id="26" name="TextBox 25"/>
          <p:cNvSpPr txBox="1"/>
          <p:nvPr/>
        </p:nvSpPr>
        <p:spPr>
          <a:xfrm>
            <a:off x="8385048" y="3291840"/>
            <a:ext cx="2935224" cy="274320"/>
          </a:xfrm>
          <a:prstGeom prst="rect">
            <a:avLst/>
          </a:prstGeom>
          <a:noFill/>
        </p:spPr>
        <p:txBody>
          <a:bodyPr wrap="square" lIns="0" rIns="0" tIns="0" bIns="0" anchor="t">
            <a:spAutoFit/>
          </a:bodyPr>
          <a:lstStyle/>
          <a:p>
            <a:pPr algn="l"/>
            <a:r>
              <a:rPr sz="1050" b="1" i="0">
                <a:solidFill>
                  <a:srgbClr val="225E9B"/>
                </a:solidFill>
                <a:latin typeface="Aptos"/>
              </a:rPr>
              <a:t>ONE-NUMBER SCORES</a:t>
            </a:r>
          </a:p>
        </p:txBody>
      </p:sp>
      <p:sp>
        <p:nvSpPr>
          <p:cNvPr id="27" name="TextBox 26"/>
          <p:cNvSpPr txBox="1"/>
          <p:nvPr/>
        </p:nvSpPr>
        <p:spPr>
          <a:xfrm>
            <a:off x="8385048" y="3611880"/>
            <a:ext cx="2935224" cy="1005840"/>
          </a:xfrm>
          <a:prstGeom prst="rect">
            <a:avLst/>
          </a:prstGeom>
          <a:noFill/>
        </p:spPr>
        <p:txBody>
          <a:bodyPr wrap="square" lIns="0" rIns="0" tIns="0" bIns="0" anchor="t">
            <a:spAutoFit/>
          </a:bodyPr>
          <a:lstStyle/>
          <a:p>
            <a:pPr algn="l">
              <a:lnSpc>
                <a:spcPct val="110000"/>
              </a:lnSpc>
            </a:pPr>
            <a:r>
              <a:rPr sz="2000" b="1" i="0">
                <a:solidFill>
                  <a:srgbClr val="17212B"/>
                </a:solidFill>
                <a:latin typeface="Aptos Display"/>
              </a:rPr>
              <a:t>A single scalar hides everything else.</a:t>
            </a:r>
          </a:p>
        </p:txBody>
      </p:sp>
      <p:sp>
        <p:nvSpPr>
          <p:cNvPr id="28" name="TextBox 27"/>
          <p:cNvSpPr txBox="1"/>
          <p:nvPr/>
        </p:nvSpPr>
        <p:spPr>
          <a:xfrm>
            <a:off x="8385048" y="4709160"/>
            <a:ext cx="2935224" cy="1097280"/>
          </a:xfrm>
          <a:prstGeom prst="rect">
            <a:avLst/>
          </a:prstGeom>
          <a:noFill/>
        </p:spPr>
        <p:txBody>
          <a:bodyPr wrap="square" lIns="0" rIns="0" tIns="0" bIns="0" anchor="t">
            <a:spAutoFit/>
          </a:bodyPr>
          <a:lstStyle/>
          <a:p>
            <a:pPr algn="l">
              <a:lnSpc>
                <a:spcPct val="120000"/>
              </a:lnSpc>
            </a:pPr>
            <a:r>
              <a:rPr sz="1150" b="0" i="0">
                <a:solidFill>
                  <a:srgbClr val="5A6675"/>
                </a:solidFill>
                <a:latin typeface="Aptos"/>
              </a:rPr>
              <a:t>Accuracy or MSE is reported alone. Feasibility, diversity, novelty, and warm-start value are not. Different choices among those flip the winner.</a:t>
            </a:r>
          </a:p>
        </p:txBody>
      </p:sp>
      <p:sp>
        <p:nvSpPr>
          <p:cNvPr id="29" name="TextBox 28"/>
          <p:cNvSpPr txBox="1"/>
          <p:nvPr/>
        </p:nvSpPr>
        <p:spPr>
          <a:xfrm>
            <a:off x="8385048" y="5614416"/>
            <a:ext cx="2935224" cy="274320"/>
          </a:xfrm>
          <a:prstGeom prst="rect">
            <a:avLst/>
          </a:prstGeom>
          <a:noFill/>
        </p:spPr>
        <p:txBody>
          <a:bodyPr wrap="square" lIns="0" rIns="0" tIns="0" bIns="0" anchor="t">
            <a:spAutoFit/>
          </a:bodyPr>
          <a:lstStyle/>
          <a:p>
            <a:pPr algn="l"/>
            <a:r>
              <a:rPr sz="850" b="0" i="1">
                <a:solidFill>
                  <a:srgbClr val="C8CED6"/>
                </a:solidFill>
                <a:latin typeface="Aptos"/>
              </a:rPr>
              <a:t>[OPTIONAL: spider chart showing a model winning on objective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331720"/>
            <a:ext cx="731520" cy="54864"/>
          </a:xfrm>
          <a:prstGeom prst="rect">
            <a:avLst/>
          </a:prstGeom>
          <a:solidFill>
            <a:srgbClr val="CF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514600"/>
            <a:ext cx="10515600" cy="329184"/>
          </a:xfrm>
          <a:prstGeom prst="rect">
            <a:avLst/>
          </a:prstGeom>
          <a:noFill/>
        </p:spPr>
        <p:txBody>
          <a:bodyPr wrap="square" lIns="0" rIns="0" tIns="0" bIns="0" anchor="t">
            <a:spAutoFit/>
          </a:bodyPr>
          <a:lstStyle/>
          <a:p>
            <a:pPr algn="l"/>
            <a:r>
              <a:rPr sz="1200" b="1" i="0">
                <a:solidFill>
                  <a:srgbClr val="CFE3F3"/>
                </a:solidFill>
                <a:latin typeface="Aptos"/>
              </a:rPr>
              <a:t>SECTION 2  —  LESSONS FROM OTHER FIELDS</a:t>
            </a:r>
          </a:p>
        </p:txBody>
      </p:sp>
      <p:sp>
        <p:nvSpPr>
          <p:cNvPr id="5" name="TextBox 4"/>
          <p:cNvSpPr txBox="1"/>
          <p:nvPr/>
        </p:nvSpPr>
        <p:spPr>
          <a:xfrm>
            <a:off x="777240" y="2926080"/>
            <a:ext cx="10515600" cy="1737360"/>
          </a:xfrm>
          <a:prstGeom prst="rect">
            <a:avLst/>
          </a:prstGeom>
          <a:noFill/>
        </p:spPr>
        <p:txBody>
          <a:bodyPr wrap="square" lIns="0" rIns="0" tIns="0" bIns="0" anchor="t">
            <a:spAutoFit/>
          </a:bodyPr>
          <a:lstStyle/>
          <a:p>
            <a:pPr algn="l">
              <a:lnSpc>
                <a:spcPct val="100000"/>
              </a:lnSpc>
            </a:pPr>
            <a:r>
              <a:rPr sz="4600" b="1" i="0">
                <a:solidFill>
                  <a:srgbClr val="FFFFFF"/>
                </a:solidFill>
                <a:latin typeface="Aptos Display"/>
              </a:rPr>
              <a:t>What benchmarks have done
elsewhere.</a:t>
            </a:r>
          </a:p>
        </p:txBody>
      </p:sp>
      <p:sp>
        <p:nvSpPr>
          <p:cNvPr id="6" name="TextBox 5"/>
          <p:cNvSpPr txBox="1"/>
          <p:nvPr/>
        </p:nvSpPr>
        <p:spPr>
          <a:xfrm>
            <a:off x="777240" y="4937760"/>
            <a:ext cx="10515600" cy="502920"/>
          </a:xfrm>
          <a:prstGeom prst="rect">
            <a:avLst/>
          </a:prstGeom>
          <a:noFill/>
        </p:spPr>
        <p:txBody>
          <a:bodyPr wrap="square" lIns="0" rIns="0" tIns="0" bIns="0" anchor="t">
            <a:spAutoFit/>
          </a:bodyPr>
          <a:lstStyle/>
          <a:p>
            <a:pPr algn="l"/>
            <a:r>
              <a:rPr sz="1600" b="0" i="0">
                <a:solidFill>
                  <a:srgbClr val="EAF3FA"/>
                </a:solidFill>
                <a:latin typeface="Aptos"/>
              </a:rPr>
              <a:t>Vision, language, and biology have all been here. Three case studies, one recipe.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Lessons from other fields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LESSON 1  —  IMAGENET</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400" b="1" i="0">
                <a:solidFill>
                  <a:srgbClr val="17212B"/>
                </a:solidFill>
                <a:latin typeface="Aptos Display"/>
              </a:rPr>
              <a:t>One frozen evaluation made breakthroughs unambiguous.</a:t>
            </a:r>
          </a:p>
        </p:txBody>
      </p:sp>
      <p:sp>
        <p:nvSpPr>
          <p:cNvPr id="8" name="Rectangle 7"/>
          <p:cNvSpPr/>
          <p:nvPr/>
        </p:nvSpPr>
        <p:spPr>
          <a:xfrm>
            <a:off x="594360" y="1554480"/>
            <a:ext cx="11018520" cy="77724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00700" y="134874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5783580" y="157734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313932" y="145846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64792"/>
            <a:ext cx="10744200" cy="256032"/>
          </a:xfrm>
          <a:prstGeom prst="rect">
            <a:avLst/>
          </a:prstGeom>
          <a:noFill/>
        </p:spPr>
        <p:txBody>
          <a:bodyPr wrap="square" lIns="0" rIns="0" tIns="0" bIns="0" anchor="t">
            <a:spAutoFit/>
          </a:bodyPr>
          <a:lstStyle/>
          <a:p>
            <a:pPr algn="ctr"/>
            <a:r>
              <a:rPr sz="1000" b="1" i="1">
                <a:solidFill>
                  <a:srgbClr val="225E9B"/>
                </a:solidFill>
                <a:latin typeface="Aptos"/>
              </a:rPr>
              <a:t>[STRIP: 10 representative ImageNet sample images]</a:t>
            </a:r>
          </a:p>
        </p:txBody>
      </p:sp>
      <p:sp>
        <p:nvSpPr>
          <p:cNvPr id="13" name="TextBox 12"/>
          <p:cNvSpPr txBox="1"/>
          <p:nvPr/>
        </p:nvSpPr>
        <p:spPr>
          <a:xfrm>
            <a:off x="731520" y="2039112"/>
            <a:ext cx="10744200" cy="237744"/>
          </a:xfrm>
          <a:prstGeom prst="rect">
            <a:avLst/>
          </a:prstGeom>
          <a:noFill/>
        </p:spPr>
        <p:txBody>
          <a:bodyPr wrap="square" lIns="0" rIns="0" tIns="0" bIns="0" anchor="t">
            <a:spAutoFit/>
          </a:bodyPr>
          <a:lstStyle/>
          <a:p>
            <a:pPr algn="ctr"/>
            <a:r>
              <a:rPr sz="850" b="0" i="1">
                <a:solidFill>
                  <a:srgbClr val="7A8493"/>
                </a:solidFill>
                <a:latin typeface="Aptos"/>
              </a:rPr>
              <a:t>Source: image-net.org/about (CC-BY); fall back to Wikipedia ImageNet example tiles.</a:t>
            </a:r>
          </a:p>
        </p:txBody>
      </p:sp>
      <p:sp>
        <p:nvSpPr>
          <p:cNvPr id="14" name="Rectangle 13"/>
          <p:cNvSpPr/>
          <p:nvPr/>
        </p:nvSpPr>
        <p:spPr>
          <a:xfrm>
            <a:off x="594360" y="2514600"/>
            <a:ext cx="1101852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679192"/>
            <a:ext cx="9144000" cy="274320"/>
          </a:xfrm>
          <a:prstGeom prst="rect">
            <a:avLst/>
          </a:prstGeom>
          <a:noFill/>
        </p:spPr>
        <p:txBody>
          <a:bodyPr wrap="square" lIns="0" rIns="0" tIns="0" bIns="0" anchor="t">
            <a:spAutoFit/>
          </a:bodyPr>
          <a:lstStyle/>
          <a:p>
            <a:pPr algn="l"/>
            <a:r>
              <a:rPr sz="1250" b="1" i="0">
                <a:solidFill>
                  <a:srgbClr val="17212B"/>
                </a:solidFill>
                <a:latin typeface="Aptos"/>
              </a:rPr>
              <a:t>ImageNet top-5 classification error</a:t>
            </a:r>
          </a:p>
        </p:txBody>
      </p:sp>
      <p:sp>
        <p:nvSpPr>
          <p:cNvPr id="16" name="TextBox 15"/>
          <p:cNvSpPr txBox="1"/>
          <p:nvPr/>
        </p:nvSpPr>
        <p:spPr>
          <a:xfrm>
            <a:off x="868680" y="2935224"/>
            <a:ext cx="9144000" cy="237744"/>
          </a:xfrm>
          <a:prstGeom prst="rect">
            <a:avLst/>
          </a:prstGeom>
          <a:noFill/>
        </p:spPr>
        <p:txBody>
          <a:bodyPr wrap="square" lIns="0" rIns="0" tIns="0" bIns="0" anchor="t">
            <a:spAutoFit/>
          </a:bodyPr>
          <a:lstStyle/>
          <a:p>
            <a:pPr algn="l"/>
            <a:r>
              <a:rPr sz="1050" b="0" i="1">
                <a:solidFill>
                  <a:srgbClr val="5A6675"/>
                </a:solidFill>
                <a:latin typeface="Aptos"/>
              </a:rPr>
              <a:t>A shared task plus a shared evaluation made a decade of progress legible.</a:t>
            </a:r>
          </a:p>
        </p:txBody>
      </p:sp>
      <p:sp>
        <p:nvSpPr>
          <p:cNvPr id="17" name="Rectangle 16"/>
          <p:cNvSpPr/>
          <p:nvPr/>
        </p:nvSpPr>
        <p:spPr>
          <a:xfrm>
            <a:off x="1335738" y="3653210"/>
            <a:ext cx="694658" cy="1650309"/>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415466"/>
            <a:ext cx="1263015" cy="219456"/>
          </a:xfrm>
          <a:prstGeom prst="rect">
            <a:avLst/>
          </a:prstGeom>
          <a:noFill/>
        </p:spPr>
        <p:txBody>
          <a:bodyPr wrap="square" lIns="0" rIns="0" tIns="0" bIns="0" anchor="t">
            <a:spAutoFit/>
          </a:bodyPr>
          <a:lstStyle/>
          <a:p>
            <a:pPr algn="ctr"/>
            <a:r>
              <a:rPr sz="950" b="1" i="0">
                <a:solidFill>
                  <a:srgbClr val="17212B"/>
                </a:solidFill>
                <a:latin typeface="Aptos"/>
              </a:rPr>
              <a:t>28.2</a:t>
            </a:r>
          </a:p>
        </p:txBody>
      </p:sp>
      <p:sp>
        <p:nvSpPr>
          <p:cNvPr id="19" name="TextBox 18"/>
          <p:cNvSpPr txBox="1"/>
          <p:nvPr/>
        </p:nvSpPr>
        <p:spPr>
          <a:xfrm>
            <a:off x="1051560" y="5340096"/>
            <a:ext cx="1263015" cy="274320"/>
          </a:xfrm>
          <a:prstGeom prst="rect">
            <a:avLst/>
          </a:prstGeom>
          <a:noFill/>
        </p:spPr>
        <p:txBody>
          <a:bodyPr wrap="square" lIns="0" rIns="0" tIns="0" bIns="0" anchor="t">
            <a:spAutoFit/>
          </a:bodyPr>
          <a:lstStyle/>
          <a:p>
            <a:pPr algn="ctr"/>
            <a:r>
              <a:rPr sz="950" b="0" i="0">
                <a:solidFill>
                  <a:srgbClr val="5A6675"/>
                </a:solidFill>
                <a:latin typeface="Aptos"/>
              </a:rPr>
              <a:t>2010</a:t>
            </a:r>
          </a:p>
        </p:txBody>
      </p:sp>
      <p:sp>
        <p:nvSpPr>
          <p:cNvPr id="20" name="Rectangle 19"/>
          <p:cNvSpPr/>
          <p:nvPr/>
        </p:nvSpPr>
        <p:spPr>
          <a:xfrm>
            <a:off x="2598753" y="3793662"/>
            <a:ext cx="694658" cy="1509857"/>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14575" y="3555918"/>
            <a:ext cx="1263015" cy="219456"/>
          </a:xfrm>
          <a:prstGeom prst="rect">
            <a:avLst/>
          </a:prstGeom>
          <a:noFill/>
        </p:spPr>
        <p:txBody>
          <a:bodyPr wrap="square" lIns="0" rIns="0" tIns="0" bIns="0" anchor="t">
            <a:spAutoFit/>
          </a:bodyPr>
          <a:lstStyle/>
          <a:p>
            <a:pPr algn="ctr"/>
            <a:r>
              <a:rPr sz="950" b="1" i="0">
                <a:solidFill>
                  <a:srgbClr val="17212B"/>
                </a:solidFill>
                <a:latin typeface="Aptos"/>
              </a:rPr>
              <a:t>25.8</a:t>
            </a:r>
          </a:p>
        </p:txBody>
      </p:sp>
      <p:sp>
        <p:nvSpPr>
          <p:cNvPr id="22" name="TextBox 21"/>
          <p:cNvSpPr txBox="1"/>
          <p:nvPr/>
        </p:nvSpPr>
        <p:spPr>
          <a:xfrm>
            <a:off x="2314575" y="5340096"/>
            <a:ext cx="1263015" cy="274320"/>
          </a:xfrm>
          <a:prstGeom prst="rect">
            <a:avLst/>
          </a:prstGeom>
          <a:noFill/>
        </p:spPr>
        <p:txBody>
          <a:bodyPr wrap="square" lIns="0" rIns="0" tIns="0" bIns="0" anchor="t">
            <a:spAutoFit/>
          </a:bodyPr>
          <a:lstStyle/>
          <a:p>
            <a:pPr algn="ctr"/>
            <a:r>
              <a:rPr sz="950" b="0" i="0">
                <a:solidFill>
                  <a:srgbClr val="5A6675"/>
                </a:solidFill>
                <a:latin typeface="Aptos"/>
              </a:rPr>
              <a:t>2011</a:t>
            </a:r>
          </a:p>
        </p:txBody>
      </p:sp>
      <p:sp>
        <p:nvSpPr>
          <p:cNvPr id="23" name="Rectangle 22"/>
          <p:cNvSpPr/>
          <p:nvPr/>
        </p:nvSpPr>
        <p:spPr>
          <a:xfrm>
            <a:off x="3861768" y="4343765"/>
            <a:ext cx="694658" cy="959754"/>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77590" y="4106021"/>
            <a:ext cx="1263015" cy="219456"/>
          </a:xfrm>
          <a:prstGeom prst="rect">
            <a:avLst/>
          </a:prstGeom>
          <a:noFill/>
        </p:spPr>
        <p:txBody>
          <a:bodyPr wrap="square" lIns="0" rIns="0" tIns="0" bIns="0" anchor="t">
            <a:spAutoFit/>
          </a:bodyPr>
          <a:lstStyle/>
          <a:p>
            <a:pPr algn="ctr"/>
            <a:r>
              <a:rPr sz="950" b="1" i="0">
                <a:solidFill>
                  <a:srgbClr val="17212B"/>
                </a:solidFill>
                <a:latin typeface="Aptos"/>
              </a:rPr>
              <a:t>16.4</a:t>
            </a:r>
          </a:p>
        </p:txBody>
      </p:sp>
      <p:sp>
        <p:nvSpPr>
          <p:cNvPr id="25" name="TextBox 24"/>
          <p:cNvSpPr txBox="1"/>
          <p:nvPr/>
        </p:nvSpPr>
        <p:spPr>
          <a:xfrm>
            <a:off x="3577590" y="5340096"/>
            <a:ext cx="1263015" cy="274320"/>
          </a:xfrm>
          <a:prstGeom prst="rect">
            <a:avLst/>
          </a:prstGeom>
          <a:noFill/>
        </p:spPr>
        <p:txBody>
          <a:bodyPr wrap="square" lIns="0" rIns="0" tIns="0" bIns="0" anchor="t">
            <a:spAutoFit/>
          </a:bodyPr>
          <a:lstStyle/>
          <a:p>
            <a:pPr algn="ctr"/>
            <a:r>
              <a:rPr sz="950" b="0" i="0">
                <a:solidFill>
                  <a:srgbClr val="5A6675"/>
                </a:solidFill>
                <a:latin typeface="Aptos"/>
              </a:rPr>
              <a:t>2012</a:t>
            </a:r>
          </a:p>
        </p:txBody>
      </p:sp>
      <p:sp>
        <p:nvSpPr>
          <p:cNvPr id="26" name="Rectangle 25"/>
          <p:cNvSpPr/>
          <p:nvPr/>
        </p:nvSpPr>
        <p:spPr>
          <a:xfrm>
            <a:off x="5124783" y="4618817"/>
            <a:ext cx="694658" cy="684702"/>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0605" y="4381073"/>
            <a:ext cx="1263015" cy="219456"/>
          </a:xfrm>
          <a:prstGeom prst="rect">
            <a:avLst/>
          </a:prstGeom>
          <a:noFill/>
        </p:spPr>
        <p:txBody>
          <a:bodyPr wrap="square" lIns="0" rIns="0" tIns="0" bIns="0" anchor="t">
            <a:spAutoFit/>
          </a:bodyPr>
          <a:lstStyle/>
          <a:p>
            <a:pPr algn="ctr"/>
            <a:r>
              <a:rPr sz="950" b="1" i="0">
                <a:solidFill>
                  <a:srgbClr val="17212B"/>
                </a:solidFill>
                <a:latin typeface="Aptos"/>
              </a:rPr>
              <a:t>11.7</a:t>
            </a:r>
          </a:p>
        </p:txBody>
      </p:sp>
      <p:sp>
        <p:nvSpPr>
          <p:cNvPr id="28" name="TextBox 27"/>
          <p:cNvSpPr txBox="1"/>
          <p:nvPr/>
        </p:nvSpPr>
        <p:spPr>
          <a:xfrm>
            <a:off x="4840605" y="5340096"/>
            <a:ext cx="1263015" cy="274320"/>
          </a:xfrm>
          <a:prstGeom prst="rect">
            <a:avLst/>
          </a:prstGeom>
          <a:noFill/>
        </p:spPr>
        <p:txBody>
          <a:bodyPr wrap="square" lIns="0" rIns="0" tIns="0" bIns="0" anchor="t">
            <a:spAutoFit/>
          </a:bodyPr>
          <a:lstStyle/>
          <a:p>
            <a:pPr algn="ctr"/>
            <a:r>
              <a:rPr sz="950" b="0" i="0">
                <a:solidFill>
                  <a:srgbClr val="5A6675"/>
                </a:solidFill>
                <a:latin typeface="Aptos"/>
              </a:rPr>
              <a:t>2013</a:t>
            </a:r>
          </a:p>
        </p:txBody>
      </p:sp>
      <p:sp>
        <p:nvSpPr>
          <p:cNvPr id="29" name="Rectangle 28"/>
          <p:cNvSpPr/>
          <p:nvPr/>
        </p:nvSpPr>
        <p:spPr>
          <a:xfrm>
            <a:off x="6387798" y="4911425"/>
            <a:ext cx="694658" cy="392094"/>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03620" y="4673681"/>
            <a:ext cx="1263015" cy="219456"/>
          </a:xfrm>
          <a:prstGeom prst="rect">
            <a:avLst/>
          </a:prstGeom>
          <a:noFill/>
        </p:spPr>
        <p:txBody>
          <a:bodyPr wrap="square" lIns="0" rIns="0" tIns="0" bIns="0" anchor="t">
            <a:spAutoFit/>
          </a:bodyPr>
          <a:lstStyle/>
          <a:p>
            <a:pPr algn="ctr"/>
            <a:r>
              <a:rPr sz="950" b="1" i="0">
                <a:solidFill>
                  <a:srgbClr val="17212B"/>
                </a:solidFill>
                <a:latin typeface="Aptos"/>
              </a:rPr>
              <a:t>6.7</a:t>
            </a:r>
          </a:p>
        </p:txBody>
      </p:sp>
      <p:sp>
        <p:nvSpPr>
          <p:cNvPr id="31" name="TextBox 30"/>
          <p:cNvSpPr txBox="1"/>
          <p:nvPr/>
        </p:nvSpPr>
        <p:spPr>
          <a:xfrm>
            <a:off x="6103620" y="5340096"/>
            <a:ext cx="1263015" cy="274320"/>
          </a:xfrm>
          <a:prstGeom prst="rect">
            <a:avLst/>
          </a:prstGeom>
          <a:noFill/>
        </p:spPr>
        <p:txBody>
          <a:bodyPr wrap="square" lIns="0" rIns="0" tIns="0" bIns="0" anchor="t">
            <a:spAutoFit/>
          </a:bodyPr>
          <a:lstStyle/>
          <a:p>
            <a:pPr algn="ctr"/>
            <a:r>
              <a:rPr sz="950" b="0" i="0">
                <a:solidFill>
                  <a:srgbClr val="5A6675"/>
                </a:solidFill>
                <a:latin typeface="Aptos"/>
              </a:rPr>
              <a:t>2014</a:t>
            </a:r>
          </a:p>
        </p:txBody>
      </p:sp>
      <p:sp>
        <p:nvSpPr>
          <p:cNvPr id="32" name="Rectangle 31"/>
          <p:cNvSpPr/>
          <p:nvPr/>
        </p:nvSpPr>
        <p:spPr>
          <a:xfrm>
            <a:off x="7650813" y="5092842"/>
            <a:ext cx="694658" cy="210677"/>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6635" y="4855098"/>
            <a:ext cx="1263015" cy="219456"/>
          </a:xfrm>
          <a:prstGeom prst="rect">
            <a:avLst/>
          </a:prstGeom>
          <a:noFill/>
        </p:spPr>
        <p:txBody>
          <a:bodyPr wrap="square" lIns="0" rIns="0" tIns="0" bIns="0" anchor="t">
            <a:spAutoFit/>
          </a:bodyPr>
          <a:lstStyle/>
          <a:p>
            <a:pPr algn="ctr"/>
            <a:r>
              <a:rPr sz="950" b="1" i="0">
                <a:solidFill>
                  <a:srgbClr val="17212B"/>
                </a:solidFill>
                <a:latin typeface="Aptos"/>
              </a:rPr>
              <a:t>3.6</a:t>
            </a:r>
          </a:p>
        </p:txBody>
      </p:sp>
      <p:sp>
        <p:nvSpPr>
          <p:cNvPr id="34" name="TextBox 33"/>
          <p:cNvSpPr txBox="1"/>
          <p:nvPr/>
        </p:nvSpPr>
        <p:spPr>
          <a:xfrm>
            <a:off x="7366635" y="5340096"/>
            <a:ext cx="1263015" cy="274320"/>
          </a:xfrm>
          <a:prstGeom prst="rect">
            <a:avLst/>
          </a:prstGeom>
          <a:noFill/>
        </p:spPr>
        <p:txBody>
          <a:bodyPr wrap="square" lIns="0" rIns="0" tIns="0" bIns="0" anchor="t">
            <a:spAutoFit/>
          </a:bodyPr>
          <a:lstStyle/>
          <a:p>
            <a:pPr algn="ctr"/>
            <a:r>
              <a:rPr sz="950" b="0" i="0">
                <a:solidFill>
                  <a:srgbClr val="5A6675"/>
                </a:solidFill>
                <a:latin typeface="Aptos"/>
              </a:rPr>
              <a:t>2015</a:t>
            </a:r>
          </a:p>
        </p:txBody>
      </p:sp>
      <p:sp>
        <p:nvSpPr>
          <p:cNvPr id="35" name="Rectangle 34"/>
          <p:cNvSpPr/>
          <p:nvPr/>
        </p:nvSpPr>
        <p:spPr>
          <a:xfrm>
            <a:off x="8913828" y="5127955"/>
            <a:ext cx="694658" cy="175564"/>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29650" y="4890211"/>
            <a:ext cx="1263015" cy="219456"/>
          </a:xfrm>
          <a:prstGeom prst="rect">
            <a:avLst/>
          </a:prstGeom>
          <a:noFill/>
        </p:spPr>
        <p:txBody>
          <a:bodyPr wrap="square" lIns="0" rIns="0" tIns="0" bIns="0" anchor="t">
            <a:spAutoFit/>
          </a:bodyPr>
          <a:lstStyle/>
          <a:p>
            <a:pPr algn="ctr"/>
            <a:r>
              <a:rPr sz="950" b="1" i="0">
                <a:solidFill>
                  <a:srgbClr val="17212B"/>
                </a:solidFill>
                <a:latin typeface="Aptos"/>
              </a:rPr>
              <a:t>3</a:t>
            </a:r>
          </a:p>
        </p:txBody>
      </p:sp>
      <p:sp>
        <p:nvSpPr>
          <p:cNvPr id="37" name="TextBox 36"/>
          <p:cNvSpPr txBox="1"/>
          <p:nvPr/>
        </p:nvSpPr>
        <p:spPr>
          <a:xfrm>
            <a:off x="8629650" y="5340096"/>
            <a:ext cx="1263015" cy="274320"/>
          </a:xfrm>
          <a:prstGeom prst="rect">
            <a:avLst/>
          </a:prstGeom>
          <a:noFill/>
        </p:spPr>
        <p:txBody>
          <a:bodyPr wrap="square" lIns="0" rIns="0" tIns="0" bIns="0" anchor="t">
            <a:spAutoFit/>
          </a:bodyPr>
          <a:lstStyle/>
          <a:p>
            <a:pPr algn="ctr"/>
            <a:r>
              <a:rPr sz="950" b="0" i="0">
                <a:solidFill>
                  <a:srgbClr val="5A6675"/>
                </a:solidFill>
                <a:latin typeface="Aptos"/>
              </a:rPr>
              <a:t>2016</a:t>
            </a:r>
          </a:p>
        </p:txBody>
      </p:sp>
      <p:sp>
        <p:nvSpPr>
          <p:cNvPr id="38" name="Rectangle 37"/>
          <p:cNvSpPr/>
          <p:nvPr/>
        </p:nvSpPr>
        <p:spPr>
          <a:xfrm>
            <a:off x="10176843" y="5168920"/>
            <a:ext cx="694658" cy="134599"/>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92665" y="4931176"/>
            <a:ext cx="1263015" cy="219456"/>
          </a:xfrm>
          <a:prstGeom prst="rect">
            <a:avLst/>
          </a:prstGeom>
          <a:noFill/>
        </p:spPr>
        <p:txBody>
          <a:bodyPr wrap="square" lIns="0" rIns="0" tIns="0" bIns="0" anchor="t">
            <a:spAutoFit/>
          </a:bodyPr>
          <a:lstStyle/>
          <a:p>
            <a:pPr algn="ctr"/>
            <a:r>
              <a:rPr sz="950" b="1" i="0">
                <a:solidFill>
                  <a:srgbClr val="17212B"/>
                </a:solidFill>
                <a:latin typeface="Aptos"/>
              </a:rPr>
              <a:t>2.3</a:t>
            </a:r>
          </a:p>
        </p:txBody>
      </p:sp>
      <p:sp>
        <p:nvSpPr>
          <p:cNvPr id="40" name="TextBox 39"/>
          <p:cNvSpPr txBox="1"/>
          <p:nvPr/>
        </p:nvSpPr>
        <p:spPr>
          <a:xfrm>
            <a:off x="9892665" y="5340096"/>
            <a:ext cx="1263015" cy="274320"/>
          </a:xfrm>
          <a:prstGeom prst="rect">
            <a:avLst/>
          </a:prstGeom>
          <a:noFill/>
        </p:spPr>
        <p:txBody>
          <a:bodyPr wrap="square" lIns="0" rIns="0" tIns="0" bIns="0" anchor="t">
            <a:spAutoFit/>
          </a:bodyPr>
          <a:lstStyle/>
          <a:p>
            <a:pPr algn="ctr"/>
            <a:r>
              <a:rPr sz="950" b="0" i="0">
                <a:solidFill>
                  <a:srgbClr val="5A6675"/>
                </a:solidFill>
                <a:latin typeface="Aptos"/>
              </a:rPr>
              <a:t>2017</a:t>
            </a:r>
          </a:p>
        </p:txBody>
      </p:sp>
      <p:sp>
        <p:nvSpPr>
          <p:cNvPr id="41" name="TextBox 40"/>
          <p:cNvSpPr txBox="1"/>
          <p:nvPr/>
        </p:nvSpPr>
        <p:spPr>
          <a:xfrm>
            <a:off x="3294697" y="3291840"/>
            <a:ext cx="1828800" cy="256032"/>
          </a:xfrm>
          <a:prstGeom prst="rect">
            <a:avLst/>
          </a:prstGeom>
          <a:noFill/>
        </p:spPr>
        <p:txBody>
          <a:bodyPr wrap="square" lIns="0" rIns="0" tIns="0" bIns="0" anchor="t">
            <a:spAutoFit/>
          </a:bodyPr>
          <a:lstStyle/>
          <a:p>
            <a:pPr algn="ctr"/>
            <a:r>
              <a:rPr sz="1050" b="1" i="0">
                <a:solidFill>
                  <a:srgbClr val="C84837"/>
                </a:solidFill>
                <a:latin typeface="Aptos"/>
              </a:rPr>
              <a:t>AlexNet (2012)</a:t>
            </a:r>
          </a:p>
        </p:txBody>
      </p:sp>
      <p:sp>
        <p:nvSpPr>
          <p:cNvPr id="42" name="Rectangle 41"/>
          <p:cNvSpPr/>
          <p:nvPr/>
        </p:nvSpPr>
        <p:spPr>
          <a:xfrm>
            <a:off x="594360" y="5852160"/>
            <a:ext cx="11018520" cy="4572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5943600"/>
            <a:ext cx="11018520" cy="292608"/>
          </a:xfrm>
          <a:prstGeom prst="rect">
            <a:avLst/>
          </a:prstGeom>
          <a:noFill/>
        </p:spPr>
        <p:txBody>
          <a:bodyPr wrap="square" lIns="0" rIns="0" tIns="0" bIns="0" anchor="t">
            <a:spAutoFit/>
          </a:bodyPr>
          <a:lstStyle/>
          <a:p>
            <a:pPr algn="ctr"/>
            <a:r>
              <a:rPr sz="1350" b="1" i="0">
                <a:solidFill>
                  <a:srgbClr val="FFFFFF"/>
                </a:solidFill>
                <a:latin typeface="Aptos"/>
              </a:rPr>
              <a:t>Shared task + shared evaluation = a decade of compounding progress.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Lessons from other fields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LESSON 2  —  GLUE / SUPERGLUE</a:t>
            </a:r>
          </a:p>
        </p:txBody>
      </p:sp>
      <p:sp>
        <p:nvSpPr>
          <p:cNvPr id="7" name="TextBox 6"/>
          <p:cNvSpPr txBox="1"/>
          <p:nvPr/>
        </p:nvSpPr>
        <p:spPr>
          <a:xfrm>
            <a:off x="594360" y="676656"/>
            <a:ext cx="10972800" cy="502920"/>
          </a:xfrm>
          <a:prstGeom prst="rect">
            <a:avLst/>
          </a:prstGeom>
          <a:noFill/>
        </p:spPr>
        <p:txBody>
          <a:bodyPr wrap="square" lIns="0" rIns="0" tIns="0" bIns="0" anchor="t">
            <a:spAutoFit/>
          </a:bodyPr>
          <a:lstStyle/>
          <a:p>
            <a:pPr algn="l"/>
            <a:r>
              <a:rPr sz="2000" b="1" i="0">
                <a:solidFill>
                  <a:srgbClr val="17212B"/>
                </a:solidFill>
                <a:latin typeface="Aptos Display"/>
              </a:rPr>
              <a:t>When one task saturates, a suite sustains the conversation.</a:t>
            </a:r>
          </a:p>
        </p:txBody>
      </p:sp>
      <p:pic>
        <p:nvPicPr>
          <p:cNvPr id="8" name="Picture 7" descr="glue_scoring.png"/>
          <p:cNvPicPr>
            <a:picLocks noChangeAspect="1"/>
          </p:cNvPicPr>
          <p:nvPr/>
        </p:nvPicPr>
        <p:blipFill>
          <a:blip r:embed="rId2"/>
          <a:stretch>
            <a:fillRect/>
          </a:stretch>
        </p:blipFill>
        <p:spPr>
          <a:xfrm>
            <a:off x="1249527" y="1371600"/>
            <a:ext cx="9692640" cy="1615440"/>
          </a:xfrm>
          <a:prstGeom prst="rect">
            <a:avLst/>
          </a:prstGeom>
        </p:spPr>
      </p:pic>
      <p:pic>
        <p:nvPicPr>
          <p:cNvPr id="9" name="Picture 8" descr="glue_saturation.png"/>
          <p:cNvPicPr>
            <a:picLocks noChangeAspect="1"/>
          </p:cNvPicPr>
          <p:nvPr/>
        </p:nvPicPr>
        <p:blipFill>
          <a:blip r:embed="rId3"/>
          <a:stretch>
            <a:fillRect/>
          </a:stretch>
        </p:blipFill>
        <p:spPr>
          <a:xfrm>
            <a:off x="2895447" y="3169920"/>
            <a:ext cx="6400800" cy="31096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Lessons from other fields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LESSON 3  —  CASP / ALPHAFOLD</a:t>
            </a:r>
          </a:p>
        </p:txBody>
      </p:sp>
      <p:sp>
        <p:nvSpPr>
          <p:cNvPr id="7" name="TextBox 6"/>
          <p:cNvSpPr txBox="1"/>
          <p:nvPr/>
        </p:nvSpPr>
        <p:spPr>
          <a:xfrm>
            <a:off x="594360" y="731520"/>
            <a:ext cx="10972800" cy="914400"/>
          </a:xfrm>
          <a:prstGeom prst="rect">
            <a:avLst/>
          </a:prstGeom>
          <a:noFill/>
        </p:spPr>
        <p:txBody>
          <a:bodyPr wrap="square" lIns="0" rIns="0" tIns="0" bIns="0" anchor="t">
            <a:spAutoFit/>
          </a:bodyPr>
          <a:lstStyle/>
          <a:p>
            <a:pPr algn="l"/>
            <a:r>
              <a:rPr sz="2200" b="1" i="0">
                <a:solidFill>
                  <a:srgbClr val="17212B"/>
                </a:solidFill>
                <a:latin typeface="Aptos Display"/>
              </a:rPr>
              <a:t>A 25-year community benchmark made a breakthrough legible.</a:t>
            </a:r>
          </a:p>
        </p:txBody>
      </p:sp>
      <p:sp>
        <p:nvSpPr>
          <p:cNvPr id="8" name="Rectangle 7"/>
          <p:cNvSpPr/>
          <p:nvPr/>
        </p:nvSpPr>
        <p:spPr>
          <a:xfrm>
            <a:off x="594360" y="2194560"/>
            <a:ext cx="6583680" cy="384048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3280" y="352044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3566160" y="374904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096512" y="363016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468112"/>
            <a:ext cx="6309360" cy="256032"/>
          </a:xfrm>
          <a:prstGeom prst="rect">
            <a:avLst/>
          </a:prstGeom>
          <a:noFill/>
        </p:spPr>
        <p:txBody>
          <a:bodyPr wrap="square" lIns="0" rIns="0" tIns="0" bIns="0" anchor="t">
            <a:spAutoFit/>
          </a:bodyPr>
          <a:lstStyle/>
          <a:p>
            <a:pPr algn="ctr"/>
            <a:r>
              <a:rPr sz="1000" b="1" i="1">
                <a:solidFill>
                  <a:srgbClr val="225E9B"/>
                </a:solidFill>
                <a:latin typeface="Aptos"/>
              </a:rPr>
              <a:t>[IMAGE: AlphaFold predicted structure overlaid on experimental, CASP14]</a:t>
            </a:r>
          </a:p>
        </p:txBody>
      </p:sp>
      <p:sp>
        <p:nvSpPr>
          <p:cNvPr id="13" name="TextBox 12"/>
          <p:cNvSpPr txBox="1"/>
          <p:nvPr/>
        </p:nvSpPr>
        <p:spPr>
          <a:xfrm>
            <a:off x="731520" y="5742432"/>
            <a:ext cx="6309360" cy="237744"/>
          </a:xfrm>
          <a:prstGeom prst="rect">
            <a:avLst/>
          </a:prstGeom>
          <a:noFill/>
        </p:spPr>
        <p:txBody>
          <a:bodyPr wrap="square" lIns="0" rIns="0" tIns="0" bIns="0" anchor="t">
            <a:spAutoFit/>
          </a:bodyPr>
          <a:lstStyle/>
          <a:p>
            <a:pPr algn="ctr"/>
            <a:r>
              <a:rPr sz="850" b="0" i="1">
                <a:solidFill>
                  <a:srgbClr val="7A8493"/>
                </a:solidFill>
                <a:latin typeface="Aptos"/>
              </a:rPr>
              <a:t>Source: DeepMind AlphaFold blog (2020); CASP14 results page (predictioncenter.org/casp14).</a:t>
            </a:r>
          </a:p>
        </p:txBody>
      </p:sp>
      <p:sp>
        <p:nvSpPr>
          <p:cNvPr id="14" name="TextBox 13"/>
          <p:cNvSpPr txBox="1"/>
          <p:nvPr/>
        </p:nvSpPr>
        <p:spPr>
          <a:xfrm>
            <a:off x="7680960" y="2194560"/>
            <a:ext cx="4069080" cy="292608"/>
          </a:xfrm>
          <a:prstGeom prst="rect">
            <a:avLst/>
          </a:prstGeom>
          <a:noFill/>
        </p:spPr>
        <p:txBody>
          <a:bodyPr wrap="square" lIns="0" rIns="0" tIns="0" bIns="0" anchor="t">
            <a:spAutoFit/>
          </a:bodyPr>
          <a:lstStyle/>
          <a:p>
            <a:pPr algn="l"/>
            <a:r>
              <a:rPr sz="1100" b="1" i="0">
                <a:solidFill>
                  <a:srgbClr val="225E9B"/>
                </a:solidFill>
                <a:latin typeface="Aptos"/>
              </a:rPr>
              <a:t>CASP — THE PROTOCOL</a:t>
            </a:r>
          </a:p>
        </p:txBody>
      </p:sp>
      <p:sp>
        <p:nvSpPr>
          <p:cNvPr id="15" name="TextBox 14"/>
          <p:cNvSpPr txBox="1"/>
          <p:nvPr/>
        </p:nvSpPr>
        <p:spPr>
          <a:xfrm>
            <a:off x="7680960" y="2560320"/>
            <a:ext cx="4069080" cy="1920240"/>
          </a:xfrm>
          <a:prstGeom prst="rect">
            <a:avLst/>
          </a:prstGeom>
          <a:noFill/>
        </p:spPr>
        <p:txBody>
          <a:bodyPr wrap="square" lIns="0" rIns="0" tIns="0" bIns="0" anchor="t">
            <a:spAutoFit/>
          </a:bodyPr>
          <a:lstStyle/>
          <a:p>
            <a:pPr algn="l">
              <a:lnSpc>
                <a:spcPct val="110000"/>
              </a:lnSpc>
            </a:pPr>
            <a:r>
              <a:rPr sz="2200" b="1" i="0">
                <a:solidFill>
                  <a:srgbClr val="17212B"/>
                </a:solidFill>
                <a:latin typeface="Aptos Display"/>
              </a:rPr>
              <a:t>Held-out targets.</a:t>
            </a:r>
          </a:p>
          <a:p>
            <a:pPr algn="l">
              <a:lnSpc>
                <a:spcPct val="110000"/>
              </a:lnSpc>
            </a:pPr>
            <a:r>
              <a:rPr sz="2200" b="1" i="0">
                <a:solidFill>
                  <a:srgbClr val="17212B"/>
                </a:solidFill>
                <a:latin typeface="Aptos Display"/>
              </a:rPr>
              <a:t>Blind submissions.</a:t>
            </a:r>
          </a:p>
          <a:p>
            <a:pPr algn="l">
              <a:lnSpc>
                <a:spcPct val="110000"/>
              </a:lnSpc>
            </a:pPr>
            <a:r>
              <a:rPr sz="2200" b="1" i="0">
                <a:solidFill>
                  <a:srgbClr val="17212B"/>
                </a:solidFill>
                <a:latin typeface="Aptos Display"/>
              </a:rPr>
              <a:t>One shared score.</a:t>
            </a:r>
          </a:p>
        </p:txBody>
      </p:sp>
      <p:sp>
        <p:nvSpPr>
          <p:cNvPr id="16" name="Rectangle 15"/>
          <p:cNvSpPr/>
          <p:nvPr/>
        </p:nvSpPr>
        <p:spPr>
          <a:xfrm>
            <a:off x="7680960" y="4709160"/>
            <a:ext cx="4069080" cy="36576"/>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89520" y="4636008"/>
            <a:ext cx="182880" cy="182880"/>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 b="1">
                <a:solidFill>
                  <a:srgbClr val="FFFFFF"/>
                </a:solidFill>
                <a:latin typeface="Aptos Display"/>
              </a:rPr>
              <a:t/>
            </a:r>
          </a:p>
        </p:txBody>
      </p:sp>
      <p:sp>
        <p:nvSpPr>
          <p:cNvPr id="18" name="TextBox 17"/>
          <p:cNvSpPr txBox="1"/>
          <p:nvPr/>
        </p:nvSpPr>
        <p:spPr>
          <a:xfrm>
            <a:off x="7223760" y="4892040"/>
            <a:ext cx="914400" cy="228600"/>
          </a:xfrm>
          <a:prstGeom prst="rect">
            <a:avLst/>
          </a:prstGeom>
          <a:noFill/>
        </p:spPr>
        <p:txBody>
          <a:bodyPr wrap="square" lIns="0" rIns="0" tIns="0" bIns="0" anchor="t">
            <a:spAutoFit/>
          </a:bodyPr>
          <a:lstStyle/>
          <a:p>
            <a:pPr algn="ctr"/>
            <a:r>
              <a:rPr sz="950" b="1" i="0">
                <a:solidFill>
                  <a:srgbClr val="5A6675"/>
                </a:solidFill>
                <a:latin typeface="Aptos"/>
              </a:rPr>
              <a:t>1994</a:t>
            </a:r>
          </a:p>
        </p:txBody>
      </p:sp>
      <p:sp>
        <p:nvSpPr>
          <p:cNvPr id="19" name="Oval 18"/>
          <p:cNvSpPr/>
          <p:nvPr/>
        </p:nvSpPr>
        <p:spPr>
          <a:xfrm>
            <a:off x="8606790" y="4636008"/>
            <a:ext cx="182880" cy="182880"/>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 b="1">
                <a:solidFill>
                  <a:srgbClr val="FFFFFF"/>
                </a:solidFill>
                <a:latin typeface="Aptos Display"/>
              </a:rPr>
              <a:t/>
            </a:r>
          </a:p>
        </p:txBody>
      </p:sp>
      <p:sp>
        <p:nvSpPr>
          <p:cNvPr id="20" name="TextBox 19"/>
          <p:cNvSpPr txBox="1"/>
          <p:nvPr/>
        </p:nvSpPr>
        <p:spPr>
          <a:xfrm>
            <a:off x="8241030" y="4892040"/>
            <a:ext cx="914400" cy="228600"/>
          </a:xfrm>
          <a:prstGeom prst="rect">
            <a:avLst/>
          </a:prstGeom>
          <a:noFill/>
        </p:spPr>
        <p:txBody>
          <a:bodyPr wrap="square" lIns="0" rIns="0" tIns="0" bIns="0" anchor="t">
            <a:spAutoFit/>
          </a:bodyPr>
          <a:lstStyle/>
          <a:p>
            <a:pPr algn="ctr"/>
            <a:r>
              <a:rPr sz="950" b="1" i="0">
                <a:solidFill>
                  <a:srgbClr val="5A6675"/>
                </a:solidFill>
                <a:latin typeface="Aptos"/>
              </a:rPr>
              <a:t>2000</a:t>
            </a:r>
          </a:p>
        </p:txBody>
      </p:sp>
      <p:sp>
        <p:nvSpPr>
          <p:cNvPr id="21" name="Oval 20"/>
          <p:cNvSpPr/>
          <p:nvPr/>
        </p:nvSpPr>
        <p:spPr>
          <a:xfrm>
            <a:off x="9624060" y="4636008"/>
            <a:ext cx="182880" cy="182880"/>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 b="1">
                <a:solidFill>
                  <a:srgbClr val="FFFFFF"/>
                </a:solidFill>
                <a:latin typeface="Aptos Display"/>
              </a:rPr>
              <a:t/>
            </a:r>
          </a:p>
        </p:txBody>
      </p:sp>
      <p:sp>
        <p:nvSpPr>
          <p:cNvPr id="22" name="TextBox 21"/>
          <p:cNvSpPr txBox="1"/>
          <p:nvPr/>
        </p:nvSpPr>
        <p:spPr>
          <a:xfrm>
            <a:off x="9258300" y="4892040"/>
            <a:ext cx="914400" cy="228600"/>
          </a:xfrm>
          <a:prstGeom prst="rect">
            <a:avLst/>
          </a:prstGeom>
          <a:noFill/>
        </p:spPr>
        <p:txBody>
          <a:bodyPr wrap="square" lIns="0" rIns="0" tIns="0" bIns="0" anchor="t">
            <a:spAutoFit/>
          </a:bodyPr>
          <a:lstStyle/>
          <a:p>
            <a:pPr algn="ctr"/>
            <a:r>
              <a:rPr sz="950" b="1" i="0">
                <a:solidFill>
                  <a:srgbClr val="5A6675"/>
                </a:solidFill>
                <a:latin typeface="Aptos"/>
              </a:rPr>
              <a:t>2010</a:t>
            </a:r>
          </a:p>
        </p:txBody>
      </p:sp>
      <p:sp>
        <p:nvSpPr>
          <p:cNvPr id="23" name="Oval 22"/>
          <p:cNvSpPr/>
          <p:nvPr/>
        </p:nvSpPr>
        <p:spPr>
          <a:xfrm>
            <a:off x="10641330" y="4636008"/>
            <a:ext cx="182880" cy="182880"/>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 b="1">
                <a:solidFill>
                  <a:srgbClr val="FFFFFF"/>
                </a:solidFill>
                <a:latin typeface="Aptos Display"/>
              </a:rPr>
              <a:t/>
            </a:r>
          </a:p>
        </p:txBody>
      </p:sp>
      <p:sp>
        <p:nvSpPr>
          <p:cNvPr id="24" name="TextBox 23"/>
          <p:cNvSpPr txBox="1"/>
          <p:nvPr/>
        </p:nvSpPr>
        <p:spPr>
          <a:xfrm>
            <a:off x="10275570" y="4892040"/>
            <a:ext cx="914400" cy="228600"/>
          </a:xfrm>
          <a:prstGeom prst="rect">
            <a:avLst/>
          </a:prstGeom>
          <a:noFill/>
        </p:spPr>
        <p:txBody>
          <a:bodyPr wrap="square" lIns="0" rIns="0" tIns="0" bIns="0" anchor="t">
            <a:spAutoFit/>
          </a:bodyPr>
          <a:lstStyle/>
          <a:p>
            <a:pPr algn="ctr"/>
            <a:r>
              <a:rPr sz="950" b="1" i="0">
                <a:solidFill>
                  <a:srgbClr val="5A6675"/>
                </a:solidFill>
                <a:latin typeface="Aptos"/>
              </a:rPr>
              <a:t>2020</a:t>
            </a:r>
          </a:p>
        </p:txBody>
      </p:sp>
      <p:sp>
        <p:nvSpPr>
          <p:cNvPr id="25" name="Oval 24"/>
          <p:cNvSpPr/>
          <p:nvPr/>
        </p:nvSpPr>
        <p:spPr>
          <a:xfrm>
            <a:off x="11658600" y="4636008"/>
            <a:ext cx="182880" cy="182880"/>
          </a:xfrm>
          <a:prstGeom prst="ellipse">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 b="1">
                <a:solidFill>
                  <a:srgbClr val="FFFFFF"/>
                </a:solidFill>
                <a:latin typeface="Aptos Display"/>
              </a:rPr>
              <a:t/>
            </a:r>
          </a:p>
        </p:txBody>
      </p:sp>
      <p:sp>
        <p:nvSpPr>
          <p:cNvPr id="26" name="TextBox 25"/>
          <p:cNvSpPr txBox="1"/>
          <p:nvPr/>
        </p:nvSpPr>
        <p:spPr>
          <a:xfrm>
            <a:off x="11292840" y="4892040"/>
            <a:ext cx="914400" cy="228600"/>
          </a:xfrm>
          <a:prstGeom prst="rect">
            <a:avLst/>
          </a:prstGeom>
          <a:noFill/>
        </p:spPr>
        <p:txBody>
          <a:bodyPr wrap="square" lIns="0" rIns="0" tIns="0" bIns="0" anchor="t">
            <a:spAutoFit/>
          </a:bodyPr>
          <a:lstStyle/>
          <a:p>
            <a:pPr algn="ctr"/>
            <a:r>
              <a:rPr sz="950" b="1" i="0">
                <a:solidFill>
                  <a:srgbClr val="5A6675"/>
                </a:solidFill>
                <a:latin typeface="Aptos"/>
              </a:rPr>
              <a:t>CASP14</a:t>
            </a:r>
          </a:p>
        </p:txBody>
      </p:sp>
      <p:sp>
        <p:nvSpPr>
          <p:cNvPr id="27" name="TextBox 26"/>
          <p:cNvSpPr txBox="1"/>
          <p:nvPr/>
        </p:nvSpPr>
        <p:spPr>
          <a:xfrm>
            <a:off x="7680960" y="5440680"/>
            <a:ext cx="4069080" cy="594360"/>
          </a:xfrm>
          <a:prstGeom prst="rect">
            <a:avLst/>
          </a:prstGeom>
          <a:noFill/>
        </p:spPr>
        <p:txBody>
          <a:bodyPr wrap="square" lIns="0" rIns="0" tIns="0" bIns="0" anchor="t">
            <a:spAutoFit/>
          </a:bodyPr>
          <a:lstStyle/>
          <a:p>
            <a:pPr algn="l"/>
            <a:r>
              <a:rPr sz="1350" b="0" i="1">
                <a:solidFill>
                  <a:srgbClr val="17212B"/>
                </a:solidFill>
                <a:latin typeface="Aptos"/>
              </a:rPr>
              <a:t>Without CASP, AlphaFold is a press release. With it, a verdict.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Lessons from other fields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WHAT GOOD BENCHMARKS SHARE</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600" b="1" i="0">
                <a:solidFill>
                  <a:srgbClr val="17212B"/>
                </a:solidFill>
                <a:latin typeface="Aptos Display"/>
              </a:rPr>
              <a:t>Four ingredients turn a dataset into a benchmark.</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300" b="0" i="1">
                <a:solidFill>
                  <a:srgbClr val="5A6675"/>
                </a:solidFill>
                <a:latin typeface="Aptos"/>
              </a:rPr>
              <a:t>The recipe is consistent across ImageNet, GLUE, CASP, OGB, MuJoCo.</a:t>
            </a:r>
          </a:p>
        </p:txBody>
      </p:sp>
      <p:sp>
        <p:nvSpPr>
          <p:cNvPr id="9" name="Rectangle 8"/>
          <p:cNvSpPr/>
          <p:nvPr/>
        </p:nvSpPr>
        <p:spPr>
          <a:xfrm>
            <a:off x="594360" y="2194560"/>
            <a:ext cx="257860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94560"/>
            <a:ext cx="2578608" cy="9144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51760"/>
            <a:ext cx="2029968" cy="365760"/>
          </a:xfrm>
          <a:prstGeom prst="rect">
            <a:avLst/>
          </a:prstGeom>
          <a:noFill/>
        </p:spPr>
        <p:txBody>
          <a:bodyPr wrap="square" lIns="0" rIns="0" tIns="0" bIns="0" anchor="t">
            <a:spAutoFit/>
          </a:bodyPr>
          <a:lstStyle/>
          <a:p>
            <a:pPr algn="l"/>
            <a:r>
              <a:rPr sz="1200" b="1" i="0">
                <a:solidFill>
                  <a:srgbClr val="225E9B"/>
                </a:solidFill>
                <a:latin typeface="Aptos"/>
              </a:rPr>
              <a:t>FIXED INPUTS</a:t>
            </a:r>
          </a:p>
        </p:txBody>
      </p:sp>
      <p:sp>
        <p:nvSpPr>
          <p:cNvPr id="12" name="TextBox 11"/>
          <p:cNvSpPr txBox="1"/>
          <p:nvPr/>
        </p:nvSpPr>
        <p:spPr>
          <a:xfrm>
            <a:off x="868680" y="3154680"/>
            <a:ext cx="2029968" cy="1645920"/>
          </a:xfrm>
          <a:prstGeom prst="rect">
            <a:avLst/>
          </a:prstGeom>
          <a:noFill/>
        </p:spPr>
        <p:txBody>
          <a:bodyPr wrap="square" lIns="0" rIns="0" tIns="0" bIns="0" anchor="t">
            <a:spAutoFit/>
          </a:bodyPr>
          <a:lstStyle/>
          <a:p>
            <a:pPr algn="l">
              <a:lnSpc>
                <a:spcPct val="105000"/>
              </a:lnSpc>
            </a:pPr>
            <a:r>
              <a:rPr sz="2200" b="1" i="0">
                <a:solidFill>
                  <a:srgbClr val="17212B"/>
                </a:solidFill>
                <a:latin typeface="Aptos Display"/>
              </a:rPr>
              <a:t>Same data, same splits, no silent re-curating.</a:t>
            </a:r>
          </a:p>
        </p:txBody>
      </p:sp>
      <p:sp>
        <p:nvSpPr>
          <p:cNvPr id="13" name="Rectangle 12"/>
          <p:cNvSpPr/>
          <p:nvPr/>
        </p:nvSpPr>
        <p:spPr>
          <a:xfrm>
            <a:off x="3401568" y="2194560"/>
            <a:ext cx="257860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2194560"/>
            <a:ext cx="2578608" cy="91440"/>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5888" y="2651760"/>
            <a:ext cx="2029968" cy="365760"/>
          </a:xfrm>
          <a:prstGeom prst="rect">
            <a:avLst/>
          </a:prstGeom>
          <a:noFill/>
        </p:spPr>
        <p:txBody>
          <a:bodyPr wrap="square" lIns="0" rIns="0" tIns="0" bIns="0" anchor="t">
            <a:spAutoFit/>
          </a:bodyPr>
          <a:lstStyle/>
          <a:p>
            <a:pPr algn="l"/>
            <a:r>
              <a:rPr sz="1200" b="1" i="0">
                <a:solidFill>
                  <a:srgbClr val="2F7D62"/>
                </a:solidFill>
                <a:latin typeface="Aptos"/>
              </a:rPr>
              <a:t>STANDARD EVAL</a:t>
            </a:r>
          </a:p>
        </p:txBody>
      </p:sp>
      <p:sp>
        <p:nvSpPr>
          <p:cNvPr id="16" name="TextBox 15"/>
          <p:cNvSpPr txBox="1"/>
          <p:nvPr/>
        </p:nvSpPr>
        <p:spPr>
          <a:xfrm>
            <a:off x="3675888" y="3154680"/>
            <a:ext cx="2029968" cy="1645920"/>
          </a:xfrm>
          <a:prstGeom prst="rect">
            <a:avLst/>
          </a:prstGeom>
          <a:noFill/>
        </p:spPr>
        <p:txBody>
          <a:bodyPr wrap="square" lIns="0" rIns="0" tIns="0" bIns="0" anchor="t">
            <a:spAutoFit/>
          </a:bodyPr>
          <a:lstStyle/>
          <a:p>
            <a:pPr algn="l">
              <a:lnSpc>
                <a:spcPct val="105000"/>
              </a:lnSpc>
            </a:pPr>
            <a:r>
              <a:rPr sz="2200" b="1" i="0">
                <a:solidFill>
                  <a:srgbClr val="17212B"/>
                </a:solidFill>
                <a:latin typeface="Aptos Display"/>
              </a:rPr>
              <a:t>Scoring is code, not prose.</a:t>
            </a:r>
          </a:p>
        </p:txBody>
      </p:sp>
      <p:sp>
        <p:nvSpPr>
          <p:cNvPr id="17" name="Rectangle 16"/>
          <p:cNvSpPr/>
          <p:nvPr/>
        </p:nvSpPr>
        <p:spPr>
          <a:xfrm>
            <a:off x="6208776" y="2194560"/>
            <a:ext cx="257860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2194560"/>
            <a:ext cx="2578608" cy="91440"/>
          </a:xfrm>
          <a:prstGeom prst="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2651760"/>
            <a:ext cx="2029968" cy="365760"/>
          </a:xfrm>
          <a:prstGeom prst="rect">
            <a:avLst/>
          </a:prstGeom>
          <a:noFill/>
        </p:spPr>
        <p:txBody>
          <a:bodyPr wrap="square" lIns="0" rIns="0" tIns="0" bIns="0" anchor="t">
            <a:spAutoFit/>
          </a:bodyPr>
          <a:lstStyle/>
          <a:p>
            <a:pPr algn="l"/>
            <a:r>
              <a:rPr sz="1200" b="1" i="0">
                <a:solidFill>
                  <a:srgbClr val="C47B20"/>
                </a:solidFill>
                <a:latin typeface="Aptos"/>
              </a:rPr>
              <a:t>OPEN ACCESS</a:t>
            </a:r>
          </a:p>
        </p:txBody>
      </p:sp>
      <p:sp>
        <p:nvSpPr>
          <p:cNvPr id="20" name="TextBox 19"/>
          <p:cNvSpPr txBox="1"/>
          <p:nvPr/>
        </p:nvSpPr>
        <p:spPr>
          <a:xfrm>
            <a:off x="6483096" y="3154680"/>
            <a:ext cx="2029968" cy="1645920"/>
          </a:xfrm>
          <a:prstGeom prst="rect">
            <a:avLst/>
          </a:prstGeom>
          <a:noFill/>
        </p:spPr>
        <p:txBody>
          <a:bodyPr wrap="square" lIns="0" rIns="0" tIns="0" bIns="0" anchor="t">
            <a:spAutoFit/>
          </a:bodyPr>
          <a:lstStyle/>
          <a:p>
            <a:pPr algn="l">
              <a:lnSpc>
                <a:spcPct val="105000"/>
              </a:lnSpc>
            </a:pPr>
            <a:r>
              <a:rPr sz="2200" b="1" i="0">
                <a:solidFill>
                  <a:srgbClr val="17212B"/>
                </a:solidFill>
                <a:latin typeface="Aptos Display"/>
              </a:rPr>
              <a:t>Low cost of entry.</a:t>
            </a:r>
          </a:p>
        </p:txBody>
      </p:sp>
      <p:sp>
        <p:nvSpPr>
          <p:cNvPr id="21" name="Rectangle 20"/>
          <p:cNvSpPr/>
          <p:nvPr/>
        </p:nvSpPr>
        <p:spPr>
          <a:xfrm>
            <a:off x="9015984" y="2194560"/>
            <a:ext cx="2578608"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15984" y="2194560"/>
            <a:ext cx="2578608" cy="91440"/>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90304" y="2651760"/>
            <a:ext cx="2029968" cy="365760"/>
          </a:xfrm>
          <a:prstGeom prst="rect">
            <a:avLst/>
          </a:prstGeom>
          <a:noFill/>
        </p:spPr>
        <p:txBody>
          <a:bodyPr wrap="square" lIns="0" rIns="0" tIns="0" bIns="0" anchor="t">
            <a:spAutoFit/>
          </a:bodyPr>
          <a:lstStyle/>
          <a:p>
            <a:pPr algn="l"/>
            <a:r>
              <a:rPr sz="1200" b="1" i="0">
                <a:solidFill>
                  <a:srgbClr val="C84837"/>
                </a:solidFill>
                <a:latin typeface="Aptos"/>
              </a:rPr>
              <a:t>COMMUNITY</a:t>
            </a:r>
          </a:p>
        </p:txBody>
      </p:sp>
      <p:sp>
        <p:nvSpPr>
          <p:cNvPr id="24" name="TextBox 23"/>
          <p:cNvSpPr txBox="1"/>
          <p:nvPr/>
        </p:nvSpPr>
        <p:spPr>
          <a:xfrm>
            <a:off x="9290304" y="3154680"/>
            <a:ext cx="2029968" cy="1645920"/>
          </a:xfrm>
          <a:prstGeom prst="rect">
            <a:avLst/>
          </a:prstGeom>
          <a:noFill/>
        </p:spPr>
        <p:txBody>
          <a:bodyPr wrap="square" lIns="0" rIns="0" tIns="0" bIns="0" anchor="t">
            <a:spAutoFit/>
          </a:bodyPr>
          <a:lstStyle/>
          <a:p>
            <a:pPr algn="l">
              <a:lnSpc>
                <a:spcPct val="105000"/>
              </a:lnSpc>
            </a:pPr>
            <a:r>
              <a:rPr sz="2200" b="1" i="0">
                <a:solidFill>
                  <a:srgbClr val="17212B"/>
                </a:solidFill>
                <a:latin typeface="Aptos Display"/>
              </a:rPr>
              <a:t>Lives across years.</a:t>
            </a:r>
          </a:p>
        </p:txBody>
      </p:sp>
      <p:sp>
        <p:nvSpPr>
          <p:cNvPr id="25" name="Rectangle 24"/>
          <p:cNvSpPr/>
          <p:nvPr/>
        </p:nvSpPr>
        <p:spPr>
          <a:xfrm>
            <a:off x="594360" y="5852160"/>
            <a:ext cx="11018520" cy="4572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5943600"/>
            <a:ext cx="11018520" cy="292608"/>
          </a:xfrm>
          <a:prstGeom prst="rect">
            <a:avLst/>
          </a:prstGeom>
          <a:noFill/>
        </p:spPr>
        <p:txBody>
          <a:bodyPr wrap="square" lIns="0" rIns="0" tIns="0" bIns="0" anchor="t">
            <a:spAutoFit/>
          </a:bodyPr>
          <a:lstStyle/>
          <a:p>
            <a:pPr algn="ctr"/>
            <a:r>
              <a:rPr sz="1350" b="1" i="0">
                <a:solidFill>
                  <a:srgbClr val="FFFFFF"/>
                </a:solidFill>
                <a:latin typeface="Aptos"/>
              </a:rPr>
              <a:t>Engineering design ML has almost none of this — yet.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331720"/>
            <a:ext cx="731520" cy="54864"/>
          </a:xfrm>
          <a:prstGeom prst="rect">
            <a:avLst/>
          </a:prstGeom>
          <a:solidFill>
            <a:srgbClr val="CF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514600"/>
            <a:ext cx="10515600" cy="329184"/>
          </a:xfrm>
          <a:prstGeom prst="rect">
            <a:avLst/>
          </a:prstGeom>
          <a:noFill/>
        </p:spPr>
        <p:txBody>
          <a:bodyPr wrap="square" lIns="0" rIns="0" tIns="0" bIns="0" anchor="t">
            <a:spAutoFit/>
          </a:bodyPr>
          <a:lstStyle/>
          <a:p>
            <a:pPr algn="l"/>
            <a:r>
              <a:rPr sz="1200" b="1" i="0">
                <a:solidFill>
                  <a:srgbClr val="CFE3F3"/>
                </a:solidFill>
                <a:latin typeface="Aptos"/>
              </a:rPr>
              <a:t>SECTION 3  —  WHAT OUR FIELD NEEDS</a:t>
            </a:r>
          </a:p>
        </p:txBody>
      </p:sp>
      <p:sp>
        <p:nvSpPr>
          <p:cNvPr id="5" name="TextBox 4"/>
          <p:cNvSpPr txBox="1"/>
          <p:nvPr/>
        </p:nvSpPr>
        <p:spPr>
          <a:xfrm>
            <a:off x="777240" y="2926080"/>
            <a:ext cx="10515600" cy="1737360"/>
          </a:xfrm>
          <a:prstGeom prst="rect">
            <a:avLst/>
          </a:prstGeom>
          <a:noFill/>
        </p:spPr>
        <p:txBody>
          <a:bodyPr wrap="square" lIns="0" rIns="0" tIns="0" bIns="0" anchor="t">
            <a:spAutoFit/>
          </a:bodyPr>
          <a:lstStyle/>
          <a:p>
            <a:pPr algn="l">
              <a:lnSpc>
                <a:spcPct val="100000"/>
              </a:lnSpc>
            </a:pPr>
            <a:r>
              <a:rPr sz="4600" b="1" i="0">
                <a:solidFill>
                  <a:srgbClr val="FFFFFF"/>
                </a:solidFill>
                <a:latin typeface="Aptos Display"/>
              </a:rPr>
              <a:t>What engineering design ML
still lacks.</a:t>
            </a:r>
          </a:p>
        </p:txBody>
      </p:sp>
      <p:sp>
        <p:nvSpPr>
          <p:cNvPr id="6" name="TextBox 5"/>
          <p:cNvSpPr txBox="1"/>
          <p:nvPr/>
        </p:nvSpPr>
        <p:spPr>
          <a:xfrm>
            <a:off x="777240" y="4937760"/>
            <a:ext cx="10515600" cy="502920"/>
          </a:xfrm>
          <a:prstGeom prst="rect">
            <a:avLst/>
          </a:prstGeom>
          <a:noFill/>
        </p:spPr>
        <p:txBody>
          <a:bodyPr wrap="square" lIns="0" rIns="0" tIns="0" bIns="0" anchor="t">
            <a:spAutoFit/>
          </a:bodyPr>
          <a:lstStyle/>
          <a:p>
            <a:pPr algn="l"/>
            <a:r>
              <a:rPr sz="1600" b="0" i="0">
                <a:solidFill>
                  <a:srgbClr val="EAF3FA"/>
                </a:solidFill>
                <a:latin typeface="Aptos"/>
              </a:rPr>
              <a:t>The gap is not theory or talent. It is shared, executable infrastructure.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What the field needs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FIVE MISSING PIECES</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600" b="1" i="0">
                <a:solidFill>
                  <a:srgbClr val="17212B"/>
                </a:solidFill>
                <a:latin typeface="Aptos Display"/>
              </a:rPr>
              <a:t>Engineering design ML lacks shared infrastructure.</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300" b="0" i="1">
                <a:solidFill>
                  <a:srgbClr val="5A6675"/>
                </a:solidFill>
                <a:latin typeface="Aptos"/>
              </a:rPr>
              <a:t>Each can be rebuilt. No one should have to. That is the gap.</a:t>
            </a:r>
          </a:p>
        </p:txBody>
      </p:sp>
      <p:sp>
        <p:nvSpPr>
          <p:cNvPr id="9" name="Rectangle 8"/>
          <p:cNvSpPr/>
          <p:nvPr/>
        </p:nvSpPr>
        <p:spPr>
          <a:xfrm>
            <a:off x="594360" y="2194560"/>
            <a:ext cx="2068372" cy="3611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94560"/>
            <a:ext cx="2068372" cy="73152"/>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514600"/>
            <a:ext cx="1611172" cy="914400"/>
          </a:xfrm>
          <a:prstGeom prst="rect">
            <a:avLst/>
          </a:prstGeom>
          <a:noFill/>
        </p:spPr>
        <p:txBody>
          <a:bodyPr wrap="square" lIns="0" rIns="0" tIns="0" bIns="0" anchor="t">
            <a:spAutoFit/>
          </a:bodyPr>
          <a:lstStyle/>
          <a:p>
            <a:pPr algn="l"/>
            <a:r>
              <a:rPr sz="4600" b="1" i="0">
                <a:solidFill>
                  <a:srgbClr val="225E9B"/>
                </a:solidFill>
                <a:latin typeface="Aptos Display"/>
              </a:rPr>
              <a:t>01</a:t>
            </a:r>
          </a:p>
        </p:txBody>
      </p:sp>
      <p:sp>
        <p:nvSpPr>
          <p:cNvPr id="12" name="TextBox 11"/>
          <p:cNvSpPr txBox="1"/>
          <p:nvPr/>
        </p:nvSpPr>
        <p:spPr>
          <a:xfrm>
            <a:off x="822960" y="3520440"/>
            <a:ext cx="1611172" cy="868680"/>
          </a:xfrm>
          <a:prstGeom prst="rect">
            <a:avLst/>
          </a:prstGeom>
          <a:noFill/>
        </p:spPr>
        <p:txBody>
          <a:bodyPr wrap="square" lIns="0" rIns="0" tIns="0" bIns="0" anchor="t">
            <a:spAutoFit/>
          </a:bodyPr>
          <a:lstStyle/>
          <a:p>
            <a:pPr algn="l">
              <a:lnSpc>
                <a:spcPct val="105000"/>
              </a:lnSpc>
            </a:pPr>
            <a:r>
              <a:rPr sz="1800" b="1" i="0">
                <a:solidFill>
                  <a:srgbClr val="17212B"/>
                </a:solidFill>
                <a:latin typeface="Aptos Display"/>
              </a:rPr>
              <a:t>Standard problems</a:t>
            </a:r>
          </a:p>
        </p:txBody>
      </p:sp>
      <p:sp>
        <p:nvSpPr>
          <p:cNvPr id="13" name="TextBox 12"/>
          <p:cNvSpPr txBox="1"/>
          <p:nvPr/>
        </p:nvSpPr>
        <p:spPr>
          <a:xfrm>
            <a:off x="822960" y="4617720"/>
            <a:ext cx="1611172" cy="1097280"/>
          </a:xfrm>
          <a:prstGeom prst="rect">
            <a:avLst/>
          </a:prstGeom>
          <a:noFill/>
        </p:spPr>
        <p:txBody>
          <a:bodyPr wrap="square" lIns="0" rIns="0" tIns="0" bIns="0" anchor="t">
            <a:spAutoFit/>
          </a:bodyPr>
          <a:lstStyle/>
          <a:p>
            <a:pPr algn="l"/>
            <a:r>
              <a:rPr sz="1150" b="0" i="0">
                <a:solidFill>
                  <a:srgbClr val="5A6675"/>
                </a:solidFill>
                <a:latin typeface="Aptos"/>
              </a:rPr>
              <a:t>A curated set of well-defined design tasks.</a:t>
            </a:r>
          </a:p>
        </p:txBody>
      </p:sp>
      <p:sp>
        <p:nvSpPr>
          <p:cNvPr id="14" name="Rectangle 13"/>
          <p:cNvSpPr/>
          <p:nvPr/>
        </p:nvSpPr>
        <p:spPr>
          <a:xfrm>
            <a:off x="2827324" y="2194560"/>
            <a:ext cx="2068372" cy="3611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27324" y="2194560"/>
            <a:ext cx="2068372" cy="73152"/>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55924" y="2514600"/>
            <a:ext cx="1611172" cy="914400"/>
          </a:xfrm>
          <a:prstGeom prst="rect">
            <a:avLst/>
          </a:prstGeom>
          <a:noFill/>
        </p:spPr>
        <p:txBody>
          <a:bodyPr wrap="square" lIns="0" rIns="0" tIns="0" bIns="0" anchor="t">
            <a:spAutoFit/>
          </a:bodyPr>
          <a:lstStyle/>
          <a:p>
            <a:pPr algn="l"/>
            <a:r>
              <a:rPr sz="4600" b="1" i="0">
                <a:solidFill>
                  <a:srgbClr val="2F7D62"/>
                </a:solidFill>
                <a:latin typeface="Aptos Display"/>
              </a:rPr>
              <a:t>02</a:t>
            </a:r>
          </a:p>
        </p:txBody>
      </p:sp>
      <p:sp>
        <p:nvSpPr>
          <p:cNvPr id="17" name="TextBox 16"/>
          <p:cNvSpPr txBox="1"/>
          <p:nvPr/>
        </p:nvSpPr>
        <p:spPr>
          <a:xfrm>
            <a:off x="3055924" y="3520440"/>
            <a:ext cx="1611172" cy="868680"/>
          </a:xfrm>
          <a:prstGeom prst="rect">
            <a:avLst/>
          </a:prstGeom>
          <a:noFill/>
        </p:spPr>
        <p:txBody>
          <a:bodyPr wrap="square" lIns="0" rIns="0" tIns="0" bIns="0" anchor="t">
            <a:spAutoFit/>
          </a:bodyPr>
          <a:lstStyle/>
          <a:p>
            <a:pPr algn="l">
              <a:lnSpc>
                <a:spcPct val="105000"/>
              </a:lnSpc>
            </a:pPr>
            <a:r>
              <a:rPr sz="1800" b="1" i="0">
                <a:solidFill>
                  <a:srgbClr val="17212B"/>
                </a:solidFill>
                <a:latin typeface="Aptos Display"/>
              </a:rPr>
              <a:t>Shared simulators</a:t>
            </a:r>
          </a:p>
        </p:txBody>
      </p:sp>
      <p:sp>
        <p:nvSpPr>
          <p:cNvPr id="18" name="TextBox 17"/>
          <p:cNvSpPr txBox="1"/>
          <p:nvPr/>
        </p:nvSpPr>
        <p:spPr>
          <a:xfrm>
            <a:off x="3055924" y="4617720"/>
            <a:ext cx="1611172" cy="1097280"/>
          </a:xfrm>
          <a:prstGeom prst="rect">
            <a:avLst/>
          </a:prstGeom>
          <a:noFill/>
        </p:spPr>
        <p:txBody>
          <a:bodyPr wrap="square" lIns="0" rIns="0" tIns="0" bIns="0" anchor="t">
            <a:spAutoFit/>
          </a:bodyPr>
          <a:lstStyle/>
          <a:p>
            <a:pPr algn="l"/>
            <a:r>
              <a:rPr sz="1150" b="0" i="0">
                <a:solidFill>
                  <a:srgbClr val="5A6675"/>
                </a:solidFill>
                <a:latin typeface="Aptos"/>
              </a:rPr>
              <a:t>Installable, deterministic, citable.</a:t>
            </a:r>
          </a:p>
        </p:txBody>
      </p:sp>
      <p:sp>
        <p:nvSpPr>
          <p:cNvPr id="19" name="Rectangle 18"/>
          <p:cNvSpPr/>
          <p:nvPr/>
        </p:nvSpPr>
        <p:spPr>
          <a:xfrm>
            <a:off x="5060289" y="2194560"/>
            <a:ext cx="2068372" cy="3611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60289" y="2194560"/>
            <a:ext cx="2068372" cy="73152"/>
          </a:xfrm>
          <a:prstGeom prst="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88889" y="2514600"/>
            <a:ext cx="1611172" cy="914400"/>
          </a:xfrm>
          <a:prstGeom prst="rect">
            <a:avLst/>
          </a:prstGeom>
          <a:noFill/>
        </p:spPr>
        <p:txBody>
          <a:bodyPr wrap="square" lIns="0" rIns="0" tIns="0" bIns="0" anchor="t">
            <a:spAutoFit/>
          </a:bodyPr>
          <a:lstStyle/>
          <a:p>
            <a:pPr algn="l"/>
            <a:r>
              <a:rPr sz="4600" b="1" i="0">
                <a:solidFill>
                  <a:srgbClr val="C47B20"/>
                </a:solidFill>
                <a:latin typeface="Aptos Display"/>
              </a:rPr>
              <a:t>03</a:t>
            </a:r>
          </a:p>
        </p:txBody>
      </p:sp>
      <p:sp>
        <p:nvSpPr>
          <p:cNvPr id="22" name="TextBox 21"/>
          <p:cNvSpPr txBox="1"/>
          <p:nvPr/>
        </p:nvSpPr>
        <p:spPr>
          <a:xfrm>
            <a:off x="5288889" y="3520440"/>
            <a:ext cx="1611172" cy="868680"/>
          </a:xfrm>
          <a:prstGeom prst="rect">
            <a:avLst/>
          </a:prstGeom>
          <a:noFill/>
        </p:spPr>
        <p:txBody>
          <a:bodyPr wrap="square" lIns="0" rIns="0" tIns="0" bIns="0" anchor="t">
            <a:spAutoFit/>
          </a:bodyPr>
          <a:lstStyle/>
          <a:p>
            <a:pPr algn="l">
              <a:lnSpc>
                <a:spcPct val="105000"/>
              </a:lnSpc>
            </a:pPr>
            <a:r>
              <a:rPr sz="1800" b="1" i="0">
                <a:solidFill>
                  <a:srgbClr val="17212B"/>
                </a:solidFill>
                <a:latin typeface="Aptos Display"/>
              </a:rPr>
              <a:t>Curated datasets</a:t>
            </a:r>
          </a:p>
        </p:txBody>
      </p:sp>
      <p:sp>
        <p:nvSpPr>
          <p:cNvPr id="23" name="TextBox 22"/>
          <p:cNvSpPr txBox="1"/>
          <p:nvPr/>
        </p:nvSpPr>
        <p:spPr>
          <a:xfrm>
            <a:off x="5288889" y="4617720"/>
            <a:ext cx="1611172" cy="1097280"/>
          </a:xfrm>
          <a:prstGeom prst="rect">
            <a:avLst/>
          </a:prstGeom>
          <a:noFill/>
        </p:spPr>
        <p:txBody>
          <a:bodyPr wrap="square" lIns="0" rIns="0" tIns="0" bIns="0" anchor="t">
            <a:spAutoFit/>
          </a:bodyPr>
          <a:lstStyle/>
          <a:p>
            <a:pPr algn="l"/>
            <a:r>
              <a:rPr sz="1150" b="0" i="0">
                <a:solidFill>
                  <a:srgbClr val="5A6675"/>
                </a:solidFill>
                <a:latin typeface="Aptos"/>
              </a:rPr>
              <a:t>Optimized designs + conditions + metadata, pre-split.</a:t>
            </a:r>
          </a:p>
        </p:txBody>
      </p:sp>
      <p:sp>
        <p:nvSpPr>
          <p:cNvPr id="24" name="Rectangle 23"/>
          <p:cNvSpPr/>
          <p:nvPr/>
        </p:nvSpPr>
        <p:spPr>
          <a:xfrm>
            <a:off x="7293254" y="2194560"/>
            <a:ext cx="2068372" cy="3611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93254" y="2194560"/>
            <a:ext cx="2068372" cy="73152"/>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21854" y="2514600"/>
            <a:ext cx="1611172" cy="914400"/>
          </a:xfrm>
          <a:prstGeom prst="rect">
            <a:avLst/>
          </a:prstGeom>
          <a:noFill/>
        </p:spPr>
        <p:txBody>
          <a:bodyPr wrap="square" lIns="0" rIns="0" tIns="0" bIns="0" anchor="t">
            <a:spAutoFit/>
          </a:bodyPr>
          <a:lstStyle/>
          <a:p>
            <a:pPr algn="l"/>
            <a:r>
              <a:rPr sz="4600" b="1" i="0">
                <a:solidFill>
                  <a:srgbClr val="C84837"/>
                </a:solidFill>
                <a:latin typeface="Aptos Display"/>
              </a:rPr>
              <a:t>04</a:t>
            </a:r>
          </a:p>
        </p:txBody>
      </p:sp>
      <p:sp>
        <p:nvSpPr>
          <p:cNvPr id="27" name="TextBox 26"/>
          <p:cNvSpPr txBox="1"/>
          <p:nvPr/>
        </p:nvSpPr>
        <p:spPr>
          <a:xfrm>
            <a:off x="7521854" y="3520440"/>
            <a:ext cx="1611172" cy="868680"/>
          </a:xfrm>
          <a:prstGeom prst="rect">
            <a:avLst/>
          </a:prstGeom>
          <a:noFill/>
        </p:spPr>
        <p:txBody>
          <a:bodyPr wrap="square" lIns="0" rIns="0" tIns="0" bIns="0" anchor="t">
            <a:spAutoFit/>
          </a:bodyPr>
          <a:lstStyle/>
          <a:p>
            <a:pPr algn="l">
              <a:lnSpc>
                <a:spcPct val="105000"/>
              </a:lnSpc>
            </a:pPr>
            <a:r>
              <a:rPr sz="1800" b="1" i="0">
                <a:solidFill>
                  <a:srgbClr val="17212B"/>
                </a:solidFill>
                <a:latin typeface="Aptos Display"/>
              </a:rPr>
              <a:t>Multi-faceted metrics</a:t>
            </a:r>
          </a:p>
        </p:txBody>
      </p:sp>
      <p:sp>
        <p:nvSpPr>
          <p:cNvPr id="28" name="TextBox 27"/>
          <p:cNvSpPr txBox="1"/>
          <p:nvPr/>
        </p:nvSpPr>
        <p:spPr>
          <a:xfrm>
            <a:off x="7521854" y="4617720"/>
            <a:ext cx="1611172" cy="1097280"/>
          </a:xfrm>
          <a:prstGeom prst="rect">
            <a:avLst/>
          </a:prstGeom>
          <a:noFill/>
        </p:spPr>
        <p:txBody>
          <a:bodyPr wrap="square" lIns="0" rIns="0" tIns="0" bIns="0" anchor="t">
            <a:spAutoFit/>
          </a:bodyPr>
          <a:lstStyle/>
          <a:p>
            <a:pPr algn="l"/>
            <a:r>
              <a:rPr sz="1150" b="0" i="0">
                <a:solidFill>
                  <a:srgbClr val="5A6675"/>
                </a:solidFill>
                <a:latin typeface="Aptos"/>
              </a:rPr>
              <a:t>Feasibility, gap, diversity, novelty, warm-start.</a:t>
            </a:r>
          </a:p>
        </p:txBody>
      </p:sp>
      <p:sp>
        <p:nvSpPr>
          <p:cNvPr id="29" name="Rectangle 28"/>
          <p:cNvSpPr/>
          <p:nvPr/>
        </p:nvSpPr>
        <p:spPr>
          <a:xfrm>
            <a:off x="9526219" y="2194560"/>
            <a:ext cx="2068372" cy="3611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26219" y="2194560"/>
            <a:ext cx="2068372" cy="73152"/>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54819" y="2514600"/>
            <a:ext cx="1611172" cy="914400"/>
          </a:xfrm>
          <a:prstGeom prst="rect">
            <a:avLst/>
          </a:prstGeom>
          <a:noFill/>
        </p:spPr>
        <p:txBody>
          <a:bodyPr wrap="square" lIns="0" rIns="0" tIns="0" bIns="0" anchor="t">
            <a:spAutoFit/>
          </a:bodyPr>
          <a:lstStyle/>
          <a:p>
            <a:pPr algn="l"/>
            <a:r>
              <a:rPr sz="4600" b="1" i="0">
                <a:solidFill>
                  <a:srgbClr val="225E9B"/>
                </a:solidFill>
                <a:latin typeface="Aptos Display"/>
              </a:rPr>
              <a:t>05</a:t>
            </a:r>
          </a:p>
        </p:txBody>
      </p:sp>
      <p:sp>
        <p:nvSpPr>
          <p:cNvPr id="32" name="TextBox 31"/>
          <p:cNvSpPr txBox="1"/>
          <p:nvPr/>
        </p:nvSpPr>
        <p:spPr>
          <a:xfrm>
            <a:off x="9754819" y="3520440"/>
            <a:ext cx="1611172" cy="868680"/>
          </a:xfrm>
          <a:prstGeom prst="rect">
            <a:avLst/>
          </a:prstGeom>
          <a:noFill/>
        </p:spPr>
        <p:txBody>
          <a:bodyPr wrap="square" lIns="0" rIns="0" tIns="0" bIns="0" anchor="t">
            <a:spAutoFit/>
          </a:bodyPr>
          <a:lstStyle/>
          <a:p>
            <a:pPr algn="l">
              <a:lnSpc>
                <a:spcPct val="105000"/>
              </a:lnSpc>
            </a:pPr>
            <a:r>
              <a:rPr sz="1800" b="1" i="0">
                <a:solidFill>
                  <a:srgbClr val="17212B"/>
                </a:solidFill>
                <a:latin typeface="Aptos Display"/>
              </a:rPr>
              <a:t>Reproducible runners</a:t>
            </a:r>
          </a:p>
        </p:txBody>
      </p:sp>
      <p:sp>
        <p:nvSpPr>
          <p:cNvPr id="33" name="TextBox 32"/>
          <p:cNvSpPr txBox="1"/>
          <p:nvPr/>
        </p:nvSpPr>
        <p:spPr>
          <a:xfrm>
            <a:off x="9754819" y="4617720"/>
            <a:ext cx="1611172" cy="1097280"/>
          </a:xfrm>
          <a:prstGeom prst="rect">
            <a:avLst/>
          </a:prstGeom>
          <a:noFill/>
        </p:spPr>
        <p:txBody>
          <a:bodyPr wrap="square" lIns="0" rIns="0" tIns="0" bIns="0" anchor="t">
            <a:spAutoFit/>
          </a:bodyPr>
          <a:lstStyle/>
          <a:p>
            <a:pPr algn="l"/>
            <a:r>
              <a:rPr sz="1150" b="0" i="0">
                <a:solidFill>
                  <a:srgbClr val="5A6675"/>
                </a:solidFill>
                <a:latin typeface="Aptos"/>
              </a:rPr>
              <a:t>One harness for training and evaluation.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What the field needs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EVALUATION, PROPERLY SCOPED</a:t>
            </a:r>
          </a:p>
        </p:txBody>
      </p:sp>
      <p:sp>
        <p:nvSpPr>
          <p:cNvPr id="7" name="TextBox 6"/>
          <p:cNvSpPr txBox="1"/>
          <p:nvPr/>
        </p:nvSpPr>
        <p:spPr>
          <a:xfrm>
            <a:off x="594360" y="731520"/>
            <a:ext cx="10972800" cy="914400"/>
          </a:xfrm>
          <a:prstGeom prst="rect">
            <a:avLst/>
          </a:prstGeom>
          <a:noFill/>
        </p:spPr>
        <p:txBody>
          <a:bodyPr wrap="square" lIns="0" rIns="0" tIns="0" bIns="0" anchor="t">
            <a:spAutoFit/>
          </a:bodyPr>
          <a:lstStyle/>
          <a:p>
            <a:pPr algn="l"/>
            <a:r>
              <a:rPr sz="2200" b="1" i="0">
                <a:solidFill>
                  <a:srgbClr val="17212B"/>
                </a:solidFill>
                <a:latin typeface="Aptos Display"/>
              </a:rPr>
              <a:t>Engineering quality has many axes. A single scalar will betray you.</a:t>
            </a:r>
          </a:p>
        </p:txBody>
      </p:sp>
      <p:sp>
        <p:nvSpPr>
          <p:cNvPr id="8" name="Oval 7"/>
          <p:cNvSpPr/>
          <p:nvPr/>
        </p:nvSpPr>
        <p:spPr>
          <a:xfrm>
            <a:off x="3185160" y="3596640"/>
            <a:ext cx="1310640" cy="1310640"/>
          </a:xfrm>
          <a:prstGeom prst="ellipse">
            <a:avLst/>
          </a:prstGeom>
          <a:no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529840" y="2941320"/>
            <a:ext cx="2621280" cy="2621280"/>
          </a:xfrm>
          <a:prstGeom prst="ellipse">
            <a:avLst/>
          </a:prstGeom>
          <a:no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74520" y="2286000"/>
            <a:ext cx="3931920" cy="3931920"/>
          </a:xfrm>
          <a:prstGeom prst="ellipse">
            <a:avLst/>
          </a:prstGeom>
          <a:no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3840480" y="2286000"/>
            <a:ext cx="0" cy="1965960"/>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651760" y="1714500"/>
            <a:ext cx="2377440" cy="320040"/>
          </a:xfrm>
          <a:prstGeom prst="rect">
            <a:avLst/>
          </a:prstGeom>
          <a:noFill/>
        </p:spPr>
        <p:txBody>
          <a:bodyPr wrap="square" lIns="0" rIns="0" tIns="0" bIns="0" anchor="ctr">
            <a:spAutoFit/>
          </a:bodyPr>
          <a:lstStyle/>
          <a:p>
            <a:pPr algn="ctr"/>
            <a:r>
              <a:rPr sz="1200" b="1" i="0">
                <a:solidFill>
                  <a:srgbClr val="17212B"/>
                </a:solidFill>
                <a:latin typeface="Aptos"/>
              </a:rPr>
              <a:t>Feasibility</a:t>
            </a:r>
          </a:p>
        </p:txBody>
      </p:sp>
      <p:cxnSp>
        <p:nvCxnSpPr>
          <p:cNvPr id="13" name="Connector 12"/>
          <p:cNvCxnSpPr/>
          <p:nvPr/>
        </p:nvCxnSpPr>
        <p:spPr>
          <a:xfrm flipV="1">
            <a:off x="3840480" y="3644444"/>
            <a:ext cx="1869739" cy="607516"/>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12839" y="3357270"/>
            <a:ext cx="2377440" cy="320040"/>
          </a:xfrm>
          <a:prstGeom prst="rect">
            <a:avLst/>
          </a:prstGeom>
          <a:noFill/>
        </p:spPr>
        <p:txBody>
          <a:bodyPr wrap="square" lIns="0" rIns="0" tIns="0" bIns="0" anchor="ctr">
            <a:spAutoFit/>
          </a:bodyPr>
          <a:lstStyle/>
          <a:p>
            <a:pPr algn="ctr"/>
            <a:r>
              <a:rPr sz="1200" b="1" i="0">
                <a:solidFill>
                  <a:srgbClr val="17212B"/>
                </a:solidFill>
                <a:latin typeface="Aptos"/>
              </a:rPr>
              <a:t>Performance</a:t>
            </a:r>
          </a:p>
        </p:txBody>
      </p:sp>
      <p:cxnSp>
        <p:nvCxnSpPr>
          <p:cNvPr id="15" name="Connector 14"/>
          <p:cNvCxnSpPr/>
          <p:nvPr/>
        </p:nvCxnSpPr>
        <p:spPr>
          <a:xfrm>
            <a:off x="3840480" y="4251960"/>
            <a:ext cx="1155562" cy="1590495"/>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049184" y="6015329"/>
            <a:ext cx="2377440" cy="320040"/>
          </a:xfrm>
          <a:prstGeom prst="rect">
            <a:avLst/>
          </a:prstGeom>
          <a:noFill/>
        </p:spPr>
        <p:txBody>
          <a:bodyPr wrap="square" lIns="0" rIns="0" tIns="0" bIns="0" anchor="ctr">
            <a:spAutoFit/>
          </a:bodyPr>
          <a:lstStyle/>
          <a:p>
            <a:pPr algn="ctr"/>
            <a:r>
              <a:rPr sz="1200" b="1" i="0">
                <a:solidFill>
                  <a:srgbClr val="17212B"/>
                </a:solidFill>
                <a:latin typeface="Aptos"/>
              </a:rPr>
              <a:t>Diversity</a:t>
            </a:r>
          </a:p>
        </p:txBody>
      </p:sp>
      <p:cxnSp>
        <p:nvCxnSpPr>
          <p:cNvPr id="17" name="Connector 16"/>
          <p:cNvCxnSpPr/>
          <p:nvPr/>
        </p:nvCxnSpPr>
        <p:spPr>
          <a:xfrm flipH="1">
            <a:off x="2684917" y="4251960"/>
            <a:ext cx="1155563" cy="1590495"/>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254335" y="6015329"/>
            <a:ext cx="2377440" cy="320040"/>
          </a:xfrm>
          <a:prstGeom prst="rect">
            <a:avLst/>
          </a:prstGeom>
          <a:noFill/>
        </p:spPr>
        <p:txBody>
          <a:bodyPr wrap="square" lIns="0" rIns="0" tIns="0" bIns="0" anchor="ctr">
            <a:spAutoFit/>
          </a:bodyPr>
          <a:lstStyle/>
          <a:p>
            <a:pPr algn="ctr"/>
            <a:r>
              <a:rPr sz="1200" b="1" i="0">
                <a:solidFill>
                  <a:srgbClr val="17212B"/>
                </a:solidFill>
                <a:latin typeface="Aptos"/>
              </a:rPr>
              <a:t>Novelty</a:t>
            </a:r>
          </a:p>
        </p:txBody>
      </p:sp>
      <p:cxnSp>
        <p:nvCxnSpPr>
          <p:cNvPr id="19" name="Connector 18"/>
          <p:cNvCxnSpPr/>
          <p:nvPr/>
        </p:nvCxnSpPr>
        <p:spPr>
          <a:xfrm flipH="1" flipV="1">
            <a:off x="1970740" y="3644444"/>
            <a:ext cx="1869740" cy="607516"/>
          </a:xfrm>
          <a:prstGeom prst="line">
            <a:avLst/>
          </a:prstGeom>
          <a:ln w="9525">
            <a:solidFill>
              <a:srgbClr val="C8CED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90680" y="3357270"/>
            <a:ext cx="2377440" cy="320040"/>
          </a:xfrm>
          <a:prstGeom prst="rect">
            <a:avLst/>
          </a:prstGeom>
          <a:noFill/>
        </p:spPr>
        <p:txBody>
          <a:bodyPr wrap="square" lIns="0" rIns="0" tIns="0" bIns="0" anchor="ctr">
            <a:spAutoFit/>
          </a:bodyPr>
          <a:lstStyle/>
          <a:p>
            <a:pPr algn="ctr"/>
            <a:r>
              <a:rPr sz="1200" b="1" i="0">
                <a:solidFill>
                  <a:srgbClr val="17212B"/>
                </a:solidFill>
                <a:latin typeface="Aptos"/>
              </a:rPr>
              <a:t>Warm-start</a:t>
            </a:r>
          </a:p>
        </p:txBody>
      </p:sp>
      <p:sp>
        <p:nvSpPr>
          <p:cNvPr id="9999" name="Polygon"/>
          <p:cNvSpPr/>
          <p:nvPr/>
        </p:nvSpPr>
        <p:spPr>
          <a:xfrm>
            <a:off x="2344688" y="2580894"/>
            <a:ext cx="2711122" cy="2911652"/>
          </a:xfrm>
          <a:custGeom>
            <a:avLst/>
            <a:gdLst/>
            <a:ahLst/>
            <a:cxnLst/>
            <a:rect l="0" t="0" r="r" b="b"/>
            <a:pathLst>
              <a:path w="2711122" h="2911652">
                <a:moveTo>
                  <a:pt x="1495792" y="0"/>
                </a:moveTo>
                <a:lnTo>
                  <a:pt x="2711122" y="1276181"/>
                </a:lnTo>
                <a:lnTo>
                  <a:pt x="2397130" y="2911652"/>
                </a:lnTo>
                <a:lnTo>
                  <a:pt x="860232" y="2545838"/>
                </a:lnTo>
                <a:lnTo>
                  <a:pt x="0" y="1185053"/>
                </a:lnTo>
                <a:close/>
              </a:path>
            </a:pathLst>
          </a:custGeom>
          <a:solidFill>
            <a:srgbClr val="D7E8F6"/>
          </a:solidFill>
          <a:ln w="25400">
            <a:solidFill>
              <a:srgbClr val="225E9B"/>
            </a:solidFill>
          </a:ln>
        </p:spPr>
      </p:sp>
      <p:sp>
        <p:nvSpPr>
          <p:cNvPr id="10000" name="Rectangle 9999"/>
          <p:cNvSpPr/>
          <p:nvPr/>
        </p:nvSpPr>
        <p:spPr>
          <a:xfrm>
            <a:off x="7315200" y="2194560"/>
            <a:ext cx="128016" cy="59436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1" name="TextBox 10000"/>
          <p:cNvSpPr txBox="1"/>
          <p:nvPr/>
        </p:nvSpPr>
        <p:spPr>
          <a:xfrm>
            <a:off x="7589520" y="2231136"/>
            <a:ext cx="4069080" cy="274320"/>
          </a:xfrm>
          <a:prstGeom prst="rect">
            <a:avLst/>
          </a:prstGeom>
          <a:noFill/>
        </p:spPr>
        <p:txBody>
          <a:bodyPr wrap="square" lIns="0" rIns="0" tIns="0" bIns="0" anchor="t">
            <a:spAutoFit/>
          </a:bodyPr>
          <a:lstStyle/>
          <a:p>
            <a:pPr algn="l"/>
            <a:r>
              <a:rPr sz="1350" b="1" i="0">
                <a:solidFill>
                  <a:srgbClr val="17212B"/>
                </a:solidFill>
                <a:latin typeface="Aptos"/>
              </a:rPr>
              <a:t>Feasibility</a:t>
            </a:r>
          </a:p>
        </p:txBody>
      </p:sp>
      <p:sp>
        <p:nvSpPr>
          <p:cNvPr id="10002" name="TextBox 10001"/>
          <p:cNvSpPr txBox="1"/>
          <p:nvPr/>
        </p:nvSpPr>
        <p:spPr>
          <a:xfrm>
            <a:off x="7589520" y="2523744"/>
            <a:ext cx="4069080" cy="274320"/>
          </a:xfrm>
          <a:prstGeom prst="rect">
            <a:avLst/>
          </a:prstGeom>
          <a:noFill/>
        </p:spPr>
        <p:txBody>
          <a:bodyPr wrap="square" lIns="0" rIns="0" tIns="0" bIns="0" anchor="t">
            <a:spAutoFit/>
          </a:bodyPr>
          <a:lstStyle/>
          <a:p>
            <a:pPr algn="l"/>
            <a:r>
              <a:rPr sz="1050" b="0" i="0">
                <a:solidFill>
                  <a:srgbClr val="5A6675"/>
                </a:solidFill>
                <a:latin typeface="Aptos"/>
              </a:rPr>
              <a:t>Constraints actually satisfied.</a:t>
            </a:r>
          </a:p>
        </p:txBody>
      </p:sp>
      <p:sp>
        <p:nvSpPr>
          <p:cNvPr id="10003" name="Rectangle 10002"/>
          <p:cNvSpPr/>
          <p:nvPr/>
        </p:nvSpPr>
        <p:spPr>
          <a:xfrm>
            <a:off x="7315200" y="2971800"/>
            <a:ext cx="128016" cy="594360"/>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4" name="TextBox 10003"/>
          <p:cNvSpPr txBox="1"/>
          <p:nvPr/>
        </p:nvSpPr>
        <p:spPr>
          <a:xfrm>
            <a:off x="7589520" y="3008376"/>
            <a:ext cx="4069080" cy="274320"/>
          </a:xfrm>
          <a:prstGeom prst="rect">
            <a:avLst/>
          </a:prstGeom>
          <a:noFill/>
        </p:spPr>
        <p:txBody>
          <a:bodyPr wrap="square" lIns="0" rIns="0" tIns="0" bIns="0" anchor="t">
            <a:spAutoFit/>
          </a:bodyPr>
          <a:lstStyle/>
          <a:p>
            <a:pPr algn="l"/>
            <a:r>
              <a:rPr sz="1350" b="1" i="0">
                <a:solidFill>
                  <a:srgbClr val="17212B"/>
                </a:solidFill>
                <a:latin typeface="Aptos"/>
              </a:rPr>
              <a:t>Performance</a:t>
            </a:r>
          </a:p>
        </p:txBody>
      </p:sp>
      <p:sp>
        <p:nvSpPr>
          <p:cNvPr id="10005" name="TextBox 10004"/>
          <p:cNvSpPr txBox="1"/>
          <p:nvPr/>
        </p:nvSpPr>
        <p:spPr>
          <a:xfrm>
            <a:off x="7589520" y="3300984"/>
            <a:ext cx="4069080" cy="274320"/>
          </a:xfrm>
          <a:prstGeom prst="rect">
            <a:avLst/>
          </a:prstGeom>
          <a:noFill/>
        </p:spPr>
        <p:txBody>
          <a:bodyPr wrap="square" lIns="0" rIns="0" tIns="0" bIns="0" anchor="t">
            <a:spAutoFit/>
          </a:bodyPr>
          <a:lstStyle/>
          <a:p>
            <a:pPr algn="l"/>
            <a:r>
              <a:rPr sz="1050" b="0" i="0">
                <a:solidFill>
                  <a:srgbClr val="5A6675"/>
                </a:solidFill>
                <a:latin typeface="Aptos"/>
              </a:rPr>
              <a:t>Sim score vs. optimizer baseline.</a:t>
            </a:r>
          </a:p>
        </p:txBody>
      </p:sp>
      <p:sp>
        <p:nvSpPr>
          <p:cNvPr id="10006" name="Rectangle 10005"/>
          <p:cNvSpPr/>
          <p:nvPr/>
        </p:nvSpPr>
        <p:spPr>
          <a:xfrm>
            <a:off x="7315200" y="3749040"/>
            <a:ext cx="128016" cy="594360"/>
          </a:xfrm>
          <a:prstGeom prst="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7" name="TextBox 10006"/>
          <p:cNvSpPr txBox="1"/>
          <p:nvPr/>
        </p:nvSpPr>
        <p:spPr>
          <a:xfrm>
            <a:off x="7589520" y="3785616"/>
            <a:ext cx="4069080" cy="274320"/>
          </a:xfrm>
          <a:prstGeom prst="rect">
            <a:avLst/>
          </a:prstGeom>
          <a:noFill/>
        </p:spPr>
        <p:txBody>
          <a:bodyPr wrap="square" lIns="0" rIns="0" tIns="0" bIns="0" anchor="t">
            <a:spAutoFit/>
          </a:bodyPr>
          <a:lstStyle/>
          <a:p>
            <a:pPr algn="l"/>
            <a:r>
              <a:rPr sz="1350" b="1" i="0">
                <a:solidFill>
                  <a:srgbClr val="17212B"/>
                </a:solidFill>
                <a:latin typeface="Aptos"/>
              </a:rPr>
              <a:t>Diversity</a:t>
            </a:r>
          </a:p>
        </p:txBody>
      </p:sp>
      <p:sp>
        <p:nvSpPr>
          <p:cNvPr id="10008" name="TextBox 10007"/>
          <p:cNvSpPr txBox="1"/>
          <p:nvPr/>
        </p:nvSpPr>
        <p:spPr>
          <a:xfrm>
            <a:off x="7589520" y="4078224"/>
            <a:ext cx="4069080" cy="274320"/>
          </a:xfrm>
          <a:prstGeom prst="rect">
            <a:avLst/>
          </a:prstGeom>
          <a:noFill/>
        </p:spPr>
        <p:txBody>
          <a:bodyPr wrap="square" lIns="0" rIns="0" tIns="0" bIns="0" anchor="t">
            <a:spAutoFit/>
          </a:bodyPr>
          <a:lstStyle/>
          <a:p>
            <a:pPr algn="l"/>
            <a:r>
              <a:rPr sz="1050" b="0" i="0">
                <a:solidFill>
                  <a:srgbClr val="5A6675"/>
                </a:solidFill>
                <a:latin typeface="Aptos"/>
              </a:rPr>
              <a:t>Modes covered, not collapsed.</a:t>
            </a:r>
          </a:p>
        </p:txBody>
      </p:sp>
      <p:sp>
        <p:nvSpPr>
          <p:cNvPr id="10009" name="Rectangle 10008"/>
          <p:cNvSpPr/>
          <p:nvPr/>
        </p:nvSpPr>
        <p:spPr>
          <a:xfrm>
            <a:off x="7315200" y="4526280"/>
            <a:ext cx="128016" cy="594360"/>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0" name="TextBox 10009"/>
          <p:cNvSpPr txBox="1"/>
          <p:nvPr/>
        </p:nvSpPr>
        <p:spPr>
          <a:xfrm>
            <a:off x="7589520" y="4562856"/>
            <a:ext cx="4069080" cy="274320"/>
          </a:xfrm>
          <a:prstGeom prst="rect">
            <a:avLst/>
          </a:prstGeom>
          <a:noFill/>
        </p:spPr>
        <p:txBody>
          <a:bodyPr wrap="square" lIns="0" rIns="0" tIns="0" bIns="0" anchor="t">
            <a:spAutoFit/>
          </a:bodyPr>
          <a:lstStyle/>
          <a:p>
            <a:pPr algn="l"/>
            <a:r>
              <a:rPr sz="1350" b="1" i="0">
                <a:solidFill>
                  <a:srgbClr val="17212B"/>
                </a:solidFill>
                <a:latin typeface="Aptos"/>
              </a:rPr>
              <a:t>Novelty</a:t>
            </a:r>
          </a:p>
        </p:txBody>
      </p:sp>
      <p:sp>
        <p:nvSpPr>
          <p:cNvPr id="10011" name="TextBox 10010"/>
          <p:cNvSpPr txBox="1"/>
          <p:nvPr/>
        </p:nvSpPr>
        <p:spPr>
          <a:xfrm>
            <a:off x="7589520" y="4855464"/>
            <a:ext cx="4069080" cy="274320"/>
          </a:xfrm>
          <a:prstGeom prst="rect">
            <a:avLst/>
          </a:prstGeom>
          <a:noFill/>
        </p:spPr>
        <p:txBody>
          <a:bodyPr wrap="square" lIns="0" rIns="0" tIns="0" bIns="0" anchor="t">
            <a:spAutoFit/>
          </a:bodyPr>
          <a:lstStyle/>
          <a:p>
            <a:pPr algn="l"/>
            <a:r>
              <a:rPr sz="1050" b="0" i="0">
                <a:solidFill>
                  <a:srgbClr val="5A6675"/>
                </a:solidFill>
                <a:latin typeface="Aptos"/>
              </a:rPr>
              <a:t>New designs, not paraphrases.</a:t>
            </a:r>
          </a:p>
        </p:txBody>
      </p:sp>
      <p:sp>
        <p:nvSpPr>
          <p:cNvPr id="10012" name="Rectangle 10011"/>
          <p:cNvSpPr/>
          <p:nvPr/>
        </p:nvSpPr>
        <p:spPr>
          <a:xfrm>
            <a:off x="7315200" y="5303520"/>
            <a:ext cx="128016" cy="59436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3" name="TextBox 10012"/>
          <p:cNvSpPr txBox="1"/>
          <p:nvPr/>
        </p:nvSpPr>
        <p:spPr>
          <a:xfrm>
            <a:off x="7589520" y="5340096"/>
            <a:ext cx="4069080" cy="274320"/>
          </a:xfrm>
          <a:prstGeom prst="rect">
            <a:avLst/>
          </a:prstGeom>
          <a:noFill/>
        </p:spPr>
        <p:txBody>
          <a:bodyPr wrap="square" lIns="0" rIns="0" tIns="0" bIns="0" anchor="t">
            <a:spAutoFit/>
          </a:bodyPr>
          <a:lstStyle/>
          <a:p>
            <a:pPr algn="l"/>
            <a:r>
              <a:rPr sz="1350" b="1" i="0">
                <a:solidFill>
                  <a:srgbClr val="17212B"/>
                </a:solidFill>
                <a:latin typeface="Aptos"/>
              </a:rPr>
              <a:t>Warm-start</a:t>
            </a:r>
          </a:p>
        </p:txBody>
      </p:sp>
      <p:sp>
        <p:nvSpPr>
          <p:cNvPr id="10014" name="TextBox 10013"/>
          <p:cNvSpPr txBox="1"/>
          <p:nvPr/>
        </p:nvSpPr>
        <p:spPr>
          <a:xfrm>
            <a:off x="7589520" y="5632704"/>
            <a:ext cx="4069080" cy="274320"/>
          </a:xfrm>
          <a:prstGeom prst="rect">
            <a:avLst/>
          </a:prstGeom>
          <a:noFill/>
        </p:spPr>
        <p:txBody>
          <a:bodyPr wrap="square" lIns="0" rIns="0" tIns="0" bIns="0" anchor="t">
            <a:spAutoFit/>
          </a:bodyPr>
          <a:lstStyle/>
          <a:p>
            <a:pPr algn="l"/>
            <a:r>
              <a:rPr sz="1050" b="0" i="0">
                <a:solidFill>
                  <a:srgbClr val="5A6675"/>
                </a:solidFill>
                <a:latin typeface="Aptos"/>
              </a:rPr>
              <a:t>Does it help downstream search?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What the field needs</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DATASETS ALONE DO NOT BENCHMARK</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400" b="1" i="0">
                <a:solidFill>
                  <a:srgbClr val="17212B"/>
                </a:solidFill>
                <a:latin typeface="Aptos Display"/>
              </a:rPr>
              <a:t>Releasing the dataset is necessary, but not enough.</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300" b="0" i="1">
                <a:solidFill>
                  <a:srgbClr val="5A6675"/>
                </a:solidFill>
                <a:latin typeface="Aptos"/>
              </a:rPr>
              <a:t>Without the simulator and the scoring pipeline, you can display designs — you cannot score them.</a:t>
            </a:r>
          </a:p>
        </p:txBody>
      </p:sp>
      <p:sp>
        <p:nvSpPr>
          <p:cNvPr id="9" name="TextBox 8"/>
          <p:cNvSpPr txBox="1"/>
          <p:nvPr/>
        </p:nvSpPr>
        <p:spPr>
          <a:xfrm>
            <a:off x="594360" y="2103120"/>
            <a:ext cx="3200400" cy="274320"/>
          </a:xfrm>
          <a:prstGeom prst="rect">
            <a:avLst/>
          </a:prstGeom>
          <a:noFill/>
        </p:spPr>
        <p:txBody>
          <a:bodyPr wrap="square" lIns="0" rIns="0" tIns="0" bIns="0" anchor="t">
            <a:spAutoFit/>
          </a:bodyPr>
          <a:lstStyle/>
          <a:p>
            <a:pPr algn="l"/>
            <a:r>
              <a:rPr sz="1100" b="1" i="0">
                <a:solidFill>
                  <a:srgbClr val="C84837"/>
                </a:solidFill>
                <a:latin typeface="Aptos"/>
              </a:rPr>
              <a:t>DATASET ONLY</a:t>
            </a:r>
          </a:p>
        </p:txBody>
      </p:sp>
      <p:sp>
        <p:nvSpPr>
          <p:cNvPr id="10" name="Rectangle 9"/>
          <p:cNvSpPr/>
          <p:nvPr/>
        </p:nvSpPr>
        <p:spPr>
          <a:xfrm>
            <a:off x="594360" y="2468880"/>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468880"/>
            <a:ext cx="2103120" cy="73152"/>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971800"/>
            <a:ext cx="2103120" cy="365760"/>
          </a:xfrm>
          <a:prstGeom prst="rect">
            <a:avLst/>
          </a:prstGeom>
          <a:noFill/>
        </p:spPr>
        <p:txBody>
          <a:bodyPr wrap="square" lIns="0" rIns="0" tIns="0" bIns="0" anchor="ctr">
            <a:spAutoFit/>
          </a:bodyPr>
          <a:lstStyle/>
          <a:p>
            <a:pPr algn="ctr"/>
            <a:r>
              <a:rPr sz="1300" b="1" i="0">
                <a:solidFill>
                  <a:srgbClr val="17212B"/>
                </a:solidFill>
                <a:latin typeface="Aptos"/>
              </a:rPr>
              <a:t>Dataset</a:t>
            </a:r>
          </a:p>
        </p:txBody>
      </p:sp>
      <p:sp>
        <p:nvSpPr>
          <p:cNvPr id="13" name="Right Arrow 12"/>
          <p:cNvSpPr/>
          <p:nvPr/>
        </p:nvSpPr>
        <p:spPr>
          <a:xfrm>
            <a:off x="2880360" y="3017520"/>
            <a:ext cx="457200" cy="27432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2468880"/>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20440" y="2468880"/>
            <a:ext cx="2103120" cy="73152"/>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971800"/>
            <a:ext cx="2103120" cy="365760"/>
          </a:xfrm>
          <a:prstGeom prst="rect">
            <a:avLst/>
          </a:prstGeom>
          <a:noFill/>
        </p:spPr>
        <p:txBody>
          <a:bodyPr wrap="square" lIns="0" rIns="0" tIns="0" bIns="0" anchor="ctr">
            <a:spAutoFit/>
          </a:bodyPr>
          <a:lstStyle/>
          <a:p>
            <a:pPr algn="ctr"/>
            <a:r>
              <a:rPr sz="1300" b="1" i="0">
                <a:solidFill>
                  <a:srgbClr val="17212B"/>
                </a:solidFill>
                <a:latin typeface="Aptos"/>
              </a:rPr>
              <a:t>Trained model</a:t>
            </a:r>
          </a:p>
        </p:txBody>
      </p:sp>
      <p:sp>
        <p:nvSpPr>
          <p:cNvPr id="17" name="Right Arrow 16"/>
          <p:cNvSpPr/>
          <p:nvPr/>
        </p:nvSpPr>
        <p:spPr>
          <a:xfrm>
            <a:off x="5806440" y="3017520"/>
            <a:ext cx="457200" cy="27432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2468880"/>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46520" y="2468880"/>
            <a:ext cx="2103120" cy="73152"/>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2971800"/>
            <a:ext cx="2103120" cy="365760"/>
          </a:xfrm>
          <a:prstGeom prst="rect">
            <a:avLst/>
          </a:prstGeom>
          <a:noFill/>
        </p:spPr>
        <p:txBody>
          <a:bodyPr wrap="square" lIns="0" rIns="0" tIns="0" bIns="0" anchor="ctr">
            <a:spAutoFit/>
          </a:bodyPr>
          <a:lstStyle/>
          <a:p>
            <a:pPr algn="ctr"/>
            <a:r>
              <a:rPr sz="1300" b="1" i="0">
                <a:solidFill>
                  <a:srgbClr val="17212B"/>
                </a:solidFill>
                <a:latin typeface="Aptos"/>
              </a:rPr>
              <a:t>Generated design</a:t>
            </a:r>
          </a:p>
        </p:txBody>
      </p:sp>
      <p:sp>
        <p:nvSpPr>
          <p:cNvPr id="21" name="Right Arrow 20"/>
          <p:cNvSpPr/>
          <p:nvPr/>
        </p:nvSpPr>
        <p:spPr>
          <a:xfrm>
            <a:off x="8732520" y="3017520"/>
            <a:ext cx="457200" cy="27432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72600" y="2468880"/>
            <a:ext cx="3291840" cy="1371600"/>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2971800"/>
            <a:ext cx="3291840" cy="365760"/>
          </a:xfrm>
          <a:prstGeom prst="rect">
            <a:avLst/>
          </a:prstGeom>
          <a:noFill/>
        </p:spPr>
        <p:txBody>
          <a:bodyPr wrap="square" lIns="0" rIns="0" tIns="0" bIns="0" anchor="ctr">
            <a:spAutoFit/>
          </a:bodyPr>
          <a:lstStyle/>
          <a:p>
            <a:pPr algn="ctr"/>
            <a:r>
              <a:rPr sz="1300" b="1" i="0">
                <a:solidFill>
                  <a:srgbClr val="FFFFFF"/>
                </a:solidFill>
                <a:latin typeface="Aptos"/>
              </a:rPr>
              <a:t>Display only</a:t>
            </a:r>
          </a:p>
        </p:txBody>
      </p:sp>
      <p:sp>
        <p:nvSpPr>
          <p:cNvPr id="24" name="TextBox 23"/>
          <p:cNvSpPr txBox="1"/>
          <p:nvPr/>
        </p:nvSpPr>
        <p:spPr>
          <a:xfrm>
            <a:off x="594360" y="4206240"/>
            <a:ext cx="3200400" cy="274320"/>
          </a:xfrm>
          <a:prstGeom prst="rect">
            <a:avLst/>
          </a:prstGeom>
          <a:noFill/>
        </p:spPr>
        <p:txBody>
          <a:bodyPr wrap="square" lIns="0" rIns="0" tIns="0" bIns="0" anchor="t">
            <a:spAutoFit/>
          </a:bodyPr>
          <a:lstStyle/>
          <a:p>
            <a:pPr algn="l"/>
            <a:r>
              <a:rPr sz="1100" b="1" i="0">
                <a:solidFill>
                  <a:srgbClr val="2F7D62"/>
                </a:solidFill>
                <a:latin typeface="Aptos"/>
              </a:rPr>
              <a:t>DATASET + SIMULATOR + SCORING</a:t>
            </a:r>
          </a:p>
        </p:txBody>
      </p:sp>
      <p:sp>
        <p:nvSpPr>
          <p:cNvPr id="25" name="Rectangle 24"/>
          <p:cNvSpPr/>
          <p:nvPr/>
        </p:nvSpPr>
        <p:spPr>
          <a:xfrm>
            <a:off x="594360" y="4572000"/>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4572000"/>
            <a:ext cx="2103120" cy="73152"/>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074920"/>
            <a:ext cx="2103120" cy="365760"/>
          </a:xfrm>
          <a:prstGeom prst="rect">
            <a:avLst/>
          </a:prstGeom>
          <a:noFill/>
        </p:spPr>
        <p:txBody>
          <a:bodyPr wrap="square" lIns="0" rIns="0" tIns="0" bIns="0" anchor="ctr">
            <a:spAutoFit/>
          </a:bodyPr>
          <a:lstStyle/>
          <a:p>
            <a:pPr algn="ctr"/>
            <a:r>
              <a:rPr sz="1300" b="1" i="0">
                <a:solidFill>
                  <a:srgbClr val="17212B"/>
                </a:solidFill>
                <a:latin typeface="Aptos"/>
              </a:rPr>
              <a:t>Dataset</a:t>
            </a:r>
          </a:p>
        </p:txBody>
      </p:sp>
      <p:sp>
        <p:nvSpPr>
          <p:cNvPr id="28" name="Right Arrow 27"/>
          <p:cNvSpPr/>
          <p:nvPr/>
        </p:nvSpPr>
        <p:spPr>
          <a:xfrm>
            <a:off x="2880360" y="5120640"/>
            <a:ext cx="457200" cy="27432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20440" y="4572000"/>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520440" y="4572000"/>
            <a:ext cx="2103120" cy="73152"/>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20440" y="5074920"/>
            <a:ext cx="2103120" cy="365760"/>
          </a:xfrm>
          <a:prstGeom prst="rect">
            <a:avLst/>
          </a:prstGeom>
          <a:noFill/>
        </p:spPr>
        <p:txBody>
          <a:bodyPr wrap="square" lIns="0" rIns="0" tIns="0" bIns="0" anchor="ctr">
            <a:spAutoFit/>
          </a:bodyPr>
          <a:lstStyle/>
          <a:p>
            <a:pPr algn="ctr"/>
            <a:r>
              <a:rPr sz="1300" b="1" i="0">
                <a:solidFill>
                  <a:srgbClr val="17212B"/>
                </a:solidFill>
                <a:latin typeface="Aptos"/>
              </a:rPr>
              <a:t>Trained model</a:t>
            </a:r>
          </a:p>
        </p:txBody>
      </p:sp>
      <p:sp>
        <p:nvSpPr>
          <p:cNvPr id="32" name="Right Arrow 31"/>
          <p:cNvSpPr/>
          <p:nvPr/>
        </p:nvSpPr>
        <p:spPr>
          <a:xfrm>
            <a:off x="5806440" y="5120640"/>
            <a:ext cx="457200" cy="27432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46520" y="4572000"/>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46520" y="4572000"/>
            <a:ext cx="2103120" cy="73152"/>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5074920"/>
            <a:ext cx="2103120" cy="365760"/>
          </a:xfrm>
          <a:prstGeom prst="rect">
            <a:avLst/>
          </a:prstGeom>
          <a:noFill/>
        </p:spPr>
        <p:txBody>
          <a:bodyPr wrap="square" lIns="0" rIns="0" tIns="0" bIns="0" anchor="ctr">
            <a:spAutoFit/>
          </a:bodyPr>
          <a:lstStyle/>
          <a:p>
            <a:pPr algn="ctr"/>
            <a:r>
              <a:rPr sz="1300" b="1" i="0">
                <a:solidFill>
                  <a:srgbClr val="17212B"/>
                </a:solidFill>
                <a:latin typeface="Aptos"/>
              </a:rPr>
              <a:t>Simulator + score</a:t>
            </a:r>
          </a:p>
        </p:txBody>
      </p:sp>
      <p:sp>
        <p:nvSpPr>
          <p:cNvPr id="36" name="Right Arrow 35"/>
          <p:cNvSpPr/>
          <p:nvPr/>
        </p:nvSpPr>
        <p:spPr>
          <a:xfrm>
            <a:off x="8732520" y="5120640"/>
            <a:ext cx="457200" cy="27432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372600" y="4572000"/>
            <a:ext cx="3291840" cy="1371600"/>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72600" y="5074920"/>
            <a:ext cx="3291840" cy="365760"/>
          </a:xfrm>
          <a:prstGeom prst="rect">
            <a:avLst/>
          </a:prstGeom>
          <a:noFill/>
        </p:spPr>
        <p:txBody>
          <a:bodyPr wrap="square" lIns="0" rIns="0" tIns="0" bIns="0" anchor="ctr">
            <a:spAutoFit/>
          </a:bodyPr>
          <a:lstStyle/>
          <a:p>
            <a:pPr algn="ctr"/>
            <a:r>
              <a:rPr sz="1300" b="1" i="0">
                <a:solidFill>
                  <a:srgbClr val="FFFFFF"/>
                </a:solidFill>
                <a:latin typeface="Aptos"/>
              </a:rPr>
              <a:t>Portable verdict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331720"/>
            <a:ext cx="731520" cy="54864"/>
          </a:xfrm>
          <a:prstGeom prst="rect">
            <a:avLst/>
          </a:prstGeom>
          <a:solidFill>
            <a:srgbClr val="CF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514600"/>
            <a:ext cx="10515600" cy="329184"/>
          </a:xfrm>
          <a:prstGeom prst="rect">
            <a:avLst/>
          </a:prstGeom>
          <a:noFill/>
        </p:spPr>
        <p:txBody>
          <a:bodyPr wrap="square" lIns="0" rIns="0" tIns="0" bIns="0" anchor="t">
            <a:spAutoFit/>
          </a:bodyPr>
          <a:lstStyle/>
          <a:p>
            <a:pPr algn="l"/>
            <a:r>
              <a:rPr sz="1200" b="1" i="0">
                <a:solidFill>
                  <a:srgbClr val="CFE3F3"/>
                </a:solidFill>
                <a:latin typeface="Aptos"/>
              </a:rPr>
              <a:t>WHY WE BUILT IT</a:t>
            </a:r>
          </a:p>
        </p:txBody>
      </p:sp>
      <p:sp>
        <p:nvSpPr>
          <p:cNvPr id="5" name="TextBox 4"/>
          <p:cNvSpPr txBox="1"/>
          <p:nvPr/>
        </p:nvSpPr>
        <p:spPr>
          <a:xfrm>
            <a:off x="777240" y="2926080"/>
            <a:ext cx="10515600" cy="1737360"/>
          </a:xfrm>
          <a:prstGeom prst="rect">
            <a:avLst/>
          </a:prstGeom>
          <a:noFill/>
        </p:spPr>
        <p:txBody>
          <a:bodyPr wrap="square" lIns="0" rIns="0" tIns="0" bIns="0" anchor="t">
            <a:spAutoFit/>
          </a:bodyPr>
          <a:lstStyle/>
          <a:p>
            <a:pPr algn="l">
              <a:lnSpc>
                <a:spcPct val="100000"/>
              </a:lnSpc>
            </a:pPr>
            <a:r>
              <a:rPr sz="4600" b="1" i="0">
                <a:solidFill>
                  <a:srgbClr val="FFFFFF"/>
                </a:solidFill>
                <a:latin typeface="Aptos Display"/>
              </a:rPr>
              <a:t>Enter EngiBench.</a:t>
            </a:r>
          </a:p>
        </p:txBody>
      </p:sp>
      <p:sp>
        <p:nvSpPr>
          <p:cNvPr id="6" name="TextBox 5"/>
          <p:cNvSpPr txBox="1"/>
          <p:nvPr/>
        </p:nvSpPr>
        <p:spPr>
          <a:xfrm>
            <a:off x="777240" y="4937760"/>
            <a:ext cx="10515600" cy="502920"/>
          </a:xfrm>
          <a:prstGeom prst="rect">
            <a:avLst/>
          </a:prstGeom>
          <a:noFill/>
        </p:spPr>
        <p:txBody>
          <a:bodyPr wrap="square" lIns="0" rIns="0" tIns="0" bIns="0" anchor="t">
            <a:spAutoFit/>
          </a:bodyPr>
          <a:lstStyle/>
          <a:p>
            <a:pPr algn="l"/>
            <a:r>
              <a:rPr sz="1600" b="0" i="0">
                <a:solidFill>
                  <a:srgbClr val="EAF3FA"/>
                </a:solidFill>
                <a:latin typeface="Aptos"/>
              </a:rPr>
              <a:t>A standardized framework for benchmarking generative AI in engineering design.  Published at NeurIPS 2025.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EngiBench</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THE DESIGN PATTERN</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800" b="1" i="0">
                <a:solidFill>
                  <a:srgbClr val="17212B"/>
                </a:solidFill>
                <a:latin typeface="Aptos Display"/>
              </a:rPr>
              <a:t>Each problem is a "paper in a can".</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300" b="0" i="1">
                <a:solidFill>
                  <a:srgbClr val="5A6675"/>
                </a:solidFill>
                <a:latin typeface="Aptos"/>
              </a:rPr>
              <a:t>Eight ingredients, one Python interface, ready to compare across labs.</a:t>
            </a:r>
          </a:p>
        </p:txBody>
      </p:sp>
      <p:sp>
        <p:nvSpPr>
          <p:cNvPr id="9" name="Can 8"/>
          <p:cNvSpPr/>
          <p:nvPr/>
        </p:nvSpPr>
        <p:spPr>
          <a:xfrm>
            <a:off x="4905756" y="2651760"/>
            <a:ext cx="2377440" cy="2743200"/>
          </a:xfrm>
          <a:prstGeom prst="can">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05756" y="3703320"/>
            <a:ext cx="2377440" cy="365760"/>
          </a:xfrm>
          <a:prstGeom prst="rect">
            <a:avLst/>
          </a:prstGeom>
          <a:noFill/>
        </p:spPr>
        <p:txBody>
          <a:bodyPr wrap="square" lIns="0" rIns="0" tIns="0" bIns="0" anchor="t">
            <a:spAutoFit/>
          </a:bodyPr>
          <a:lstStyle/>
          <a:p>
            <a:pPr algn="ctr"/>
            <a:r>
              <a:rPr sz="2000" b="1" i="0">
                <a:solidFill>
                  <a:srgbClr val="FFFFFF"/>
                </a:solidFill>
                <a:latin typeface="Aptos Display"/>
              </a:rPr>
              <a:t>engibench</a:t>
            </a:r>
          </a:p>
        </p:txBody>
      </p:sp>
      <p:sp>
        <p:nvSpPr>
          <p:cNvPr id="11" name="TextBox 10"/>
          <p:cNvSpPr txBox="1"/>
          <p:nvPr/>
        </p:nvSpPr>
        <p:spPr>
          <a:xfrm>
            <a:off x="4905756" y="4069080"/>
            <a:ext cx="2377440" cy="274320"/>
          </a:xfrm>
          <a:prstGeom prst="rect">
            <a:avLst/>
          </a:prstGeom>
          <a:noFill/>
        </p:spPr>
        <p:txBody>
          <a:bodyPr wrap="square" lIns="0" rIns="0" tIns="0" bIns="0" anchor="t">
            <a:spAutoFit/>
          </a:bodyPr>
          <a:lstStyle/>
          <a:p>
            <a:pPr algn="ctr"/>
            <a:r>
              <a:rPr sz="1200" b="0" i="0">
                <a:solidFill>
                  <a:srgbClr val="CFE3F3"/>
                </a:solidFill>
                <a:latin typeface="Aptos"/>
              </a:rPr>
              <a:t>problem</a:t>
            </a:r>
          </a:p>
        </p:txBody>
      </p:sp>
      <p:sp>
        <p:nvSpPr>
          <p:cNvPr id="12" name="Rounded Rectangle 11"/>
          <p:cNvSpPr/>
          <p:nvPr/>
        </p:nvSpPr>
        <p:spPr>
          <a:xfrm>
            <a:off x="5248656" y="1600200"/>
            <a:ext cx="1691640" cy="457200"/>
          </a:xfrm>
          <a:prstGeom prst="round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ptos"/>
              </a:rPr>
              <a:t>Design space</a:t>
            </a:r>
          </a:p>
        </p:txBody>
      </p:sp>
      <p:sp>
        <p:nvSpPr>
          <p:cNvPr id="13" name="Rounded Rectangle 12"/>
          <p:cNvSpPr/>
          <p:nvPr/>
        </p:nvSpPr>
        <p:spPr>
          <a:xfrm>
            <a:off x="8610863" y="2242971"/>
            <a:ext cx="1691640" cy="457200"/>
          </a:xfrm>
          <a:prstGeom prst="round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ptos"/>
              </a:rPr>
              <a:t>Conditions</a:t>
            </a:r>
          </a:p>
        </p:txBody>
      </p:sp>
      <p:sp>
        <p:nvSpPr>
          <p:cNvPr id="14" name="Rounded Rectangle 13"/>
          <p:cNvSpPr/>
          <p:nvPr/>
        </p:nvSpPr>
        <p:spPr>
          <a:xfrm>
            <a:off x="10003536" y="3794760"/>
            <a:ext cx="1691640" cy="457200"/>
          </a:xfrm>
          <a:prstGeom prst="round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ptos"/>
              </a:rPr>
              <a:t>Objectives</a:t>
            </a:r>
          </a:p>
        </p:txBody>
      </p:sp>
      <p:sp>
        <p:nvSpPr>
          <p:cNvPr id="15" name="Rounded Rectangle 14"/>
          <p:cNvSpPr/>
          <p:nvPr/>
        </p:nvSpPr>
        <p:spPr>
          <a:xfrm>
            <a:off x="8610863" y="5346548"/>
            <a:ext cx="1691640" cy="457200"/>
          </a:xfrm>
          <a:prstGeom prst="round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ptos"/>
              </a:rPr>
              <a:t>Constraints</a:t>
            </a:r>
          </a:p>
        </p:txBody>
      </p:sp>
      <p:sp>
        <p:nvSpPr>
          <p:cNvPr id="16" name="Rounded Rectangle 15"/>
          <p:cNvSpPr/>
          <p:nvPr/>
        </p:nvSpPr>
        <p:spPr>
          <a:xfrm>
            <a:off x="5248656" y="5989320"/>
            <a:ext cx="1691640" cy="457200"/>
          </a:xfrm>
          <a:prstGeom prst="round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ptos"/>
              </a:rPr>
              <a:t>Dataset</a:t>
            </a:r>
          </a:p>
        </p:txBody>
      </p:sp>
      <p:sp>
        <p:nvSpPr>
          <p:cNvPr id="17" name="Rounded Rectangle 16"/>
          <p:cNvSpPr/>
          <p:nvPr/>
        </p:nvSpPr>
        <p:spPr>
          <a:xfrm>
            <a:off x="1886448" y="5346548"/>
            <a:ext cx="1691640" cy="457200"/>
          </a:xfrm>
          <a:prstGeom prst="round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ptos"/>
              </a:rPr>
              <a:t>Render</a:t>
            </a:r>
          </a:p>
        </p:txBody>
      </p:sp>
      <p:sp>
        <p:nvSpPr>
          <p:cNvPr id="18" name="Rounded Rectangle 17"/>
          <p:cNvSpPr/>
          <p:nvPr/>
        </p:nvSpPr>
        <p:spPr>
          <a:xfrm>
            <a:off x="493776" y="3794760"/>
            <a:ext cx="1691640" cy="457200"/>
          </a:xfrm>
          <a:prstGeom prst="round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ptos"/>
              </a:rPr>
              <a:t>Simulate</a:t>
            </a:r>
          </a:p>
        </p:txBody>
      </p:sp>
      <p:sp>
        <p:nvSpPr>
          <p:cNvPr id="19" name="Rounded Rectangle 18"/>
          <p:cNvSpPr/>
          <p:nvPr/>
        </p:nvSpPr>
        <p:spPr>
          <a:xfrm>
            <a:off x="1886448" y="2242971"/>
            <a:ext cx="1691640" cy="457200"/>
          </a:xfrm>
          <a:prstGeom prst="round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ptos"/>
              </a:rPr>
              <a:t>Optimize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EngiBench</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COVERAGE TODAY</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400" b="1" i="0">
                <a:solidFill>
                  <a:srgbClr val="17212B"/>
                </a:solidFill>
                <a:latin typeface="Aptos Display"/>
              </a:rPr>
              <a:t>Structural, thermal, aerodynamic, photonic, electronic.</a:t>
            </a:r>
          </a:p>
        </p:txBody>
      </p:sp>
      <p:pic>
        <p:nvPicPr>
          <p:cNvPr id="8" name="Picture 7" descr="engibench_problems.png"/>
          <p:cNvPicPr>
            <a:picLocks noChangeAspect="1"/>
          </p:cNvPicPr>
          <p:nvPr/>
        </p:nvPicPr>
        <p:blipFill>
          <a:blip r:embed="rId2"/>
          <a:stretch>
            <a:fillRect/>
          </a:stretch>
        </p:blipFill>
        <p:spPr>
          <a:xfrm>
            <a:off x="731520" y="1600200"/>
            <a:ext cx="10725912" cy="4297680"/>
          </a:xfrm>
          <a:prstGeom prst="rect">
            <a:avLst/>
          </a:prstGeom>
        </p:spPr>
      </p:pic>
      <p:sp>
        <p:nvSpPr>
          <p:cNvPr id="9" name="TextBox 8"/>
          <p:cNvSpPr txBox="1"/>
          <p:nvPr/>
        </p:nvSpPr>
        <p:spPr>
          <a:xfrm>
            <a:off x="594360" y="6080760"/>
            <a:ext cx="11018520" cy="292608"/>
          </a:xfrm>
          <a:prstGeom prst="rect">
            <a:avLst/>
          </a:prstGeom>
          <a:noFill/>
        </p:spPr>
        <p:txBody>
          <a:bodyPr wrap="square" lIns="0" rIns="0" tIns="0" bIns="0" anchor="t">
            <a:spAutoFit/>
          </a:bodyPr>
          <a:lstStyle/>
          <a:p>
            <a:pPr algn="ctr"/>
            <a:r>
              <a:rPr sz="1250" b="0" i="1">
                <a:solidFill>
                  <a:srgbClr val="5A6675"/>
                </a:solidFill>
                <a:latin typeface="Aptos"/>
              </a:rPr>
              <a:t>Each comes with a dataset, a simulator, and a baseline optimizer.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EngiBench</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THE CONTRACT, IN CODE</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600" b="1" i="0">
                <a:solidFill>
                  <a:srgbClr val="17212B"/>
                </a:solidFill>
                <a:latin typeface="Aptos Display"/>
              </a:rPr>
              <a:t>Design-problem questions become Python calls.</a:t>
            </a:r>
          </a:p>
        </p:txBody>
      </p:sp>
      <p:sp>
        <p:nvSpPr>
          <p:cNvPr id="8" name="Rectangle 7"/>
          <p:cNvSpPr/>
          <p:nvPr/>
        </p:nvSpPr>
        <p:spPr>
          <a:xfrm>
            <a:off x="594360" y="1874519"/>
            <a:ext cx="7178040" cy="4114800"/>
          </a:xfrm>
          <a:prstGeom prst="rect">
            <a:avLst/>
          </a:prstGeom>
          <a:solidFill>
            <a:srgbClr val="17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2057399"/>
            <a:ext cx="164592" cy="164592"/>
          </a:xfrm>
          <a:prstGeom prst="ellipse">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7280" y="2057399"/>
            <a:ext cx="164592" cy="164592"/>
          </a:xfrm>
          <a:prstGeom prst="ellipse">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71600" y="2057399"/>
            <a:ext cx="164592" cy="164592"/>
          </a:xfrm>
          <a:prstGeom prst="ellipse">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468879"/>
            <a:ext cx="6720840" cy="3337560"/>
          </a:xfrm>
          <a:prstGeom prst="rect">
            <a:avLst/>
          </a:prstGeom>
          <a:noFill/>
        </p:spPr>
        <p:txBody>
          <a:bodyPr wrap="none" lIns="0" rIns="0" tIns="0" bIns="0">
            <a:spAutoFit/>
          </a:bodyPr>
          <a:lstStyle/>
          <a:p>
            <a:r>
              <a:rPr sz="1450">
                <a:solidFill>
                  <a:srgbClr val="FFFFFF"/>
                </a:solidFill>
                <a:latin typeface="Consolas"/>
              </a:rPr>
              <a:t>from engibench.utils.all_problems import BUILTIN_PROBLEMS</a:t>
            </a:r>
          </a:p>
          <a:p>
            <a:r>
              <a:rPr sz="1450">
                <a:solidFill>
                  <a:srgbClr val="FFFFFF"/>
                </a:solidFill>
                <a:latin typeface="Consolas"/>
              </a:rPr>
              <a:t> </a:t>
            </a:r>
          </a:p>
          <a:p>
            <a:r>
              <a:rPr sz="1450">
                <a:solidFill>
                  <a:srgbClr val="FFFFFF"/>
                </a:solidFill>
                <a:latin typeface="Consolas"/>
              </a:rPr>
              <a:t>problem  = BUILTIN_PROBLEMS['beams2d'](seed=7)</a:t>
            </a:r>
          </a:p>
          <a:p>
            <a:r>
              <a:rPr sz="1450">
                <a:solidFill>
                  <a:srgbClr val="FFFFFF"/>
                </a:solidFill>
                <a:latin typeface="Consolas"/>
              </a:rPr>
              <a:t> </a:t>
            </a:r>
          </a:p>
          <a:p>
            <a:r>
              <a:rPr sz="1450">
                <a:solidFill>
                  <a:srgbClr val="FFFFFF"/>
                </a:solidFill>
                <a:latin typeface="Consolas"/>
              </a:rPr>
              <a:t>design   = my_generator.sample(problem.conditions_keys)</a:t>
            </a:r>
          </a:p>
          <a:p>
            <a:r>
              <a:rPr sz="1450">
                <a:solidFill>
                  <a:srgbClr val="FFFFFF"/>
                </a:solidFill>
                <a:latin typeface="Consolas"/>
              </a:rPr>
              <a:t>ok       = problem.check_constraints(design, conds)</a:t>
            </a:r>
          </a:p>
          <a:p>
            <a:r>
              <a:rPr sz="1450">
                <a:solidFill>
                  <a:srgbClr val="FFFFFF"/>
                </a:solidFill>
                <a:latin typeface="Consolas"/>
              </a:rPr>
              <a:t>score    = problem.simulate(design, conds)</a:t>
            </a:r>
          </a:p>
          <a:p>
            <a:r>
              <a:rPr sz="1450">
                <a:solidFill>
                  <a:srgbClr val="FFFFFF"/>
                </a:solidFill>
                <a:latin typeface="Consolas"/>
              </a:rPr>
              <a:t>baseline = problem.optimize(starting=design, config=conds)</a:t>
            </a:r>
          </a:p>
          <a:p>
            <a:r>
              <a:rPr sz="1450">
                <a:solidFill>
                  <a:srgbClr val="FFFFFF"/>
                </a:solidFill>
                <a:latin typeface="Consolas"/>
              </a:rPr>
              <a:t>problem.render(design)</a:t>
            </a:r>
          </a:p>
        </p:txBody>
      </p:sp>
      <p:sp>
        <p:nvSpPr>
          <p:cNvPr id="13" name="Rectangle 12"/>
          <p:cNvSpPr/>
          <p:nvPr/>
        </p:nvSpPr>
        <p:spPr>
          <a:xfrm>
            <a:off x="8092440" y="2011680"/>
            <a:ext cx="91440" cy="118872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2103120"/>
            <a:ext cx="3291840" cy="365760"/>
          </a:xfrm>
          <a:prstGeom prst="rect">
            <a:avLst/>
          </a:prstGeom>
          <a:noFill/>
        </p:spPr>
        <p:txBody>
          <a:bodyPr wrap="square" lIns="0" rIns="0" tIns="0" bIns="0" anchor="t">
            <a:spAutoFit/>
          </a:bodyPr>
          <a:lstStyle/>
          <a:p>
            <a:pPr algn="l"/>
            <a:r>
              <a:rPr sz="1350" b="1" i="0">
                <a:solidFill>
                  <a:srgbClr val="225E9B"/>
                </a:solidFill>
                <a:latin typeface="Aptos"/>
              </a:rPr>
              <a:t>Same task contract</a:t>
            </a:r>
          </a:p>
        </p:txBody>
      </p:sp>
      <p:sp>
        <p:nvSpPr>
          <p:cNvPr id="15" name="TextBox 14"/>
          <p:cNvSpPr txBox="1"/>
          <p:nvPr/>
        </p:nvSpPr>
        <p:spPr>
          <a:xfrm>
            <a:off x="8366760" y="2514600"/>
            <a:ext cx="3291840" cy="685800"/>
          </a:xfrm>
          <a:prstGeom prst="rect">
            <a:avLst/>
          </a:prstGeom>
          <a:noFill/>
        </p:spPr>
        <p:txBody>
          <a:bodyPr wrap="square" lIns="0" rIns="0" tIns="0" bIns="0" anchor="t">
            <a:spAutoFit/>
          </a:bodyPr>
          <a:lstStyle/>
          <a:p>
            <a:pPr algn="l"/>
            <a:r>
              <a:rPr sz="1150" b="0" i="0">
                <a:solidFill>
                  <a:srgbClr val="5A6675"/>
                </a:solidFill>
                <a:latin typeface="Aptos"/>
              </a:rPr>
              <a:t>Every paper compares on the same problem.</a:t>
            </a:r>
          </a:p>
        </p:txBody>
      </p:sp>
      <p:sp>
        <p:nvSpPr>
          <p:cNvPr id="16" name="Rectangle 15"/>
          <p:cNvSpPr/>
          <p:nvPr/>
        </p:nvSpPr>
        <p:spPr>
          <a:xfrm>
            <a:off x="8092440" y="3337560"/>
            <a:ext cx="91440" cy="1188720"/>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3429000"/>
            <a:ext cx="3291840" cy="365760"/>
          </a:xfrm>
          <a:prstGeom prst="rect">
            <a:avLst/>
          </a:prstGeom>
          <a:noFill/>
        </p:spPr>
        <p:txBody>
          <a:bodyPr wrap="square" lIns="0" rIns="0" tIns="0" bIns="0" anchor="t">
            <a:spAutoFit/>
          </a:bodyPr>
          <a:lstStyle/>
          <a:p>
            <a:pPr algn="l"/>
            <a:r>
              <a:rPr sz="1350" b="1" i="0">
                <a:solidFill>
                  <a:srgbClr val="2F7D62"/>
                </a:solidFill>
                <a:latin typeface="Aptos"/>
              </a:rPr>
              <a:t>Swap the model, not the task</a:t>
            </a:r>
          </a:p>
        </p:txBody>
      </p:sp>
      <p:sp>
        <p:nvSpPr>
          <p:cNvPr id="18" name="TextBox 17"/>
          <p:cNvSpPr txBox="1"/>
          <p:nvPr/>
        </p:nvSpPr>
        <p:spPr>
          <a:xfrm>
            <a:off x="8366760" y="3840480"/>
            <a:ext cx="3291840" cy="685800"/>
          </a:xfrm>
          <a:prstGeom prst="rect">
            <a:avLst/>
          </a:prstGeom>
          <a:noFill/>
        </p:spPr>
        <p:txBody>
          <a:bodyPr wrap="square" lIns="0" rIns="0" tIns="0" bIns="0" anchor="t">
            <a:spAutoFit/>
          </a:bodyPr>
          <a:lstStyle/>
          <a:p>
            <a:pPr algn="l"/>
            <a:r>
              <a:rPr sz="1150" b="0" i="0">
                <a:solidFill>
                  <a:srgbClr val="5A6675"/>
                </a:solidFill>
                <a:latin typeface="Aptos"/>
              </a:rPr>
              <a:t>Your generator is one cell. The rest is fixed.</a:t>
            </a:r>
          </a:p>
        </p:txBody>
      </p:sp>
      <p:sp>
        <p:nvSpPr>
          <p:cNvPr id="19" name="Rectangle 18"/>
          <p:cNvSpPr/>
          <p:nvPr/>
        </p:nvSpPr>
        <p:spPr>
          <a:xfrm>
            <a:off x="8092440" y="4663440"/>
            <a:ext cx="91440" cy="1188720"/>
          </a:xfrm>
          <a:prstGeom prst="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4754880"/>
            <a:ext cx="3291840" cy="365760"/>
          </a:xfrm>
          <a:prstGeom prst="rect">
            <a:avLst/>
          </a:prstGeom>
          <a:noFill/>
        </p:spPr>
        <p:txBody>
          <a:bodyPr wrap="square" lIns="0" rIns="0" tIns="0" bIns="0" anchor="t">
            <a:spAutoFit/>
          </a:bodyPr>
          <a:lstStyle/>
          <a:p>
            <a:pPr algn="l"/>
            <a:r>
              <a:rPr sz="1350" b="1" i="0">
                <a:solidFill>
                  <a:srgbClr val="C47B20"/>
                </a:solidFill>
                <a:latin typeface="Aptos"/>
              </a:rPr>
              <a:t>Portable evidence</a:t>
            </a:r>
          </a:p>
        </p:txBody>
      </p:sp>
      <p:sp>
        <p:nvSpPr>
          <p:cNvPr id="21" name="TextBox 20"/>
          <p:cNvSpPr txBox="1"/>
          <p:nvPr/>
        </p:nvSpPr>
        <p:spPr>
          <a:xfrm>
            <a:off x="8366760" y="5166360"/>
            <a:ext cx="3291840" cy="685800"/>
          </a:xfrm>
          <a:prstGeom prst="rect">
            <a:avLst/>
          </a:prstGeom>
          <a:noFill/>
        </p:spPr>
        <p:txBody>
          <a:bodyPr wrap="square" lIns="0" rIns="0" tIns="0" bIns="0" anchor="t">
            <a:spAutoFit/>
          </a:bodyPr>
          <a:lstStyle/>
          <a:p>
            <a:pPr algn="l"/>
            <a:r>
              <a:rPr sz="1150" b="0" i="0">
                <a:solidFill>
                  <a:srgbClr val="5A6675"/>
                </a:solidFill>
                <a:latin typeface="Aptos"/>
              </a:rPr>
              <a:t>Your numbers match a reviewer's numbers.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2336" y="6419088"/>
            <a:ext cx="4005072" cy="173736"/>
          </a:xfrm>
          <a:prstGeom prst="rect">
            <a:avLst/>
          </a:prstGeom>
          <a:noFill/>
        </p:spPr>
        <p:txBody>
          <a:bodyPr wrap="square" lIns="0" rIns="0" tIns="0" bIns="0" anchor="t">
            <a:spAutoFit/>
          </a:bodyPr>
          <a:lstStyle/>
          <a:p>
            <a:pPr algn="l"/>
            <a:r>
              <a:rPr sz="825" b="0" i="0">
                <a:solidFill>
                  <a:srgbClr val="5A6675"/>
                </a:solidFill>
                <a:latin typeface="Aptos"/>
              </a:rPr>
              <a:t>Workshop path</a:t>
            </a:r>
          </a:p>
        </p:txBody>
      </p:sp>
      <p:sp>
        <p:nvSpPr>
          <p:cNvPr id="5" name="TextBox 4"/>
          <p:cNvSpPr txBox="1"/>
          <p:nvPr/>
        </p:nvSpPr>
        <p:spPr>
          <a:xfrm>
            <a:off x="7808975" y="6419088"/>
            <a:ext cx="3712463" cy="173736"/>
          </a:xfrm>
          <a:prstGeom prst="rect">
            <a:avLst/>
          </a:prstGeom>
          <a:noFill/>
        </p:spPr>
        <p:txBody>
          <a:bodyPr wrap="square" lIns="0" rIns="0" tIns="0" bIns="0" anchor="t">
            <a:spAutoFit/>
          </a:bodyPr>
          <a:lstStyle/>
          <a:p>
            <a:pPr algn="r"/>
            <a:r>
              <a:rPr sz="825" b="0" i="0">
                <a:solidFill>
                  <a:srgbClr val="5A6675"/>
                </a:solidFill>
                <a:latin typeface="Aptos"/>
              </a:rPr>
              <a:t>DCC 2026 workshop  |  EngiBench + EngiOpt</a:t>
            </a:r>
          </a:p>
        </p:txBody>
      </p:sp>
      <p:sp>
        <p:nvSpPr>
          <p:cNvPr id="6" name="TextBox 5"/>
          <p:cNvSpPr txBox="1"/>
          <p:nvPr/>
        </p:nvSpPr>
        <p:spPr>
          <a:xfrm>
            <a:off x="594360" y="438912"/>
            <a:ext cx="9144000" cy="228600"/>
          </a:xfrm>
          <a:prstGeom prst="rect">
            <a:avLst/>
          </a:prstGeom>
          <a:noFill/>
        </p:spPr>
        <p:txBody>
          <a:bodyPr wrap="square" lIns="0" rIns="0" tIns="0" bIns="0" anchor="t">
            <a:spAutoFit/>
          </a:bodyPr>
          <a:lstStyle/>
          <a:p>
            <a:pPr algn="l"/>
            <a:r>
              <a:rPr sz="1000" b="1" i="0">
                <a:solidFill>
                  <a:srgbClr val="225E9B"/>
                </a:solidFill>
                <a:latin typeface="Aptos"/>
              </a:rPr>
              <a:t>FROM MOTIVATION TO PRACTICE</a:t>
            </a:r>
          </a:p>
        </p:txBody>
      </p:sp>
      <p:sp>
        <p:nvSpPr>
          <p:cNvPr id="7" name="TextBox 6"/>
          <p:cNvSpPr txBox="1"/>
          <p:nvPr/>
        </p:nvSpPr>
        <p:spPr>
          <a:xfrm>
            <a:off x="594360" y="731520"/>
            <a:ext cx="10972800" cy="640080"/>
          </a:xfrm>
          <a:prstGeom prst="rect">
            <a:avLst/>
          </a:prstGeom>
          <a:noFill/>
        </p:spPr>
        <p:txBody>
          <a:bodyPr wrap="square" lIns="0" rIns="0" tIns="0" bIns="0" anchor="t">
            <a:spAutoFit/>
          </a:bodyPr>
          <a:lstStyle/>
          <a:p>
            <a:pPr algn="l"/>
            <a:r>
              <a:rPr sz="2800" b="1" i="0">
                <a:solidFill>
                  <a:srgbClr val="17212B"/>
                </a:solidFill>
                <a:latin typeface="Aptos Display"/>
              </a:rPr>
              <a:t>Four notebooks. One contract.</a:t>
            </a:r>
          </a:p>
        </p:txBody>
      </p:sp>
      <p:sp>
        <p:nvSpPr>
          <p:cNvPr id="8" name="TextBox 7"/>
          <p:cNvSpPr txBox="1"/>
          <p:nvPr/>
        </p:nvSpPr>
        <p:spPr>
          <a:xfrm>
            <a:off x="594360" y="1417320"/>
            <a:ext cx="10972800" cy="365760"/>
          </a:xfrm>
          <a:prstGeom prst="rect">
            <a:avLst/>
          </a:prstGeom>
          <a:noFill/>
        </p:spPr>
        <p:txBody>
          <a:bodyPr wrap="square" lIns="0" rIns="0" tIns="0" bIns="0" anchor="t">
            <a:spAutoFit/>
          </a:bodyPr>
          <a:lstStyle/>
          <a:p>
            <a:pPr algn="l"/>
            <a:r>
              <a:rPr sz="1300" b="0" i="1">
                <a:solidFill>
                  <a:srgbClr val="5A6675"/>
                </a:solidFill>
                <a:latin typeface="Aptos"/>
              </a:rPr>
              <a:t>Run them in order. Then we come back together to discuss what is missing.</a:t>
            </a:r>
          </a:p>
        </p:txBody>
      </p:sp>
      <p:sp>
        <p:nvSpPr>
          <p:cNvPr id="9" name="Rectangle 8"/>
          <p:cNvSpPr/>
          <p:nvPr/>
        </p:nvSpPr>
        <p:spPr>
          <a:xfrm>
            <a:off x="594360" y="2103120"/>
            <a:ext cx="2167128" cy="3657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2167128" cy="9144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377440"/>
            <a:ext cx="1618488" cy="365760"/>
          </a:xfrm>
          <a:prstGeom prst="rect">
            <a:avLst/>
          </a:prstGeom>
          <a:noFill/>
        </p:spPr>
        <p:txBody>
          <a:bodyPr wrap="square" lIns="0" rIns="0" tIns="0" bIns="0" anchor="t">
            <a:spAutoFit/>
          </a:bodyPr>
          <a:lstStyle/>
          <a:p>
            <a:pPr algn="l"/>
            <a:r>
              <a:rPr sz="1100" b="1" i="0">
                <a:solidFill>
                  <a:srgbClr val="225E9B"/>
                </a:solidFill>
                <a:latin typeface="Aptos"/>
              </a:rPr>
              <a:t>NOTEBOOK 00</a:t>
            </a:r>
          </a:p>
        </p:txBody>
      </p:sp>
      <p:sp>
        <p:nvSpPr>
          <p:cNvPr id="12" name="TextBox 11"/>
          <p:cNvSpPr txBox="1"/>
          <p:nvPr/>
        </p:nvSpPr>
        <p:spPr>
          <a:xfrm>
            <a:off x="868680" y="2834640"/>
            <a:ext cx="1618488" cy="548640"/>
          </a:xfrm>
          <a:prstGeom prst="rect">
            <a:avLst/>
          </a:prstGeom>
          <a:noFill/>
        </p:spPr>
        <p:txBody>
          <a:bodyPr wrap="square" lIns="0" rIns="0" tIns="0" bIns="0" anchor="t">
            <a:spAutoFit/>
          </a:bodyPr>
          <a:lstStyle/>
          <a:p>
            <a:pPr algn="l"/>
            <a:r>
              <a:rPr sz="2600" b="1" i="0">
                <a:solidFill>
                  <a:srgbClr val="17212B"/>
                </a:solidFill>
                <a:latin typeface="Aptos Display"/>
              </a:rPr>
              <a:t>Frame</a:t>
            </a:r>
          </a:p>
        </p:txBody>
      </p:sp>
      <p:sp>
        <p:nvSpPr>
          <p:cNvPr id="13" name="Rectangle 12"/>
          <p:cNvSpPr/>
          <p:nvPr/>
        </p:nvSpPr>
        <p:spPr>
          <a:xfrm>
            <a:off x="868680" y="3520440"/>
            <a:ext cx="1618488" cy="141732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75004" y="363474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1357884" y="386334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8236" y="374446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370832"/>
            <a:ext cx="1344168" cy="256032"/>
          </a:xfrm>
          <a:prstGeom prst="rect">
            <a:avLst/>
          </a:prstGeom>
          <a:noFill/>
        </p:spPr>
        <p:txBody>
          <a:bodyPr wrap="square" lIns="0" rIns="0" tIns="0" bIns="0" anchor="t">
            <a:spAutoFit/>
          </a:bodyPr>
          <a:lstStyle/>
          <a:p>
            <a:pPr algn="ctr"/>
            <a:r>
              <a:rPr sz="1000" b="1" i="1">
                <a:solidFill>
                  <a:srgbClr val="225E9B"/>
                </a:solidFill>
                <a:latin typeface="Aptos"/>
              </a:rPr>
              <a:t>[SCREENSHOT: simple/00_*.ipynb output]</a:t>
            </a:r>
          </a:p>
        </p:txBody>
      </p:sp>
      <p:sp>
        <p:nvSpPr>
          <p:cNvPr id="18" name="TextBox 17"/>
          <p:cNvSpPr txBox="1"/>
          <p:nvPr/>
        </p:nvSpPr>
        <p:spPr>
          <a:xfrm>
            <a:off x="1005840" y="4645152"/>
            <a:ext cx="1344168" cy="237744"/>
          </a:xfrm>
          <a:prstGeom prst="rect">
            <a:avLst/>
          </a:prstGeom>
          <a:noFill/>
        </p:spPr>
        <p:txBody>
          <a:bodyPr wrap="square" lIns="0" rIns="0" tIns="0" bIns="0" anchor="t">
            <a:spAutoFit/>
          </a:bodyPr>
          <a:lstStyle/>
          <a:p>
            <a:pPr algn="ctr"/>
            <a:r>
              <a:rPr sz="850" b="0" i="1">
                <a:solidFill>
                  <a:srgbClr val="7A8493"/>
                </a:solidFill>
                <a:latin typeface="Aptos"/>
              </a:rPr>
              <a:t>Source: capture from the notebook output cell</a:t>
            </a:r>
          </a:p>
        </p:txBody>
      </p:sp>
      <p:sp>
        <p:nvSpPr>
          <p:cNvPr id="19" name="TextBox 18"/>
          <p:cNvSpPr txBox="1"/>
          <p:nvPr/>
        </p:nvSpPr>
        <p:spPr>
          <a:xfrm>
            <a:off x="868680" y="5074920"/>
            <a:ext cx="1618488" cy="594360"/>
          </a:xfrm>
          <a:prstGeom prst="rect">
            <a:avLst/>
          </a:prstGeom>
          <a:noFill/>
        </p:spPr>
        <p:txBody>
          <a:bodyPr wrap="square" lIns="0" rIns="0" tIns="0" bIns="0" anchor="t">
            <a:spAutoFit/>
          </a:bodyPr>
          <a:lstStyle/>
          <a:p>
            <a:pPr algn="l"/>
            <a:r>
              <a:rPr sz="1150" b="0" i="0">
                <a:solidFill>
                  <a:srgbClr val="5A6675"/>
                </a:solidFill>
                <a:latin typeface="Aptos"/>
              </a:rPr>
              <a:t>Inspect a benchmark contract end-to-end.</a:t>
            </a:r>
          </a:p>
        </p:txBody>
      </p:sp>
      <p:sp>
        <p:nvSpPr>
          <p:cNvPr id="20" name="Right Arrow 19"/>
          <p:cNvSpPr/>
          <p:nvPr/>
        </p:nvSpPr>
        <p:spPr>
          <a:xfrm>
            <a:off x="2944368" y="3749040"/>
            <a:ext cx="411480" cy="36576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538728" y="2103120"/>
            <a:ext cx="2167128" cy="3657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538728" y="2103120"/>
            <a:ext cx="2167128" cy="91440"/>
          </a:xfrm>
          <a:prstGeom prst="rect">
            <a:avLst/>
          </a:prstGeom>
          <a:solidFill>
            <a:srgbClr val="2F7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13048" y="2377440"/>
            <a:ext cx="1618488" cy="365760"/>
          </a:xfrm>
          <a:prstGeom prst="rect">
            <a:avLst/>
          </a:prstGeom>
          <a:noFill/>
        </p:spPr>
        <p:txBody>
          <a:bodyPr wrap="square" lIns="0" rIns="0" tIns="0" bIns="0" anchor="t">
            <a:spAutoFit/>
          </a:bodyPr>
          <a:lstStyle/>
          <a:p>
            <a:pPr algn="l"/>
            <a:r>
              <a:rPr sz="1100" b="1" i="0">
                <a:solidFill>
                  <a:srgbClr val="2F7D62"/>
                </a:solidFill>
                <a:latin typeface="Aptos"/>
              </a:rPr>
              <a:t>NOTEBOOK 01</a:t>
            </a:r>
          </a:p>
        </p:txBody>
      </p:sp>
      <p:sp>
        <p:nvSpPr>
          <p:cNvPr id="24" name="TextBox 23"/>
          <p:cNvSpPr txBox="1"/>
          <p:nvPr/>
        </p:nvSpPr>
        <p:spPr>
          <a:xfrm>
            <a:off x="3813048" y="2834640"/>
            <a:ext cx="1618488" cy="548640"/>
          </a:xfrm>
          <a:prstGeom prst="rect">
            <a:avLst/>
          </a:prstGeom>
          <a:noFill/>
        </p:spPr>
        <p:txBody>
          <a:bodyPr wrap="square" lIns="0" rIns="0" tIns="0" bIns="0" anchor="t">
            <a:spAutoFit/>
          </a:bodyPr>
          <a:lstStyle/>
          <a:p>
            <a:pPr algn="l"/>
            <a:r>
              <a:rPr sz="2600" b="1" i="0">
                <a:solidFill>
                  <a:srgbClr val="17212B"/>
                </a:solidFill>
                <a:latin typeface="Aptos Display"/>
              </a:rPr>
              <a:t>Train</a:t>
            </a:r>
          </a:p>
        </p:txBody>
      </p:sp>
      <p:sp>
        <p:nvSpPr>
          <p:cNvPr id="25" name="Rectangle 24"/>
          <p:cNvSpPr/>
          <p:nvPr/>
        </p:nvSpPr>
        <p:spPr>
          <a:xfrm>
            <a:off x="3813048" y="3520440"/>
            <a:ext cx="1618488" cy="141732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9372" y="363474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302252" y="386334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832604" y="374446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50208" y="4370832"/>
            <a:ext cx="1344168" cy="256032"/>
          </a:xfrm>
          <a:prstGeom prst="rect">
            <a:avLst/>
          </a:prstGeom>
          <a:noFill/>
        </p:spPr>
        <p:txBody>
          <a:bodyPr wrap="square" lIns="0" rIns="0" tIns="0" bIns="0" anchor="t">
            <a:spAutoFit/>
          </a:bodyPr>
          <a:lstStyle/>
          <a:p>
            <a:pPr algn="ctr"/>
            <a:r>
              <a:rPr sz="1000" b="1" i="1">
                <a:solidFill>
                  <a:srgbClr val="225E9B"/>
                </a:solidFill>
                <a:latin typeface="Aptos"/>
              </a:rPr>
              <a:t>[SCREENSHOT: simple/01_*.ipynb output]</a:t>
            </a:r>
          </a:p>
        </p:txBody>
      </p:sp>
      <p:sp>
        <p:nvSpPr>
          <p:cNvPr id="30" name="TextBox 29"/>
          <p:cNvSpPr txBox="1"/>
          <p:nvPr/>
        </p:nvSpPr>
        <p:spPr>
          <a:xfrm>
            <a:off x="3950208" y="4645152"/>
            <a:ext cx="1344168" cy="237744"/>
          </a:xfrm>
          <a:prstGeom prst="rect">
            <a:avLst/>
          </a:prstGeom>
          <a:noFill/>
        </p:spPr>
        <p:txBody>
          <a:bodyPr wrap="square" lIns="0" rIns="0" tIns="0" bIns="0" anchor="t">
            <a:spAutoFit/>
          </a:bodyPr>
          <a:lstStyle/>
          <a:p>
            <a:pPr algn="ctr"/>
            <a:r>
              <a:rPr sz="850" b="0" i="1">
                <a:solidFill>
                  <a:srgbClr val="7A8493"/>
                </a:solidFill>
                <a:latin typeface="Aptos"/>
              </a:rPr>
              <a:t>Source: capture from the notebook output cell</a:t>
            </a:r>
          </a:p>
        </p:txBody>
      </p:sp>
      <p:sp>
        <p:nvSpPr>
          <p:cNvPr id="31" name="TextBox 30"/>
          <p:cNvSpPr txBox="1"/>
          <p:nvPr/>
        </p:nvSpPr>
        <p:spPr>
          <a:xfrm>
            <a:off x="3813048" y="5074920"/>
            <a:ext cx="1618488" cy="594360"/>
          </a:xfrm>
          <a:prstGeom prst="rect">
            <a:avLst/>
          </a:prstGeom>
          <a:noFill/>
        </p:spPr>
        <p:txBody>
          <a:bodyPr wrap="square" lIns="0" rIns="0" tIns="0" bIns="0" anchor="t">
            <a:spAutoFit/>
          </a:bodyPr>
          <a:lstStyle/>
          <a:p>
            <a:pPr algn="l"/>
            <a:r>
              <a:rPr sz="1150" b="0" i="0">
                <a:solidFill>
                  <a:srgbClr val="5A6675"/>
                </a:solidFill>
                <a:latin typeface="Aptos"/>
              </a:rPr>
              <a:t>Fit a small conditional generator.</a:t>
            </a:r>
          </a:p>
        </p:txBody>
      </p:sp>
      <p:sp>
        <p:nvSpPr>
          <p:cNvPr id="32" name="Right Arrow 31"/>
          <p:cNvSpPr/>
          <p:nvPr/>
        </p:nvSpPr>
        <p:spPr>
          <a:xfrm>
            <a:off x="5888736" y="3749040"/>
            <a:ext cx="411480" cy="36576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83096" y="2103120"/>
            <a:ext cx="2167128" cy="3657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83096" y="2103120"/>
            <a:ext cx="2167128" cy="91440"/>
          </a:xfrm>
          <a:prstGeom prst="rect">
            <a:avLst/>
          </a:prstGeom>
          <a:solidFill>
            <a:srgbClr val="C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57416" y="2377440"/>
            <a:ext cx="1618488" cy="365760"/>
          </a:xfrm>
          <a:prstGeom prst="rect">
            <a:avLst/>
          </a:prstGeom>
          <a:noFill/>
        </p:spPr>
        <p:txBody>
          <a:bodyPr wrap="square" lIns="0" rIns="0" tIns="0" bIns="0" anchor="t">
            <a:spAutoFit/>
          </a:bodyPr>
          <a:lstStyle/>
          <a:p>
            <a:pPr algn="l"/>
            <a:r>
              <a:rPr sz="1100" b="1" i="0">
                <a:solidFill>
                  <a:srgbClr val="C47B20"/>
                </a:solidFill>
                <a:latin typeface="Aptos"/>
              </a:rPr>
              <a:t>NOTEBOOK 02</a:t>
            </a:r>
          </a:p>
        </p:txBody>
      </p:sp>
      <p:sp>
        <p:nvSpPr>
          <p:cNvPr id="36" name="TextBox 35"/>
          <p:cNvSpPr txBox="1"/>
          <p:nvPr/>
        </p:nvSpPr>
        <p:spPr>
          <a:xfrm>
            <a:off x="6757416" y="2834640"/>
            <a:ext cx="1618488" cy="548640"/>
          </a:xfrm>
          <a:prstGeom prst="rect">
            <a:avLst/>
          </a:prstGeom>
          <a:noFill/>
        </p:spPr>
        <p:txBody>
          <a:bodyPr wrap="square" lIns="0" rIns="0" tIns="0" bIns="0" anchor="t">
            <a:spAutoFit/>
          </a:bodyPr>
          <a:lstStyle/>
          <a:p>
            <a:pPr algn="l"/>
            <a:r>
              <a:rPr sz="2600" b="1" i="0">
                <a:solidFill>
                  <a:srgbClr val="17212B"/>
                </a:solidFill>
                <a:latin typeface="Aptos Display"/>
              </a:rPr>
              <a:t>Evaluate</a:t>
            </a:r>
          </a:p>
        </p:txBody>
      </p:sp>
      <p:sp>
        <p:nvSpPr>
          <p:cNvPr id="37" name="Rectangle 36"/>
          <p:cNvSpPr/>
          <p:nvPr/>
        </p:nvSpPr>
        <p:spPr>
          <a:xfrm>
            <a:off x="6757416" y="3520440"/>
            <a:ext cx="1618488" cy="141732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63740" y="363474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7246620" y="386334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776972" y="374446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94576" y="4370832"/>
            <a:ext cx="1344168" cy="256032"/>
          </a:xfrm>
          <a:prstGeom prst="rect">
            <a:avLst/>
          </a:prstGeom>
          <a:noFill/>
        </p:spPr>
        <p:txBody>
          <a:bodyPr wrap="square" lIns="0" rIns="0" tIns="0" bIns="0" anchor="t">
            <a:spAutoFit/>
          </a:bodyPr>
          <a:lstStyle/>
          <a:p>
            <a:pPr algn="ctr"/>
            <a:r>
              <a:rPr sz="1000" b="1" i="1">
                <a:solidFill>
                  <a:srgbClr val="225E9B"/>
                </a:solidFill>
                <a:latin typeface="Aptos"/>
              </a:rPr>
              <a:t>[SCREENSHOT: simple/02_*.ipynb output]</a:t>
            </a:r>
          </a:p>
        </p:txBody>
      </p:sp>
      <p:sp>
        <p:nvSpPr>
          <p:cNvPr id="42" name="TextBox 41"/>
          <p:cNvSpPr txBox="1"/>
          <p:nvPr/>
        </p:nvSpPr>
        <p:spPr>
          <a:xfrm>
            <a:off x="6894576" y="4645152"/>
            <a:ext cx="1344168" cy="237744"/>
          </a:xfrm>
          <a:prstGeom prst="rect">
            <a:avLst/>
          </a:prstGeom>
          <a:noFill/>
        </p:spPr>
        <p:txBody>
          <a:bodyPr wrap="square" lIns="0" rIns="0" tIns="0" bIns="0" anchor="t">
            <a:spAutoFit/>
          </a:bodyPr>
          <a:lstStyle/>
          <a:p>
            <a:pPr algn="ctr"/>
            <a:r>
              <a:rPr sz="850" b="0" i="1">
                <a:solidFill>
                  <a:srgbClr val="7A8493"/>
                </a:solidFill>
                <a:latin typeface="Aptos"/>
              </a:rPr>
              <a:t>Source: capture from the notebook output cell</a:t>
            </a:r>
          </a:p>
        </p:txBody>
      </p:sp>
      <p:sp>
        <p:nvSpPr>
          <p:cNvPr id="43" name="TextBox 42"/>
          <p:cNvSpPr txBox="1"/>
          <p:nvPr/>
        </p:nvSpPr>
        <p:spPr>
          <a:xfrm>
            <a:off x="6757416" y="5074920"/>
            <a:ext cx="1618488" cy="594360"/>
          </a:xfrm>
          <a:prstGeom prst="rect">
            <a:avLst/>
          </a:prstGeom>
          <a:noFill/>
        </p:spPr>
        <p:txBody>
          <a:bodyPr wrap="square" lIns="0" rIns="0" tIns="0" bIns="0" anchor="t">
            <a:spAutoFit/>
          </a:bodyPr>
          <a:lstStyle/>
          <a:p>
            <a:pPr algn="l"/>
            <a:r>
              <a:rPr sz="1150" b="0" i="0">
                <a:solidFill>
                  <a:srgbClr val="5A6675"/>
                </a:solidFill>
                <a:latin typeface="Aptos"/>
              </a:rPr>
              <a:t>Score designs as engineering candidates.</a:t>
            </a:r>
          </a:p>
        </p:txBody>
      </p:sp>
      <p:sp>
        <p:nvSpPr>
          <p:cNvPr id="44" name="Right Arrow 43"/>
          <p:cNvSpPr/>
          <p:nvPr/>
        </p:nvSpPr>
        <p:spPr>
          <a:xfrm>
            <a:off x="8833104" y="3749040"/>
            <a:ext cx="411480" cy="365760"/>
          </a:xfrm>
          <a:prstGeom prst="rightArrow">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427464" y="2103120"/>
            <a:ext cx="2167128" cy="3657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427464" y="2103120"/>
            <a:ext cx="2167128" cy="91440"/>
          </a:xfrm>
          <a:prstGeom prst="rect">
            <a:avLst/>
          </a:prstGeom>
          <a:solidFill>
            <a:srgbClr val="C84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01784" y="2377440"/>
            <a:ext cx="1618488" cy="365760"/>
          </a:xfrm>
          <a:prstGeom prst="rect">
            <a:avLst/>
          </a:prstGeom>
          <a:noFill/>
        </p:spPr>
        <p:txBody>
          <a:bodyPr wrap="square" lIns="0" rIns="0" tIns="0" bIns="0" anchor="t">
            <a:spAutoFit/>
          </a:bodyPr>
          <a:lstStyle/>
          <a:p>
            <a:pPr algn="l"/>
            <a:r>
              <a:rPr sz="1100" b="1" i="0">
                <a:solidFill>
                  <a:srgbClr val="C84837"/>
                </a:solidFill>
                <a:latin typeface="Aptos"/>
              </a:rPr>
              <a:t>NOTEBOOK 03</a:t>
            </a:r>
          </a:p>
        </p:txBody>
      </p:sp>
      <p:sp>
        <p:nvSpPr>
          <p:cNvPr id="48" name="TextBox 47"/>
          <p:cNvSpPr txBox="1"/>
          <p:nvPr/>
        </p:nvSpPr>
        <p:spPr>
          <a:xfrm>
            <a:off x="9701784" y="2834640"/>
            <a:ext cx="1618488" cy="548640"/>
          </a:xfrm>
          <a:prstGeom prst="rect">
            <a:avLst/>
          </a:prstGeom>
          <a:noFill/>
        </p:spPr>
        <p:txBody>
          <a:bodyPr wrap="square" lIns="0" rIns="0" tIns="0" bIns="0" anchor="t">
            <a:spAutoFit/>
          </a:bodyPr>
          <a:lstStyle/>
          <a:p>
            <a:pPr algn="l"/>
            <a:r>
              <a:rPr sz="2600" b="1" i="0">
                <a:solidFill>
                  <a:srgbClr val="17212B"/>
                </a:solidFill>
                <a:latin typeface="Aptos Display"/>
              </a:rPr>
              <a:t>Extend</a:t>
            </a:r>
          </a:p>
        </p:txBody>
      </p:sp>
      <p:sp>
        <p:nvSpPr>
          <p:cNvPr id="49" name="Rectangle 48"/>
          <p:cNvSpPr/>
          <p:nvPr/>
        </p:nvSpPr>
        <p:spPr>
          <a:xfrm>
            <a:off x="9701784" y="3520440"/>
            <a:ext cx="1618488" cy="1417320"/>
          </a:xfrm>
          <a:prstGeom prst="rect">
            <a:avLst/>
          </a:prstGeom>
          <a:solidFill>
            <a:srgbClr val="ECF3FA"/>
          </a:solidFill>
          <a:ln w="12700">
            <a:noFill/>
            <a:solidFill>
              <a:srgbClr val="225E9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008108" y="3634740"/>
            <a:ext cx="1005840" cy="731520"/>
          </a:xfrm>
          <a:prstGeom prst="rect">
            <a:avLst/>
          </a:prstGeom>
          <a:noFill/>
          <a:ln w="15875">
            <a:solidFill>
              <a:srgbClr val="225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a:off x="10190988" y="3863340"/>
            <a:ext cx="640080" cy="457200"/>
          </a:xfrm>
          <a:prstGeom prst="triangl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721340" y="3744468"/>
            <a:ext cx="164592" cy="164592"/>
          </a:xfrm>
          <a:prstGeom prst="ellipse">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38944" y="4370832"/>
            <a:ext cx="1344168" cy="256032"/>
          </a:xfrm>
          <a:prstGeom prst="rect">
            <a:avLst/>
          </a:prstGeom>
          <a:noFill/>
        </p:spPr>
        <p:txBody>
          <a:bodyPr wrap="square" lIns="0" rIns="0" tIns="0" bIns="0" anchor="t">
            <a:spAutoFit/>
          </a:bodyPr>
          <a:lstStyle/>
          <a:p>
            <a:pPr algn="ctr"/>
            <a:r>
              <a:rPr sz="1000" b="1" i="1">
                <a:solidFill>
                  <a:srgbClr val="225E9B"/>
                </a:solidFill>
                <a:latin typeface="Aptos"/>
              </a:rPr>
              <a:t>[SCREENSHOT: simple/03_*.ipynb output]</a:t>
            </a:r>
          </a:p>
        </p:txBody>
      </p:sp>
      <p:sp>
        <p:nvSpPr>
          <p:cNvPr id="54" name="TextBox 53"/>
          <p:cNvSpPr txBox="1"/>
          <p:nvPr/>
        </p:nvSpPr>
        <p:spPr>
          <a:xfrm>
            <a:off x="9838944" y="4645152"/>
            <a:ext cx="1344168" cy="237744"/>
          </a:xfrm>
          <a:prstGeom prst="rect">
            <a:avLst/>
          </a:prstGeom>
          <a:noFill/>
        </p:spPr>
        <p:txBody>
          <a:bodyPr wrap="square" lIns="0" rIns="0" tIns="0" bIns="0" anchor="t">
            <a:spAutoFit/>
          </a:bodyPr>
          <a:lstStyle/>
          <a:p>
            <a:pPr algn="ctr"/>
            <a:r>
              <a:rPr sz="850" b="0" i="1">
                <a:solidFill>
                  <a:srgbClr val="7A8493"/>
                </a:solidFill>
                <a:latin typeface="Aptos"/>
              </a:rPr>
              <a:t>Source: capture from the notebook output cell</a:t>
            </a:r>
          </a:p>
        </p:txBody>
      </p:sp>
      <p:sp>
        <p:nvSpPr>
          <p:cNvPr id="55" name="TextBox 54"/>
          <p:cNvSpPr txBox="1"/>
          <p:nvPr/>
        </p:nvSpPr>
        <p:spPr>
          <a:xfrm>
            <a:off x="9701784" y="5074920"/>
            <a:ext cx="1618488" cy="594360"/>
          </a:xfrm>
          <a:prstGeom prst="rect">
            <a:avLst/>
          </a:prstGeom>
          <a:noFill/>
        </p:spPr>
        <p:txBody>
          <a:bodyPr wrap="square" lIns="0" rIns="0" tIns="0" bIns="0" anchor="t">
            <a:spAutoFit/>
          </a:bodyPr>
          <a:lstStyle/>
          <a:p>
            <a:pPr algn="l"/>
            <a:r>
              <a:rPr sz="1150" b="0" i="0">
                <a:solidFill>
                  <a:srgbClr val="5A6675"/>
                </a:solidFill>
                <a:latin typeface="Aptos"/>
              </a:rPr>
              <a:t>Wrap your own problem behind the same API.</a:t>
            </a:r>
          </a:p>
        </p:txBody>
      </p:sp>
      <p:sp>
        <p:nvSpPr>
          <p:cNvPr id="56" name="Rectangle 55"/>
          <p:cNvSpPr/>
          <p:nvPr/>
        </p:nvSpPr>
        <p:spPr>
          <a:xfrm>
            <a:off x="594360" y="5852160"/>
            <a:ext cx="11018520" cy="4572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5943600"/>
            <a:ext cx="11018520" cy="292608"/>
          </a:xfrm>
          <a:prstGeom prst="rect">
            <a:avLst/>
          </a:prstGeom>
          <a:noFill/>
        </p:spPr>
        <p:txBody>
          <a:bodyPr wrap="square" lIns="0" rIns="0" tIns="0" bIns="0" anchor="t">
            <a:spAutoFit/>
          </a:bodyPr>
          <a:lstStyle/>
          <a:p>
            <a:pPr algn="ctr"/>
            <a:r>
              <a:rPr sz="1350" b="1" i="0">
                <a:solidFill>
                  <a:srgbClr val="FFFFFF"/>
                </a:solidFill>
                <a:latin typeface="Aptos"/>
              </a:rPr>
              <a:t>Then: what is missing, and where do we go next as a community?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594360"/>
            <a:ext cx="7315200" cy="274320"/>
          </a:xfrm>
          <a:prstGeom prst="rect">
            <a:avLst/>
          </a:prstGeom>
          <a:noFill/>
        </p:spPr>
        <p:txBody>
          <a:bodyPr wrap="square" lIns="0" rIns="0" tIns="0" bIns="0" anchor="t">
            <a:spAutoFit/>
          </a:bodyPr>
          <a:lstStyle/>
          <a:p>
            <a:pPr algn="l"/>
            <a:r>
              <a:rPr sz="1100" b="1" i="0">
                <a:solidFill>
                  <a:srgbClr val="225E9B"/>
                </a:solidFill>
                <a:latin typeface="Aptos"/>
              </a:rPr>
              <a:t>DCC 2026 WORKSHOP  ·  OPENING KEYNOTE</a:t>
            </a:r>
          </a:p>
        </p:txBody>
      </p:sp>
      <p:sp>
        <p:nvSpPr>
          <p:cNvPr id="5" name="TextBox 4"/>
          <p:cNvSpPr txBox="1"/>
          <p:nvPr/>
        </p:nvSpPr>
        <p:spPr>
          <a:xfrm>
            <a:off x="594360" y="1920240"/>
            <a:ext cx="10972800" cy="2377440"/>
          </a:xfrm>
          <a:prstGeom prst="rect">
            <a:avLst/>
          </a:prstGeom>
          <a:noFill/>
        </p:spPr>
        <p:txBody>
          <a:bodyPr wrap="square" lIns="0" rIns="0" tIns="0" bIns="0" anchor="t">
            <a:spAutoFit/>
          </a:bodyPr>
          <a:lstStyle/>
          <a:p>
            <a:pPr algn="l">
              <a:lnSpc>
                <a:spcPct val="100000"/>
              </a:lnSpc>
            </a:pPr>
            <a:r>
              <a:rPr sz="5200" b="1" i="0">
                <a:solidFill>
                  <a:srgbClr val="17212B"/>
                </a:solidFill>
                <a:latin typeface="Aptos Display"/>
              </a:rPr>
              <a:t>Benchmarks do not</a:t>
            </a:r>
          </a:p>
          <a:p>
            <a:pPr algn="l">
              <a:lnSpc>
                <a:spcPct val="100000"/>
              </a:lnSpc>
            </a:pPr>
            <a:r>
              <a:rPr sz="5200" b="1" i="0">
                <a:solidFill>
                  <a:srgbClr val="17212B"/>
                </a:solidFill>
                <a:latin typeface="Aptos Display"/>
              </a:rPr>
              <a:t>slow research down.</a:t>
            </a:r>
          </a:p>
        </p:txBody>
      </p:sp>
      <p:sp>
        <p:nvSpPr>
          <p:cNvPr id="6" name="TextBox 5"/>
          <p:cNvSpPr txBox="1"/>
          <p:nvPr/>
        </p:nvSpPr>
        <p:spPr>
          <a:xfrm>
            <a:off x="594360" y="4251960"/>
            <a:ext cx="10972800" cy="914400"/>
          </a:xfrm>
          <a:prstGeom prst="rect">
            <a:avLst/>
          </a:prstGeom>
          <a:noFill/>
        </p:spPr>
        <p:txBody>
          <a:bodyPr wrap="square" lIns="0" rIns="0" tIns="0" bIns="0" anchor="t">
            <a:spAutoFit/>
          </a:bodyPr>
          <a:lstStyle/>
          <a:p>
            <a:pPr algn="l"/>
            <a:r>
              <a:rPr sz="5200" b="1" i="0">
                <a:solidFill>
                  <a:srgbClr val="225E9B"/>
                </a:solidFill>
                <a:latin typeface="Aptos Display"/>
              </a:rPr>
              <a:t>They make it add up.</a:t>
            </a:r>
          </a:p>
        </p:txBody>
      </p:sp>
      <p:sp>
        <p:nvSpPr>
          <p:cNvPr id="7" name="Rectangle 6"/>
          <p:cNvSpPr/>
          <p:nvPr/>
        </p:nvSpPr>
        <p:spPr>
          <a:xfrm>
            <a:off x="594360" y="5806440"/>
            <a:ext cx="11018520" cy="548640"/>
          </a:xfrm>
          <a:prstGeom prst="rect">
            <a:avLst/>
          </a:prstGeom>
          <a:solidFill>
            <a:srgbClr val="225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943600"/>
            <a:ext cx="10789920" cy="274320"/>
          </a:xfrm>
          <a:prstGeom prst="rect">
            <a:avLst/>
          </a:prstGeom>
          <a:noFill/>
        </p:spPr>
        <p:txBody>
          <a:bodyPr wrap="square" lIns="0" rIns="0" tIns="0" bIns="0" anchor="t">
            <a:spAutoFit/>
          </a:bodyPr>
          <a:lstStyle/>
          <a:p>
            <a:pPr algn="l"/>
            <a:r>
              <a:rPr sz="1400" b="1" i="0">
                <a:solidFill>
                  <a:srgbClr val="FFFFFF"/>
                </a:solidFill>
                <a:latin typeface="Aptos"/>
              </a:rPr>
              <a:t>Up next  →  Notebook 00:  Frame your design problem as a benchmark contract.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