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7212B"/>
                </a:solidFill>
                <a:latin typeface="Aptos Display"/>
              </a:rPr>
              <a:t>Generative AI for inverse design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834640" cy="1417320"/>
          </a:xfrm>
          <a:prstGeom prst="rect">
            <a:avLst/>
          </a:prstGeom>
          <a:ln w="19050">
            <a:solidFill>
              <a:srgbClr val="17212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77240" y="334670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7212B"/>
                </a:solidFill>
                <a:latin typeface="Aptos"/>
              </a:rPr>
              <a:t>random noise  z   (50x100)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75887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7A8493"/>
                </a:solidFill>
                <a:latin typeface="Aptos Display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14800"/>
            <a:ext cx="2834640" cy="868680"/>
          </a:xfrm>
          <a:prstGeom prst="roundRect">
            <a:avLst/>
          </a:prstGeom>
          <a:solidFill>
            <a:srgbClr val="ECF3FA"/>
          </a:solidFill>
          <a:ln w="22225">
            <a:solidFill>
              <a:srgbClr val="225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225E9B"/>
                </a:solidFill>
                <a:latin typeface="Aptos"/>
              </a:rPr>
              <a:t>conditions</a:t>
            </a:r>
          </a:p>
          <a:p>
            <a:pPr algn="ctr"/>
            <a:r>
              <a:rPr sz="1250" b="0" i="0">
                <a:solidFill>
                  <a:srgbClr val="17212B"/>
                </a:solidFill>
                <a:latin typeface="Aptos"/>
              </a:rPr>
              <a:t>vf=0.30    rmin=2.0    force@0.50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03320" y="2331720"/>
            <a:ext cx="1371600" cy="502920"/>
          </a:xfrm>
          <a:prstGeom prst="rightArrow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703320" y="4297680"/>
            <a:ext cx="1371600" cy="502920"/>
          </a:xfrm>
          <a:prstGeom prst="rightArrow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2697480"/>
            <a:ext cx="2103120" cy="1783080"/>
          </a:xfrm>
          <a:prstGeom prst="roundRect">
            <a:avLst/>
          </a:prstGeom>
          <a:solidFill>
            <a:srgbClr val="11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600" b="1" i="0">
                <a:solidFill>
                  <a:srgbClr val="FFFFFF"/>
                </a:solidFill>
                <a:latin typeface="Aptos Display"/>
              </a:rPr>
              <a:t>GenAI</a:t>
            </a:r>
          </a:p>
          <a:p>
            <a:pPr algn="ctr"/>
            <a:r>
              <a:rPr sz="1500" b="0" i="0">
                <a:solidFill>
                  <a:srgbClr val="CFD6DD"/>
                </a:solidFill>
                <a:latin typeface="Aptos"/>
              </a:rPr>
              <a:t>model</a:t>
            </a:r>
          </a:p>
          <a:p>
            <a:pPr algn="ctr"/>
            <a:r>
              <a:rPr sz="1100" b="0" i="1">
                <a:solidFill>
                  <a:srgbClr val="7A8493"/>
                </a:solidFill>
                <a:latin typeface="Aptos"/>
              </a:rPr>
              <a:t>(black box)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52360" y="3337560"/>
            <a:ext cx="1325880" cy="502920"/>
          </a:xfrm>
          <a:prstGeom prst="rightArrow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651760"/>
            <a:ext cx="2743200" cy="1371600"/>
          </a:xfrm>
          <a:prstGeom prst="rect">
            <a:avLst/>
          </a:prstGeom>
          <a:ln w="19050">
            <a:solidFill>
              <a:srgbClr val="17212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915400" y="4078224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7212B"/>
                </a:solidFill>
                <a:latin typeface="Aptos"/>
              </a:rPr>
              <a:t>new beam design</a:t>
            </a:r>
          </a:p>
          <a:p>
            <a:pPr algn="ctr"/>
            <a:r>
              <a:rPr sz="1150" b="0" i="1">
                <a:solidFill>
                  <a:srgbClr val="5A6675"/>
                </a:solidFill>
                <a:latin typeface="Aptos"/>
              </a:rPr>
              <a:t>(out-of-sample conditions)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